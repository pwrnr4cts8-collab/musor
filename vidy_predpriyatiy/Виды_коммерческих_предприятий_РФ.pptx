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Введение" id="{155c2cfe-b0db-44b2-3834-27835e6bc2e1}">
          <p14:sldIdLst>
            <p14:sldId id="256"/>
          </p14:sldIdLst>
        </p14:section>
        <p14:section name="Формы" id="{2f373173-3629-6b27-fe1c-bf88cc29fdee}">
          <p14:sldIdLst>
            <p14:sldId id="257"/>
            <p14:sldId id="258"/>
            <p14:sldId id="259"/>
            <p14:sldId id="260"/>
            <p14:sldId id="261"/>
            <p14:sldId id="262"/>
          </p14:sldIdLst>
        </p14:section>
        <p14:section name="Итоги" id="{b66a0d78-bb96-d381-6917-58f9dcb6e4a6}">
          <p14:sldIdLst>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[Егор]
Добрый день! Тема нашего доклада — виды коммерческих предприятий в России. Каждый день мы покупаем что-то у ООО, держим деньги в банке, который называется ПАО, ездим на транспорте, который принадлежит государственному предприятию. Но редко задумываемся, чем эти буквы отличаются друг от друга.
Сегодня мы разберём, какие формы коммерческих организаций предусматривает российское законодательство, кто их создаёт, кто ими управляет и — самое важное — кто и чем отвечает, если у бизнеса что-то пошло не так.</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[Света]
Начнём с определения. По статье 50 Гражданского кодекса коммерческая организация — это организация, основная цель которой — извлечение прибыли. Этим она отличается от некоммерческих организаций: фондов, ассоциаций, общественных объединений, которые тоже могут зарабатывать, но прибыль для них не главная цель и не распределяется между участниками.
Гражданский кодекс даёт закрытый перечень форм коммерческих организаций. Это хозяйственные товарищества, хозяйственные общества, производственные кооперативы, государственные и муниципальные унитарные предприятия, крестьянские (фермерские) хозяйства и хозяйственные партнёрства. Других форм коммерческих организаций в России создать нельзя.
На схеме видно, что все эти формы — разные «ветки» одного дерева. Дальше мы пройдём по самым важным из них.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[Егор]
Общество с ограниченной ответственностью — самая распространённая форма бизнеса в России. Почему? Потому что она простая и безопасная для владельцев.
Запомните три цифры. Участников в ООО может быть от одного до пятидесяти — то есть открыть ООО можно и в одиночку. Минимальный уставный капитал — 10 тысяч рублей. И главное: участники не отвечают по долгам общества своим личным имуществом. Они рискуют только тем, что вложили, — стоимостью своих долей. Отсюда и название: ответственность ограничена.
Высший орган ООО — общее собрание участников, а текущими делами обычно руководит директор. Именно в форме ООО работает большинство магазинов, кафе, строительных и IT-компаний.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[Света]
Если ООО — форма для небольшого и среднего бизнеса, то акционерное общество — форма для крупных компаний. Капитал АО разделён на акции, и акционеры, как и участники ООО, рискуют только стоимостью своих акций.
С 1 сентября 2014 года в России вместо привычных ОАО и ЗАО есть два вида акционерных обществ. Публичное акционерное общество, ПАО, может продавать свои акции неограниченному кругу людей, в том числе на бирже; его минимальный уставный капитал — 100 тысяч рублей. Непубличное акционерное общество, просто АО, на бирже не торгуется, а минимальный капитал у него — 10 тысяч рублей.
Примеры ПАО вы знаете: «Сбербанк», «Газпром», «Аэрофлот». Купить их акцию может любой человек через брокерский счёт — и стать совладельцем, пусть и очень маленьким.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[Егор]
Хозяйственные товарищества — самая «рискованная» для владельцев форма. Их два вида.
В полном товариществе все участники ведут общее дело и отвечают по его долгам всем своим имуществом, причём солидарно: кредитор может потребовать долг с любого из товарищей. Участниками могут быть только индивидуальные предприниматели и коммерческие организации, и один человек может быть полным товарищем только в одном товариществе.
Товарищество на вере, или коммандитное товарищество, смягчает этот риск. В нём есть полные товарищи, которые управляют делом и отвечают всем имуществом, и вкладчики — они только вкладывают деньги, не участвуют в управлении и рискуют лишь своим вкладом.
Из-за высокой ответственности товарищества в России встречаются редко, но для понимания логики форм бизнеса они очень показательны.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[Света]
Производственный кооператив, или артель, — это объединение людей для совместной работы. Его ключевые отличия: членов должно быть не меньше пяти, каждый лично трудится в кооперативе, а при голосовании у каждого члена один голос — независимо от того, сколько он вложил. По долгам кооператива его члены несут дополнительную ответственность в размерах, установленных законом и уставом.
Кооперативы традиционно встречаются в сельском хозяйстве, рыболовстве, добыче золота — например, старательские артели.
Ещё две формы встречаются реже. С 2013 года крестьянское (фермерское) хозяйство может быть зарегистрировано как юридическое лицо. А хозяйственное партнёрство, появившееся в 2012 году, задумывалось для инновационных проектов, но широкого распространения не получило.</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[Егор]
Унитарное предприятие — особая форма: его имущество принадлежит не самому предприятию, а государству или муниципалитету. Предприятие лишь пользуется им на праве хозяйственного ведения, а казённое предприятие — на ещё более узком праве оперативного управления. Имущество неделимо, его нельзя разделить на доли или акции — отсюда и слово «унитарный».
Бывают государственные унитарные предприятия, ГУП, и муниципальные, МУП. Примеры — ГУП «Мосгортранс», который возит москвичей на автобусах, и многочисленные МУП «Водоканал» в городах. «Почта России» тоже была федеральным унитарным предприятием, но в 2019 году стала акционерным обществом.
Сейчас государство сокращает число таких предприятий: закон 2019 года запретил создавать новые ГУП и МУП на конкурентных рынках, а существующие на таких рынках должны были ликвидировать или преобразовать до 2025 года.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[Света]
Подведём итог с помощью таблицы. Главное, чем отличаются формы, — ответственность владельцев. В ООО и АО участники рискуют только своим вкладом. В полном товариществе — всем имуществом. В кооперативе — дополнительно, по уставу. А у унитарного предприятия собственник имущества — государство.
Отдельно отметим индивидуального предпринимателя. ИП — это не организация, а гражданин, который ведёт бизнес. Открыть ИП проще всего, но предприниматель отвечает по долгам всем своим имуществом.
Выбор формы зависит от целей: для старта в одиночку подойдут ИП или ООО, для крупного бизнеса с инвесторами — акционерное общество. Спасибо за внимание! А теперь несколько вопросов к залу.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T-image-1.jpe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1"/>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64240" cy="731520"/>
          </a:xfrm>
          <a:prstGeom prst="rect">
            <a:avLst/>
          </a:prstGeom>
          <a:noFill/>
          <a:ln/>
        </p:spPr>
        <p:txBody>
          <a:bodyPr wrap="square" rtlCol="0"/>
          <a:lstStyle>
            <a:lvl1pPr algn="l" indent="0" marL="0">
              <a:buNone/>
              <a:defRPr lang="en-US" sz="3400" b="1" dirty="0">
                <a:solidFill>
                  <a:schemeClr val="tx1"/>
                </a:solidFill>
                <a:latin typeface="Georgia" pitchFamily="34" charset="0"/>
                <a:ea typeface="Georgia" pitchFamily="34" charset="-122"/>
                <a:cs typeface="Georgia" pitchFamily="34" charset="-120"/>
              </a:defRPr>
            </a:lvl1pPr>
          </a:lstStyle>
          <a:p>
            <a:pPr algn="l" indent="0" marL="0">
              <a:buNone/>
            </a:pPr>
            <a:endParaRPr lang="en-US" sz="34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100" dirty="0">
                <a:solidFill>
                  <a:schemeClr val="tx2"/>
                </a:solidFill>
              </a:rPr>
              <a:t>ЭКОНОМИКА  ·  Виды коммерческих предприятий в РФ</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3.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1.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3.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2.png"/><Relationship Id="rId6" Type="http://schemas.openxmlformats.org/officeDocument/2006/relationships/image" Target="../media/image-4-6.png"/><Relationship Id="rId7" Type="http://schemas.openxmlformats.org/officeDocument/2006/relationships/slideLayout" Target="../slideLayouts/slideLayout3.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1.png"/><Relationship Id="rId3" Type="http://schemas.openxmlformats.org/officeDocument/2006/relationships/image" Target="../media/image-5-1.png"/><Relationship Id="rId4" Type="http://schemas.openxmlformats.org/officeDocument/2006/relationships/image" Target="../media/image-5-4.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3.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3.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3.xml"/><Relationship Id="rId5"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a_03_hero" descr="/tmp/claude-0/-home-user-musor/c6980a0f-2a52-569f-a1fc-691d09a5d10f/scratchpad/biz/hero2.png">    </p:cNvPr>
          <p:cNvPicPr>
            <a:picLocks noChangeAspect="1"/>
          </p:cNvPicPr>
          <p:nvPr/>
        </p:nvPicPr>
        <p:blipFill>
          <a:blip r:embed="rId1"/>
          <a:stretch>
            <a:fillRect/>
          </a:stretch>
        </p:blipFill>
        <p:spPr>
          <a:xfrm>
            <a:off x="6400800" y="960120"/>
            <a:ext cx="5303520" cy="4864608"/>
          </a:xfrm>
          <a:prstGeom prst="rect">
            <a:avLst/>
          </a:prstGeom>
        </p:spPr>
      </p:pic>
      <p:sp>
        <p:nvSpPr>
          <p:cNvPr id="4" name="a_01_eb"/>
          <p:cNvSpPr txBox="1"/>
          <p:nvPr/>
        </p:nvSpPr>
        <p:spPr>
          <a:xfrm>
            <a:off x="685800" y="1371600"/>
            <a:ext cx="5669280" cy="320040"/>
          </a:xfrm>
          <a:prstGeom prst="rect">
            <a:avLst/>
          </a:prstGeom>
          <a:noFill/>
          <a:ln/>
        </p:spPr>
        <p:txBody>
          <a:bodyPr wrap="square" lIns="0" tIns="0" rIns="0" bIns="0" rtlCol="0" anchor="ctr"/>
          <a:lstStyle/>
          <a:p>
            <a:pPr indent="0" marL="0">
              <a:buNone/>
            </a:pPr>
            <a:r>
              <a:rPr lang="ru-RU" sz="1300" b="1" spc="300" kern="0" dirty="0">
                <a:solidFill>
                  <a:schemeClr val="accent3"/>
                </a:solidFill>
              </a:rPr>
              <a:t>ЭКОНОМИКА  ·  ФОРМЫ БИЗНЕСА</a:t>
            </a:r>
            <a:endParaRPr lang="ru-RU" sz="1300" dirty="0"/>
          </a:p>
        </p:txBody>
      </p:sp>
      <p:sp>
        <p:nvSpPr>
          <p:cNvPr id="5" name="a_01_t"/>
          <p:cNvSpPr txBox="1"/>
          <p:nvPr/>
        </p:nvSpPr>
        <p:spPr>
          <a:xfrm>
            <a:off x="685800" y="1783080"/>
            <a:ext cx="5760720" cy="2103120"/>
          </a:xfrm>
          <a:prstGeom prst="rect">
            <a:avLst/>
          </a:prstGeom>
          <a:noFill/>
          <a:ln/>
        </p:spPr>
        <p:txBody>
          <a:bodyPr wrap="square" lIns="0" tIns="0" rIns="0" bIns="0" rtlCol="0" anchor="t"/>
          <a:lstStyle/>
          <a:p>
            <a:pPr indent="0" marL="0">
              <a:buNone/>
            </a:pPr>
            <a:r>
              <a:rPr lang="ru-RU" sz="4000" b="1" dirty="0">
                <a:solidFill>
                  <a:schemeClr val="bg1"/>
                </a:solidFill>
                <a:latin typeface="Georgia" pitchFamily="34" charset="0"/>
                <a:ea typeface="Georgia" pitchFamily="34" charset="-122"/>
                <a:cs typeface="Georgia" pitchFamily="34" charset="-120"/>
              </a:rPr>
              <a:t>Виды коммерческих предприятий в РФ</a:t>
            </a:r>
            <a:endParaRPr lang="ru-RU" sz="4000" dirty="0"/>
          </a:p>
        </p:txBody>
      </p:sp>
      <p:sp>
        <p:nvSpPr>
          <p:cNvPr id="6" name="a_02_st"/>
          <p:cNvSpPr txBox="1"/>
          <p:nvPr/>
        </p:nvSpPr>
        <p:spPr>
          <a:xfrm>
            <a:off x="685800" y="3977640"/>
            <a:ext cx="5394960" cy="914400"/>
          </a:xfrm>
          <a:prstGeom prst="rect">
            <a:avLst/>
          </a:prstGeom>
          <a:noFill/>
          <a:ln/>
        </p:spPr>
        <p:txBody>
          <a:bodyPr wrap="square" lIns="0" tIns="0" rIns="0" bIns="0" rtlCol="0" anchor="t"/>
          <a:lstStyle/>
          <a:p>
            <a:pPr indent="0" marL="0">
              <a:buNone/>
            </a:pPr>
            <a:r>
              <a:rPr lang="ru-RU" sz="1900" dirty="0">
                <a:solidFill>
                  <a:schemeClr val="accent6"/>
                </a:solidFill>
              </a:rPr>
              <a:t>ООО, АО, товарищества, кооперативы и унитарные предприятия: кто владеет и кто отвечает</a:t>
            </a:r>
            <a:endParaRPr lang="ru-RU" sz="1900" dirty="0"/>
          </a:p>
        </p:txBody>
      </p:sp>
      <p:sp>
        <p:nvSpPr>
          <p:cNvPr id="7" name="a_04_au"/>
          <p:cNvSpPr txBox="1"/>
          <p:nvPr/>
        </p:nvSpPr>
        <p:spPr>
          <a:xfrm>
            <a:off x="685800" y="5897880"/>
            <a:ext cx="5486400" cy="320040"/>
          </a:xfrm>
          <a:prstGeom prst="rect">
            <a:avLst/>
          </a:prstGeom>
          <a:noFill/>
          <a:ln/>
        </p:spPr>
        <p:txBody>
          <a:bodyPr wrap="square" lIns="0" tIns="0" rIns="0" bIns="0" rtlCol="0" anchor="ctr"/>
          <a:lstStyle/>
          <a:p>
            <a:pPr indent="0" marL="0">
              <a:buNone/>
            </a:pPr>
            <a:r>
              <a:rPr lang="ru-RU" sz="1400" dirty="0">
                <a:solidFill>
                  <a:schemeClr val="accent6"/>
                </a:solidFill>
              </a:rPr>
              <a:t>Егор  ·  Света  ·  2026</a:t>
            </a:r>
            <a:endParaRPr lang="ru-RU" sz="14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250"/>
                            </p:stCondLst>
                            <p:childTnLst>
                              <p:par>
                                <p:cTn id="5" presetID="42"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00"/>
                                        <p:tgtEl>
                                          <p:spTgt spid="4"/>
                                        </p:tgtEl>
                                      </p:cBhvr>
                                    </p:animEffect>
                                    <p:anim calcmode="lin" valueType="num">
                                      <p:cBhvr>
                                        <p:cTn id="8" dur="600" fill="hold"/>
                                        <p:tgtEl>
                                          <p:spTgt spid="4"/>
                                        </p:tgtEl>
                                        <p:attrNameLst>
                                          <p:attrName>ppt_x</p:attrName>
                                        </p:attrNameLst>
                                      </p:cBhvr>
                                      <p:tavLst>
                                        <p:tav tm="0">
                                          <p:val>
                                            <p:strVal val="#ppt_x"/>
                                          </p:val>
                                        </p:tav>
                                        <p:tav tm="100000">
                                          <p:val>
                                            <p:strVal val="#ppt_x"/>
                                          </p:val>
                                        </p:tav>
                                      </p:tavLst>
                                    </p:anim>
                                    <p:anim calcmode="lin" valueType="num">
                                      <p:cBhvr>
                                        <p:cTn id="9" dur="600" decel="100000" fill="hold"/>
                                        <p:tgtEl>
                                          <p:spTgt spid="4"/>
                                        </p:tgtEl>
                                        <p:attrNameLst>
                                          <p:attrName>ppt_y</p:attrName>
                                        </p:attrNameLst>
                                      </p:cBhvr>
                                      <p:tavLst>
                                        <p:tav tm="0">
                                          <p:val>
                                            <p:strVal val="#ppt_y+.05"/>
                                          </p:val>
                                        </p:tav>
                                        <p:tav tm="100000">
                                          <p:val>
                                            <p:strVal val="#ppt_y"/>
                                          </p:val>
                                        </p:tav>
                                      </p:tavLst>
                                    </p:anim>
                                  </p:childTnLst>
                                </p:cTn>
                              </p:par>
                            </p:childTnLst>
                          </p:cTn>
                        </p:par>
                        <p:par>
                          <p:cTn id="10" fill="hold">
                            <p:stCondLst>
                              <p:cond delay="250"/>
                            </p:stCondLst>
                            <p:childTnLst>
                              <p:par>
                                <p:cTn id="11" presetID="42"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600"/>
                                        <p:tgtEl>
                                          <p:spTgt spid="5"/>
                                        </p:tgtEl>
                                      </p:cBhvr>
                                    </p:animEffect>
                                    <p:anim calcmode="lin" valueType="num">
                                      <p:cBhvr>
                                        <p:cTn id="14" dur="600" fill="hold"/>
                                        <p:tgtEl>
                                          <p:spTgt spid="5"/>
                                        </p:tgtEl>
                                        <p:attrNameLst>
                                          <p:attrName>ppt_x</p:attrName>
                                        </p:attrNameLst>
                                      </p:cBhvr>
                                      <p:tavLst>
                                        <p:tav tm="0">
                                          <p:val>
                                            <p:strVal val="#ppt_x"/>
                                          </p:val>
                                        </p:tav>
                                        <p:tav tm="100000">
                                          <p:val>
                                            <p:strVal val="#ppt_x"/>
                                          </p:val>
                                        </p:tav>
                                      </p:tavLst>
                                    </p:anim>
                                    <p:anim calcmode="lin" valueType="num">
                                      <p:cBhvr>
                                        <p:cTn id="15" dur="600" decel="100000" fill="hold"/>
                                        <p:tgtEl>
                                          <p:spTgt spid="5"/>
                                        </p:tgtEl>
                                        <p:attrNameLst>
                                          <p:attrName>ppt_y</p:attrName>
                                        </p:attrNameLst>
                                      </p:cBhvr>
                                      <p:tavLst>
                                        <p:tav tm="0">
                                          <p:val>
                                            <p:strVal val="#ppt_y+.05"/>
                                          </p:val>
                                        </p:tav>
                                        <p:tav tm="100000">
                                          <p:val>
                                            <p:strVal val="#ppt_y"/>
                                          </p:val>
                                        </p:tav>
                                      </p:tavLst>
                                    </p:anim>
                                  </p:childTnLst>
                                </p:cTn>
                              </p:par>
                            </p:childTnLst>
                          </p:cTn>
                        </p:par>
                        <p:par>
                          <p:cTn id="16" fill="hold">
                            <p:stCondLst>
                              <p:cond delay="700"/>
                            </p:stCondLst>
                            <p:childTnLst>
                              <p:par>
                                <p:cTn id="17" presetID="42" presetClass="entr" presetSubtype="0"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600"/>
                                        <p:tgtEl>
                                          <p:spTgt spid="6"/>
                                        </p:tgtEl>
                                      </p:cBhvr>
                                    </p:animEffect>
                                    <p:anim calcmode="lin" valueType="num">
                                      <p:cBhvr>
                                        <p:cTn id="20" dur="600" fill="hold"/>
                                        <p:tgtEl>
                                          <p:spTgt spid="6"/>
                                        </p:tgtEl>
                                        <p:attrNameLst>
                                          <p:attrName>ppt_x</p:attrName>
                                        </p:attrNameLst>
                                      </p:cBhvr>
                                      <p:tavLst>
                                        <p:tav tm="0">
                                          <p:val>
                                            <p:strVal val="#ppt_x"/>
                                          </p:val>
                                        </p:tav>
                                        <p:tav tm="100000">
                                          <p:val>
                                            <p:strVal val="#ppt_x"/>
                                          </p:val>
                                        </p:tav>
                                      </p:tavLst>
                                    </p:anim>
                                    <p:anim calcmode="lin" valueType="num">
                                      <p:cBhvr>
                                        <p:cTn id="21" dur="600" decel="100000" fill="hold"/>
                                        <p:tgtEl>
                                          <p:spTgt spid="6"/>
                                        </p:tgtEl>
                                        <p:attrNameLst>
                                          <p:attrName>ppt_y</p:attrName>
                                        </p:attrNameLst>
                                      </p:cBhvr>
                                      <p:tavLst>
                                        <p:tav tm="0">
                                          <p:val>
                                            <p:strVal val="#ppt_y+.05"/>
                                          </p:val>
                                        </p:tav>
                                        <p:tav tm="100000">
                                          <p:val>
                                            <p:strVal val="#ppt_y"/>
                                          </p:val>
                                        </p:tav>
                                      </p:tavLst>
                                    </p:anim>
                                  </p:childTnLst>
                                </p:cTn>
                              </p:par>
                            </p:childTnLst>
                          </p:cTn>
                        </p:par>
                        <p:par>
                          <p:cTn id="22" fill="hold">
                            <p:stCondLst>
                              <p:cond delay="1150"/>
                            </p:stCondLst>
                            <p:childTnLst>
                              <p:par>
                                <p:cTn id="23" presetID="42" presetClass="entr" presetSubtype="0" fill="hold" grpId="0" nodeType="withEffect">
                                  <p:stCondLst>
                                    <p:cond delay="0"/>
                                  </p:stCondLst>
                                  <p:childTnLst>
                                    <p:set>
                                      <p:cBhvr>
                                        <p:cTn id="24" dur="1" fill="hold">
                                          <p:stCondLst>
                                            <p:cond delay="0"/>
                                          </p:stCondLst>
                                        </p:cTn>
                                        <p:tgtEl>
                                          <p:spTgt spid="3"/>
                                        </p:tgtEl>
                                        <p:attrNameLst>
                                          <p:attrName>style.visibility</p:attrName>
                                        </p:attrNameLst>
                                      </p:cBhvr>
                                      <p:to>
                                        <p:strVal val="visible"/>
                                      </p:to>
                                    </p:set>
                                    <p:animEffect transition="in" filter="fade">
                                      <p:cBhvr>
                                        <p:cTn id="25" dur="600"/>
                                        <p:tgtEl>
                                          <p:spTgt spid="3"/>
                                        </p:tgtEl>
                                      </p:cBhvr>
                                    </p:animEffect>
                                    <p:anim calcmode="lin" valueType="num">
                                      <p:cBhvr>
                                        <p:cTn id="26" dur="600" fill="hold"/>
                                        <p:tgtEl>
                                          <p:spTgt spid="3"/>
                                        </p:tgtEl>
                                        <p:attrNameLst>
                                          <p:attrName>ppt_x</p:attrName>
                                        </p:attrNameLst>
                                      </p:cBhvr>
                                      <p:tavLst>
                                        <p:tav tm="0">
                                          <p:val>
                                            <p:strVal val="#ppt_x"/>
                                          </p:val>
                                        </p:tav>
                                        <p:tav tm="100000">
                                          <p:val>
                                            <p:strVal val="#ppt_x"/>
                                          </p:val>
                                        </p:tav>
                                      </p:tavLst>
                                    </p:anim>
                                    <p:anim calcmode="lin" valueType="num">
                                      <p:cBhvr>
                                        <p:cTn id="27" dur="600" decel="100000" fill="hold"/>
                                        <p:tgtEl>
                                          <p:spTgt spid="3"/>
                                        </p:tgtEl>
                                        <p:attrNameLst>
                                          <p:attrName>ppt_y</p:attrName>
                                        </p:attrNameLst>
                                      </p:cBhvr>
                                      <p:tavLst>
                                        <p:tav tm="0">
                                          <p:val>
                                            <p:strVal val="#ppt_y+.05"/>
                                          </p:val>
                                        </p:tav>
                                        <p:tav tm="100000">
                                          <p:val>
                                            <p:strVal val="#ppt_y"/>
                                          </p:val>
                                        </p:tav>
                                      </p:tavLst>
                                    </p:anim>
                                  </p:childTnLst>
                                </p:cTn>
                              </p:par>
                            </p:childTnLst>
                          </p:cTn>
                        </p:par>
                        <p:par>
                          <p:cTn id="28" fill="hold">
                            <p:stCondLst>
                              <p:cond delay="1600"/>
                            </p:stCondLst>
                            <p:childTnLst>
                              <p:par>
                                <p:cTn id="29" presetID="42" presetClass="entr" presetSubtype="0" fill="hold" grpId="0" nodeType="with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fade">
                                      <p:cBhvr>
                                        <p:cTn id="31" dur="600"/>
                                        <p:tgtEl>
                                          <p:spTgt spid="7"/>
                                        </p:tgtEl>
                                      </p:cBhvr>
                                    </p:animEffect>
                                    <p:anim calcmode="lin" valueType="num">
                                      <p:cBhvr>
                                        <p:cTn id="32" dur="600" fill="hold"/>
                                        <p:tgtEl>
                                          <p:spTgt spid="7"/>
                                        </p:tgtEl>
                                        <p:attrNameLst>
                                          <p:attrName>ppt_x</p:attrName>
                                        </p:attrNameLst>
                                      </p:cBhvr>
                                      <p:tavLst>
                                        <p:tav tm="0">
                                          <p:val>
                                            <p:strVal val="#ppt_x"/>
                                          </p:val>
                                        </p:tav>
                                        <p:tav tm="100000">
                                          <p:val>
                                            <p:strVal val="#ppt_x"/>
                                          </p:val>
                                        </p:tav>
                                      </p:tavLst>
                                    </p:anim>
                                    <p:anim calcmode="lin" valueType="num">
                                      <p:cBhvr>
                                        <p:cTn id="33" dur="600" decel="100000" fill="hold"/>
                                        <p:tgtEl>
                                          <p:spTgt spid="7"/>
                                        </p:tgtEl>
                                        <p:attrNameLst>
                                          <p:attrName>ppt_y</p:attrName>
                                        </p:attrNameLst>
                                      </p:cBhvr>
                                      <p:tavLst>
                                        <p:tav tm="0">
                                          <p:val>
                                            <p:strVal val="#ppt_y+.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txBox="1"/>
          <p:nvPr/>
        </p:nvSpPr>
        <p:spPr>
          <a:xfrm>
            <a:off x="548640" y="292608"/>
            <a:ext cx="7315200" cy="292608"/>
          </a:xfrm>
          <a:prstGeom prst="rect">
            <a:avLst/>
          </a:prstGeom>
          <a:noFill/>
          <a:ln/>
        </p:spPr>
        <p:txBody>
          <a:bodyPr wrap="square" lIns="0" tIns="0" rIns="0" bIns="0" rtlCol="0" anchor="ctr"/>
          <a:lstStyle/>
          <a:p>
            <a:pPr indent="0" marL="0">
              <a:buNone/>
            </a:pPr>
            <a:r>
              <a:rPr lang="ru-RU" sz="1300" b="1" spc="200" kern="0" dirty="0">
                <a:solidFill>
                  <a:schemeClr val="accent1"/>
                </a:solidFill>
              </a:rPr>
              <a:t>01  ·  ОСНОВА</a:t>
            </a:r>
            <a:endParaRPr lang="ru-RU" sz="1300" dirty="0"/>
          </a:p>
        </p:txBody>
      </p:sp>
      <p:sp>
        <p:nvSpPr>
          <p:cNvPr id="4" name="Text 0"/>
          <p:cNvSpPr/>
          <p:nvPr>
            <p:ph idx="100" type="title" hasCustomPrompt="1"/>
          </p:nvPr>
        </p:nvSpPr>
        <p:spPr>
          <a:xfrm>
            <a:off x="548640" y="566928"/>
            <a:ext cx="11064240" cy="731520"/>
          </a:xfrm>
          <a:prstGeom prst="rect">
            <a:avLst/>
          </a:prstGeom>
          <a:noFill/>
          <a:ln/>
        </p:spPr>
        <p:txBody>
          <a:bodyPr wrap="square" lIns="0" tIns="0" rIns="0" bIns="0" rtlCol="0" anchor="ctr"/>
          <a:lstStyle/>
          <a:p>
            <a:pPr algn="l" indent="0" marL="0">
              <a:buNone/>
            </a:pPr>
            <a:r>
              <a:rPr lang="ru-RU" sz="3400" b="1" dirty="0">
                <a:solidFill>
                  <a:schemeClr val="tx1"/>
                </a:solidFill>
                <a:latin typeface="Georgia" pitchFamily="34" charset="0"/>
                <a:ea typeface="Georgia" pitchFamily="34" charset="-122"/>
                <a:cs typeface="Georgia" pitchFamily="34" charset="-120"/>
              </a:rPr>
              <a:t>Что такое коммерческая организация</a:t>
            </a:r>
            <a:endParaRPr lang="ru-RU" sz="3400" dirty="0"/>
          </a:p>
        </p:txBody>
      </p:sp>
      <p:sp>
        <p:nvSpPr>
          <p:cNvPr id="5" name="a_01_root"/>
          <p:cNvSpPr/>
          <p:nvPr/>
        </p:nvSpPr>
        <p:spPr>
          <a:xfrm>
            <a:off x="3355848" y="1463040"/>
            <a:ext cx="5486400" cy="868680"/>
          </a:xfrm>
          <a:prstGeom prst="roundRect">
            <a:avLst>
              <a:gd name="adj" fmla="val 12632"/>
            </a:avLst>
          </a:prstGeom>
          <a:solidFill>
            <a:schemeClr val="tx1"/>
          </a:solidFill>
          <a:ln w="12700">
            <a:solidFill>
              <a:schemeClr val="tx1"/>
            </a:solidFill>
            <a:prstDash val="solid"/>
          </a:ln>
        </p:spPr>
      </p:sp>
      <p:sp>
        <p:nvSpPr>
          <p:cNvPr id="6" name="a_01_roott"/>
          <p:cNvSpPr txBox="1"/>
          <p:nvPr/>
        </p:nvSpPr>
        <p:spPr>
          <a:xfrm>
            <a:off x="3355848" y="1463040"/>
            <a:ext cx="5486400" cy="868680"/>
          </a:xfrm>
          <a:prstGeom prst="rect">
            <a:avLst/>
          </a:prstGeom>
          <a:noFill/>
          <a:ln/>
        </p:spPr>
        <p:txBody>
          <a:bodyPr wrap="square" lIns="0" tIns="0" rIns="0" bIns="0" rtlCol="0" anchor="ctr"/>
          <a:lstStyle/>
          <a:p>
            <a:pPr algn="ctr" indent="0" marL="0">
              <a:buNone/>
            </a:pPr>
            <a:r>
              <a:rPr lang="ru-RU" sz="2200" b="1" dirty="0">
                <a:solidFill>
                  <a:schemeClr val="bg1"/>
                </a:solidFill>
              </a:rPr>
              <a:t>Коммерческая организация</a:t>
            </a:r>
            <a:endParaRPr lang="ru-RU" sz="2200" dirty="0"/>
          </a:p>
          <a:p>
            <a:pPr algn="ctr" indent="0" marL="0">
              <a:buNone/>
            </a:pPr>
            <a:r>
              <a:rPr lang="ru-RU" sz="1400" dirty="0">
                <a:solidFill>
                  <a:schemeClr val="bg1"/>
                </a:solidFill>
              </a:rPr>
              <a:t>главная цель — извлечение прибыли (ст. 50 ГК РФ)</a:t>
            </a:r>
            <a:endParaRPr lang="ru-RU" sz="2200" dirty="0"/>
          </a:p>
        </p:txBody>
      </p:sp>
      <p:sp>
        <p:nvSpPr>
          <p:cNvPr id="7" name="a_02_v0"/>
          <p:cNvSpPr/>
          <p:nvPr/>
        </p:nvSpPr>
        <p:spPr>
          <a:xfrm>
            <a:off x="6094476" y="2331720"/>
            <a:ext cx="0" cy="365760"/>
          </a:xfrm>
          <a:prstGeom prst="line">
            <a:avLst/>
          </a:prstGeom>
          <a:noFill/>
          <a:ln w="25400">
            <a:solidFill>
              <a:schemeClr val="accent6"/>
            </a:solidFill>
            <a:prstDash val="solid"/>
          </a:ln>
        </p:spPr>
      </p:sp>
      <p:sp>
        <p:nvSpPr>
          <p:cNvPr id="8" name="a_02_h"/>
          <p:cNvSpPr/>
          <p:nvPr/>
        </p:nvSpPr>
        <p:spPr>
          <a:xfrm>
            <a:off x="1417320" y="2697480"/>
            <a:ext cx="9326880" cy="0"/>
          </a:xfrm>
          <a:prstGeom prst="line">
            <a:avLst/>
          </a:prstGeom>
          <a:noFill/>
          <a:ln w="25400">
            <a:solidFill>
              <a:schemeClr val="accent6"/>
            </a:solidFill>
            <a:prstDash val="solid"/>
          </a:ln>
        </p:spPr>
      </p:sp>
      <p:sp>
        <p:nvSpPr>
          <p:cNvPr id="9" name="a_03_v0"/>
          <p:cNvSpPr/>
          <p:nvPr/>
        </p:nvSpPr>
        <p:spPr>
          <a:xfrm>
            <a:off x="1417320" y="2697480"/>
            <a:ext cx="0" cy="274320"/>
          </a:xfrm>
          <a:prstGeom prst="line">
            <a:avLst/>
          </a:prstGeom>
          <a:noFill/>
          <a:ln w="25400">
            <a:solidFill>
              <a:schemeClr val="accent6"/>
            </a:solidFill>
            <a:prstDash val="solid"/>
          </a:ln>
        </p:spPr>
      </p:sp>
      <p:sp>
        <p:nvSpPr>
          <p:cNvPr id="10" name="a_03_c0"/>
          <p:cNvSpPr/>
          <p:nvPr/>
        </p:nvSpPr>
        <p:spPr>
          <a:xfrm>
            <a:off x="548640" y="2971800"/>
            <a:ext cx="1737360" cy="2423160"/>
          </a:xfrm>
          <a:prstGeom prst="roundRect">
            <a:avLst>
              <a:gd name="adj" fmla="val 6316"/>
            </a:avLst>
          </a:prstGeom>
          <a:solidFill>
            <a:schemeClr val="bg2"/>
          </a:solidFill>
          <a:ln w="25400">
            <a:solidFill>
              <a:schemeClr val="accent2"/>
            </a:solidFill>
            <a:prstDash val="solid"/>
          </a:ln>
        </p:spPr>
      </p:sp>
      <p:sp>
        <p:nvSpPr>
          <p:cNvPr id="11" name="a_03_d0_c"/>
          <p:cNvSpPr/>
          <p:nvPr/>
        </p:nvSpPr>
        <p:spPr>
          <a:xfrm>
            <a:off x="731520" y="3172968"/>
            <a:ext cx="685800" cy="685800"/>
          </a:xfrm>
          <a:prstGeom prst="ellipse">
            <a:avLst/>
          </a:prstGeom>
          <a:solidFill>
            <a:schemeClr val="accent2"/>
          </a:solidFill>
          <a:ln w="12700">
            <a:solidFill>
              <a:schemeClr val="accent2"/>
            </a:solidFill>
            <a:prstDash val="solid"/>
          </a:ln>
        </p:spPr>
      </p:sp>
      <p:pic>
        <p:nvPicPr>
          <p:cNvPr id="12" name="a_03_d0_i" descr="/tmp/claude-0/-home-user-musor/c6980a0f-2a52-569f-a1fc-691d09a5d10f/scratchpad/biz/icons/briefcase_w.png">    </p:cNvPr>
          <p:cNvPicPr>
            <a:picLocks noChangeAspect="1"/>
          </p:cNvPicPr>
          <p:nvPr/>
        </p:nvPicPr>
        <p:blipFill>
          <a:blip r:embed="rId1"/>
          <a:stretch>
            <a:fillRect/>
          </a:stretch>
        </p:blipFill>
        <p:spPr>
          <a:xfrm>
            <a:off x="909828" y="3351276"/>
            <a:ext cx="329184" cy="329184"/>
          </a:xfrm>
          <a:prstGeom prst="rect">
            <a:avLst/>
          </a:prstGeom>
        </p:spPr>
      </p:pic>
      <p:sp>
        <p:nvSpPr>
          <p:cNvPr id="13" name="a_03_t0"/>
          <p:cNvSpPr txBox="1"/>
          <p:nvPr/>
        </p:nvSpPr>
        <p:spPr>
          <a:xfrm>
            <a:off x="685800" y="3977640"/>
            <a:ext cx="1508760" cy="822960"/>
          </a:xfrm>
          <a:prstGeom prst="rect">
            <a:avLst/>
          </a:prstGeom>
          <a:noFill/>
          <a:ln/>
        </p:spPr>
        <p:txBody>
          <a:bodyPr wrap="square" lIns="0" tIns="0" rIns="0" bIns="0" rtlCol="0" anchor="t"/>
          <a:lstStyle/>
          <a:p>
            <a:pPr indent="0" marL="0">
              <a:buNone/>
            </a:pPr>
            <a:r>
              <a:rPr lang="ru-RU" sz="1400" b="1" dirty="0">
                <a:solidFill>
                  <a:schemeClr val="tx1"/>
                </a:solidFill>
              </a:rPr>
              <a:t>Хозяйственные общества</a:t>
            </a:r>
            <a:endParaRPr lang="ru-RU" sz="1400" dirty="0"/>
          </a:p>
        </p:txBody>
      </p:sp>
      <p:sp>
        <p:nvSpPr>
          <p:cNvPr id="14" name="a_03_s0"/>
          <p:cNvSpPr txBox="1"/>
          <p:nvPr/>
        </p:nvSpPr>
        <p:spPr>
          <a:xfrm>
            <a:off x="685800" y="4846320"/>
            <a:ext cx="1508760" cy="365760"/>
          </a:xfrm>
          <a:prstGeom prst="rect">
            <a:avLst/>
          </a:prstGeom>
          <a:noFill/>
          <a:ln/>
        </p:spPr>
        <p:txBody>
          <a:bodyPr wrap="square" lIns="0" tIns="0" rIns="0" bIns="0" rtlCol="0" anchor="ctr"/>
          <a:lstStyle/>
          <a:p>
            <a:pPr indent="0" marL="0">
              <a:buNone/>
            </a:pPr>
            <a:r>
              <a:rPr lang="ru-RU" sz="1400" dirty="0">
                <a:solidFill>
                  <a:schemeClr val="tx2"/>
                </a:solidFill>
              </a:rPr>
              <a:t>ООО, АО, ПАО</a:t>
            </a:r>
            <a:endParaRPr lang="ru-RU" sz="1400" dirty="0"/>
          </a:p>
        </p:txBody>
      </p:sp>
      <p:sp>
        <p:nvSpPr>
          <p:cNvPr id="15" name="a_03_v1"/>
          <p:cNvSpPr/>
          <p:nvPr/>
        </p:nvSpPr>
        <p:spPr>
          <a:xfrm>
            <a:off x="3282696" y="2697480"/>
            <a:ext cx="0" cy="274320"/>
          </a:xfrm>
          <a:prstGeom prst="line">
            <a:avLst/>
          </a:prstGeom>
          <a:noFill/>
          <a:ln w="25400">
            <a:solidFill>
              <a:schemeClr val="accent6"/>
            </a:solidFill>
            <a:prstDash val="solid"/>
          </a:ln>
        </p:spPr>
      </p:sp>
      <p:sp>
        <p:nvSpPr>
          <p:cNvPr id="16" name="a_03_c1"/>
          <p:cNvSpPr/>
          <p:nvPr/>
        </p:nvSpPr>
        <p:spPr>
          <a:xfrm>
            <a:off x="2414016" y="2971800"/>
            <a:ext cx="1737360" cy="2423160"/>
          </a:xfrm>
          <a:prstGeom prst="roundRect">
            <a:avLst>
              <a:gd name="adj" fmla="val 6316"/>
            </a:avLst>
          </a:prstGeom>
          <a:solidFill>
            <a:schemeClr val="bg2"/>
          </a:solidFill>
          <a:ln w="9525">
            <a:solidFill>
              <a:schemeClr val="bg2"/>
            </a:solidFill>
            <a:prstDash val="solid"/>
          </a:ln>
        </p:spPr>
      </p:sp>
      <p:sp>
        <p:nvSpPr>
          <p:cNvPr id="17" name="a_03_d1_c"/>
          <p:cNvSpPr/>
          <p:nvPr/>
        </p:nvSpPr>
        <p:spPr>
          <a:xfrm>
            <a:off x="2596896" y="3172968"/>
            <a:ext cx="685800" cy="685800"/>
          </a:xfrm>
          <a:prstGeom prst="ellipse">
            <a:avLst/>
          </a:prstGeom>
          <a:solidFill>
            <a:schemeClr val="accent4"/>
          </a:solidFill>
          <a:ln w="12700">
            <a:solidFill>
              <a:schemeClr val="accent4"/>
            </a:solidFill>
            <a:prstDash val="solid"/>
          </a:ln>
        </p:spPr>
      </p:sp>
      <p:pic>
        <p:nvPicPr>
          <p:cNvPr id="18" name="a_03_d1_i" descr="/tmp/claude-0/-home-user-musor/c6980a0f-2a52-569f-a1fc-691d09a5d10f/scratchpad/biz/icons/handshake_w.png">    </p:cNvPr>
          <p:cNvPicPr>
            <a:picLocks noChangeAspect="1"/>
          </p:cNvPicPr>
          <p:nvPr/>
        </p:nvPicPr>
        <p:blipFill>
          <a:blip r:embed="rId2"/>
          <a:stretch>
            <a:fillRect/>
          </a:stretch>
        </p:blipFill>
        <p:spPr>
          <a:xfrm>
            <a:off x="2775204" y="3351276"/>
            <a:ext cx="329184" cy="329184"/>
          </a:xfrm>
          <a:prstGeom prst="rect">
            <a:avLst/>
          </a:prstGeom>
        </p:spPr>
      </p:pic>
      <p:sp>
        <p:nvSpPr>
          <p:cNvPr id="19" name="a_03_t1"/>
          <p:cNvSpPr txBox="1"/>
          <p:nvPr/>
        </p:nvSpPr>
        <p:spPr>
          <a:xfrm>
            <a:off x="2551176" y="3977640"/>
            <a:ext cx="1508760" cy="822960"/>
          </a:xfrm>
          <a:prstGeom prst="rect">
            <a:avLst/>
          </a:prstGeom>
          <a:noFill/>
          <a:ln/>
        </p:spPr>
        <p:txBody>
          <a:bodyPr wrap="square" lIns="0" tIns="0" rIns="0" bIns="0" rtlCol="0" anchor="t"/>
          <a:lstStyle/>
          <a:p>
            <a:pPr indent="0" marL="0">
              <a:buNone/>
            </a:pPr>
            <a:r>
              <a:rPr lang="ru-RU" sz="1400" b="1" dirty="0">
                <a:solidFill>
                  <a:schemeClr val="tx1"/>
                </a:solidFill>
              </a:rPr>
              <a:t>Хозяйственные товарищества</a:t>
            </a:r>
            <a:endParaRPr lang="ru-RU" sz="1400" dirty="0"/>
          </a:p>
        </p:txBody>
      </p:sp>
      <p:sp>
        <p:nvSpPr>
          <p:cNvPr id="20" name="a_03_s1"/>
          <p:cNvSpPr txBox="1"/>
          <p:nvPr/>
        </p:nvSpPr>
        <p:spPr>
          <a:xfrm>
            <a:off x="2551176" y="4846320"/>
            <a:ext cx="1508760" cy="365760"/>
          </a:xfrm>
          <a:prstGeom prst="rect">
            <a:avLst/>
          </a:prstGeom>
          <a:noFill/>
          <a:ln/>
        </p:spPr>
        <p:txBody>
          <a:bodyPr wrap="square" lIns="0" tIns="0" rIns="0" bIns="0" rtlCol="0" anchor="ctr"/>
          <a:lstStyle/>
          <a:p>
            <a:pPr indent="0" marL="0">
              <a:buNone/>
            </a:pPr>
            <a:r>
              <a:rPr lang="ru-RU" sz="1400" dirty="0">
                <a:solidFill>
                  <a:schemeClr val="tx2"/>
                </a:solidFill>
              </a:rPr>
              <a:t>полное, на вере</a:t>
            </a:r>
            <a:endParaRPr lang="ru-RU" sz="1400" dirty="0"/>
          </a:p>
        </p:txBody>
      </p:sp>
      <p:sp>
        <p:nvSpPr>
          <p:cNvPr id="21" name="a_04_v2"/>
          <p:cNvSpPr/>
          <p:nvPr/>
        </p:nvSpPr>
        <p:spPr>
          <a:xfrm>
            <a:off x="5148072" y="2697480"/>
            <a:ext cx="0" cy="274320"/>
          </a:xfrm>
          <a:prstGeom prst="line">
            <a:avLst/>
          </a:prstGeom>
          <a:noFill/>
          <a:ln w="25400">
            <a:solidFill>
              <a:schemeClr val="accent6"/>
            </a:solidFill>
            <a:prstDash val="solid"/>
          </a:ln>
        </p:spPr>
      </p:sp>
      <p:sp>
        <p:nvSpPr>
          <p:cNvPr id="22" name="a_04_c2"/>
          <p:cNvSpPr/>
          <p:nvPr/>
        </p:nvSpPr>
        <p:spPr>
          <a:xfrm>
            <a:off x="4279392" y="2971800"/>
            <a:ext cx="1737360" cy="2423160"/>
          </a:xfrm>
          <a:prstGeom prst="roundRect">
            <a:avLst>
              <a:gd name="adj" fmla="val 6316"/>
            </a:avLst>
          </a:prstGeom>
          <a:solidFill>
            <a:schemeClr val="bg2"/>
          </a:solidFill>
          <a:ln w="9525">
            <a:solidFill>
              <a:schemeClr val="bg2"/>
            </a:solidFill>
            <a:prstDash val="solid"/>
          </a:ln>
        </p:spPr>
      </p:sp>
      <p:sp>
        <p:nvSpPr>
          <p:cNvPr id="23" name="a_04_d2_c"/>
          <p:cNvSpPr/>
          <p:nvPr/>
        </p:nvSpPr>
        <p:spPr>
          <a:xfrm>
            <a:off x="4462272" y="3172968"/>
            <a:ext cx="685800" cy="685800"/>
          </a:xfrm>
          <a:prstGeom prst="ellipse">
            <a:avLst/>
          </a:prstGeom>
          <a:solidFill>
            <a:schemeClr val="accent3"/>
          </a:solidFill>
          <a:ln w="12700">
            <a:solidFill>
              <a:schemeClr val="accent3"/>
            </a:solidFill>
            <a:prstDash val="solid"/>
          </a:ln>
        </p:spPr>
      </p:sp>
      <p:pic>
        <p:nvPicPr>
          <p:cNvPr id="24" name="a_04_d2_i" descr="/tmp/claude-0/-home-user-musor/c6980a0f-2a52-569f-a1fc-691d09a5d10f/scratchpad/biz/icons/users_w.png">    </p:cNvPr>
          <p:cNvPicPr>
            <a:picLocks noChangeAspect="1"/>
          </p:cNvPicPr>
          <p:nvPr/>
        </p:nvPicPr>
        <p:blipFill>
          <a:blip r:embed="rId3"/>
          <a:stretch>
            <a:fillRect/>
          </a:stretch>
        </p:blipFill>
        <p:spPr>
          <a:xfrm>
            <a:off x="4640580" y="3351276"/>
            <a:ext cx="329184" cy="329184"/>
          </a:xfrm>
          <a:prstGeom prst="rect">
            <a:avLst/>
          </a:prstGeom>
        </p:spPr>
      </p:pic>
      <p:sp>
        <p:nvSpPr>
          <p:cNvPr id="25" name="a_04_t2"/>
          <p:cNvSpPr txBox="1"/>
          <p:nvPr/>
        </p:nvSpPr>
        <p:spPr>
          <a:xfrm>
            <a:off x="4416552" y="3977640"/>
            <a:ext cx="1508760" cy="822960"/>
          </a:xfrm>
          <a:prstGeom prst="rect">
            <a:avLst/>
          </a:prstGeom>
          <a:noFill/>
          <a:ln/>
        </p:spPr>
        <p:txBody>
          <a:bodyPr wrap="square" lIns="0" tIns="0" rIns="0" bIns="0" rtlCol="0" anchor="t"/>
          <a:lstStyle/>
          <a:p>
            <a:pPr indent="0" marL="0">
              <a:buNone/>
            </a:pPr>
            <a:r>
              <a:rPr lang="ru-RU" sz="1400" b="1" dirty="0">
                <a:solidFill>
                  <a:schemeClr val="tx1"/>
                </a:solidFill>
              </a:rPr>
              <a:t>Кооперативы</a:t>
            </a:r>
            <a:endParaRPr lang="ru-RU" sz="1400" dirty="0"/>
          </a:p>
        </p:txBody>
      </p:sp>
      <p:sp>
        <p:nvSpPr>
          <p:cNvPr id="26" name="a_04_s2"/>
          <p:cNvSpPr txBox="1"/>
          <p:nvPr/>
        </p:nvSpPr>
        <p:spPr>
          <a:xfrm>
            <a:off x="4416552" y="4846320"/>
            <a:ext cx="1508760" cy="365760"/>
          </a:xfrm>
          <a:prstGeom prst="rect">
            <a:avLst/>
          </a:prstGeom>
          <a:noFill/>
          <a:ln/>
        </p:spPr>
        <p:txBody>
          <a:bodyPr wrap="square" lIns="0" tIns="0" rIns="0" bIns="0" rtlCol="0" anchor="ctr"/>
          <a:lstStyle/>
          <a:p>
            <a:pPr indent="0" marL="0">
              <a:buNone/>
            </a:pPr>
            <a:r>
              <a:rPr lang="ru-RU" sz="1400" dirty="0">
                <a:solidFill>
                  <a:schemeClr val="tx2"/>
                </a:solidFill>
              </a:rPr>
              <a:t>артели</a:t>
            </a:r>
            <a:endParaRPr lang="ru-RU" sz="1400" dirty="0"/>
          </a:p>
        </p:txBody>
      </p:sp>
      <p:sp>
        <p:nvSpPr>
          <p:cNvPr id="27" name="a_04_v3"/>
          <p:cNvSpPr/>
          <p:nvPr/>
        </p:nvSpPr>
        <p:spPr>
          <a:xfrm>
            <a:off x="7013448" y="2697480"/>
            <a:ext cx="0" cy="274320"/>
          </a:xfrm>
          <a:prstGeom prst="line">
            <a:avLst/>
          </a:prstGeom>
          <a:noFill/>
          <a:ln w="25400">
            <a:solidFill>
              <a:schemeClr val="accent6"/>
            </a:solidFill>
            <a:prstDash val="solid"/>
          </a:ln>
        </p:spPr>
      </p:sp>
      <p:sp>
        <p:nvSpPr>
          <p:cNvPr id="28" name="a_04_c3"/>
          <p:cNvSpPr/>
          <p:nvPr/>
        </p:nvSpPr>
        <p:spPr>
          <a:xfrm>
            <a:off x="6144768" y="2971800"/>
            <a:ext cx="1737360" cy="2423160"/>
          </a:xfrm>
          <a:prstGeom prst="roundRect">
            <a:avLst>
              <a:gd name="adj" fmla="val 6316"/>
            </a:avLst>
          </a:prstGeom>
          <a:solidFill>
            <a:schemeClr val="bg2"/>
          </a:solidFill>
          <a:ln w="9525">
            <a:solidFill>
              <a:schemeClr val="bg2"/>
            </a:solidFill>
            <a:prstDash val="solid"/>
          </a:ln>
        </p:spPr>
      </p:sp>
      <p:sp>
        <p:nvSpPr>
          <p:cNvPr id="29" name="a_04_d3_c"/>
          <p:cNvSpPr/>
          <p:nvPr/>
        </p:nvSpPr>
        <p:spPr>
          <a:xfrm>
            <a:off x="6327648" y="3172968"/>
            <a:ext cx="685800" cy="685800"/>
          </a:xfrm>
          <a:prstGeom prst="ellipse">
            <a:avLst/>
          </a:prstGeom>
          <a:solidFill>
            <a:schemeClr val="accent1"/>
          </a:solidFill>
          <a:ln w="12700">
            <a:solidFill>
              <a:schemeClr val="accent1"/>
            </a:solidFill>
            <a:prstDash val="solid"/>
          </a:ln>
        </p:spPr>
      </p:sp>
      <p:pic>
        <p:nvPicPr>
          <p:cNvPr id="30" name="a_04_d3_i" descr="/tmp/claude-0/-home-user-musor/c6980a0f-2a52-569f-a1fc-691d09a5d10f/scratchpad/biz/icons/landmark_w.png">    </p:cNvPr>
          <p:cNvPicPr>
            <a:picLocks noChangeAspect="1"/>
          </p:cNvPicPr>
          <p:nvPr/>
        </p:nvPicPr>
        <p:blipFill>
          <a:blip r:embed="rId4"/>
          <a:stretch>
            <a:fillRect/>
          </a:stretch>
        </p:blipFill>
        <p:spPr>
          <a:xfrm>
            <a:off x="6505956" y="3351276"/>
            <a:ext cx="329184" cy="329184"/>
          </a:xfrm>
          <a:prstGeom prst="rect">
            <a:avLst/>
          </a:prstGeom>
        </p:spPr>
      </p:pic>
      <p:sp>
        <p:nvSpPr>
          <p:cNvPr id="31" name="a_04_t3"/>
          <p:cNvSpPr txBox="1"/>
          <p:nvPr/>
        </p:nvSpPr>
        <p:spPr>
          <a:xfrm>
            <a:off x="6281928" y="3977640"/>
            <a:ext cx="1508760" cy="822960"/>
          </a:xfrm>
          <a:prstGeom prst="rect">
            <a:avLst/>
          </a:prstGeom>
          <a:noFill/>
          <a:ln/>
        </p:spPr>
        <p:txBody>
          <a:bodyPr wrap="square" lIns="0" tIns="0" rIns="0" bIns="0" rtlCol="0" anchor="t"/>
          <a:lstStyle/>
          <a:p>
            <a:pPr indent="0" marL="0">
              <a:buNone/>
            </a:pPr>
            <a:r>
              <a:rPr lang="ru-RU" sz="1400" b="1" dirty="0">
                <a:solidFill>
                  <a:schemeClr val="tx1"/>
                </a:solidFill>
              </a:rPr>
              <a:t>Унитарные предприятия</a:t>
            </a:r>
            <a:endParaRPr lang="ru-RU" sz="1400" dirty="0"/>
          </a:p>
        </p:txBody>
      </p:sp>
      <p:sp>
        <p:nvSpPr>
          <p:cNvPr id="32" name="a_04_s3"/>
          <p:cNvSpPr txBox="1"/>
          <p:nvPr/>
        </p:nvSpPr>
        <p:spPr>
          <a:xfrm>
            <a:off x="6281928" y="4846320"/>
            <a:ext cx="1508760" cy="365760"/>
          </a:xfrm>
          <a:prstGeom prst="rect">
            <a:avLst/>
          </a:prstGeom>
          <a:noFill/>
          <a:ln/>
        </p:spPr>
        <p:txBody>
          <a:bodyPr wrap="square" lIns="0" tIns="0" rIns="0" bIns="0" rtlCol="0" anchor="ctr"/>
          <a:lstStyle/>
          <a:p>
            <a:pPr indent="0" marL="0">
              <a:buNone/>
            </a:pPr>
            <a:r>
              <a:rPr lang="ru-RU" sz="1400" dirty="0">
                <a:solidFill>
                  <a:schemeClr val="tx2"/>
                </a:solidFill>
              </a:rPr>
              <a:t>ГУП, МУП</a:t>
            </a:r>
            <a:endParaRPr lang="ru-RU" sz="1400" dirty="0"/>
          </a:p>
        </p:txBody>
      </p:sp>
      <p:sp>
        <p:nvSpPr>
          <p:cNvPr id="33" name="a_05_v4"/>
          <p:cNvSpPr/>
          <p:nvPr/>
        </p:nvSpPr>
        <p:spPr>
          <a:xfrm>
            <a:off x="8878824" y="2697480"/>
            <a:ext cx="0" cy="274320"/>
          </a:xfrm>
          <a:prstGeom prst="line">
            <a:avLst/>
          </a:prstGeom>
          <a:noFill/>
          <a:ln w="25400">
            <a:solidFill>
              <a:schemeClr val="accent6"/>
            </a:solidFill>
            <a:prstDash val="solid"/>
          </a:ln>
        </p:spPr>
      </p:sp>
      <p:sp>
        <p:nvSpPr>
          <p:cNvPr id="34" name="a_05_c4"/>
          <p:cNvSpPr/>
          <p:nvPr/>
        </p:nvSpPr>
        <p:spPr>
          <a:xfrm>
            <a:off x="8010144" y="2971800"/>
            <a:ext cx="1737360" cy="2423160"/>
          </a:xfrm>
          <a:prstGeom prst="roundRect">
            <a:avLst>
              <a:gd name="adj" fmla="val 6316"/>
            </a:avLst>
          </a:prstGeom>
          <a:solidFill>
            <a:schemeClr val="bg2"/>
          </a:solidFill>
          <a:ln w="9525">
            <a:solidFill>
              <a:schemeClr val="bg2"/>
            </a:solidFill>
            <a:prstDash val="solid"/>
          </a:ln>
        </p:spPr>
      </p:sp>
      <p:sp>
        <p:nvSpPr>
          <p:cNvPr id="35" name="a_05_d4_c"/>
          <p:cNvSpPr/>
          <p:nvPr/>
        </p:nvSpPr>
        <p:spPr>
          <a:xfrm>
            <a:off x="8193024" y="3172968"/>
            <a:ext cx="685800" cy="685800"/>
          </a:xfrm>
          <a:prstGeom prst="ellipse">
            <a:avLst/>
          </a:prstGeom>
          <a:solidFill>
            <a:schemeClr val="accent5"/>
          </a:solidFill>
          <a:ln w="12700">
            <a:solidFill>
              <a:schemeClr val="accent5"/>
            </a:solidFill>
            <a:prstDash val="solid"/>
          </a:ln>
        </p:spPr>
      </p:sp>
      <p:pic>
        <p:nvPicPr>
          <p:cNvPr id="36" name="a_05_d4_i" descr="/tmp/claude-0/-home-user-musor/c6980a0f-2a52-569f-a1fc-691d09a5d10f/scratchpad/biz/icons/tractor_w.png">    </p:cNvPr>
          <p:cNvPicPr>
            <a:picLocks noChangeAspect="1"/>
          </p:cNvPicPr>
          <p:nvPr/>
        </p:nvPicPr>
        <p:blipFill>
          <a:blip r:embed="rId5"/>
          <a:stretch>
            <a:fillRect/>
          </a:stretch>
        </p:blipFill>
        <p:spPr>
          <a:xfrm>
            <a:off x="8371332" y="3351276"/>
            <a:ext cx="329184" cy="329184"/>
          </a:xfrm>
          <a:prstGeom prst="rect">
            <a:avLst/>
          </a:prstGeom>
        </p:spPr>
      </p:pic>
      <p:sp>
        <p:nvSpPr>
          <p:cNvPr id="37" name="a_05_t4"/>
          <p:cNvSpPr txBox="1"/>
          <p:nvPr/>
        </p:nvSpPr>
        <p:spPr>
          <a:xfrm>
            <a:off x="8147304" y="3977640"/>
            <a:ext cx="1508760" cy="822960"/>
          </a:xfrm>
          <a:prstGeom prst="rect">
            <a:avLst/>
          </a:prstGeom>
          <a:noFill/>
          <a:ln/>
        </p:spPr>
        <p:txBody>
          <a:bodyPr wrap="square" lIns="0" tIns="0" rIns="0" bIns="0" rtlCol="0" anchor="t"/>
          <a:lstStyle/>
          <a:p>
            <a:pPr indent="0" marL="0">
              <a:buNone/>
            </a:pPr>
            <a:r>
              <a:rPr lang="ru-RU" sz="1400" b="1" dirty="0">
                <a:solidFill>
                  <a:schemeClr val="tx1"/>
                </a:solidFill>
              </a:rPr>
              <a:t>Крестьянские (фермерские) хозяйства</a:t>
            </a:r>
            <a:endParaRPr lang="ru-RU" sz="1400" dirty="0"/>
          </a:p>
        </p:txBody>
      </p:sp>
      <p:sp>
        <p:nvSpPr>
          <p:cNvPr id="38" name="a_05_s4"/>
          <p:cNvSpPr txBox="1"/>
          <p:nvPr/>
        </p:nvSpPr>
        <p:spPr>
          <a:xfrm>
            <a:off x="8147304" y="4846320"/>
            <a:ext cx="1508760" cy="365760"/>
          </a:xfrm>
          <a:prstGeom prst="rect">
            <a:avLst/>
          </a:prstGeom>
          <a:noFill/>
          <a:ln/>
        </p:spPr>
        <p:txBody>
          <a:bodyPr wrap="square" lIns="0" tIns="0" rIns="0" bIns="0" rtlCol="0" anchor="ctr"/>
          <a:lstStyle/>
          <a:p>
            <a:pPr indent="0" marL="0">
              <a:buNone/>
            </a:pPr>
            <a:r>
              <a:rPr lang="ru-RU" sz="1400" dirty="0">
                <a:solidFill>
                  <a:schemeClr val="tx2"/>
                </a:solidFill>
              </a:rPr>
              <a:t>с 2013 г.</a:t>
            </a:r>
            <a:endParaRPr lang="ru-RU" sz="1400" dirty="0"/>
          </a:p>
        </p:txBody>
      </p:sp>
      <p:sp>
        <p:nvSpPr>
          <p:cNvPr id="39" name="a_05_v5"/>
          <p:cNvSpPr/>
          <p:nvPr/>
        </p:nvSpPr>
        <p:spPr>
          <a:xfrm>
            <a:off x="10744200" y="2697480"/>
            <a:ext cx="0" cy="274320"/>
          </a:xfrm>
          <a:prstGeom prst="line">
            <a:avLst/>
          </a:prstGeom>
          <a:noFill/>
          <a:ln w="25400">
            <a:solidFill>
              <a:schemeClr val="accent6"/>
            </a:solidFill>
            <a:prstDash val="solid"/>
          </a:ln>
        </p:spPr>
      </p:sp>
      <p:sp>
        <p:nvSpPr>
          <p:cNvPr id="40" name="a_05_c5"/>
          <p:cNvSpPr/>
          <p:nvPr/>
        </p:nvSpPr>
        <p:spPr>
          <a:xfrm>
            <a:off x="9875520" y="2971800"/>
            <a:ext cx="1737360" cy="2423160"/>
          </a:xfrm>
          <a:prstGeom prst="roundRect">
            <a:avLst>
              <a:gd name="adj" fmla="val 6316"/>
            </a:avLst>
          </a:prstGeom>
          <a:solidFill>
            <a:schemeClr val="bg2"/>
          </a:solidFill>
          <a:ln w="9525">
            <a:solidFill>
              <a:schemeClr val="bg2"/>
            </a:solidFill>
            <a:prstDash val="solid"/>
          </a:ln>
        </p:spPr>
      </p:sp>
      <p:sp>
        <p:nvSpPr>
          <p:cNvPr id="41" name="a_05_d5_c"/>
          <p:cNvSpPr/>
          <p:nvPr/>
        </p:nvSpPr>
        <p:spPr>
          <a:xfrm>
            <a:off x="10058400" y="3172968"/>
            <a:ext cx="685800" cy="685800"/>
          </a:xfrm>
          <a:prstGeom prst="ellipse">
            <a:avLst/>
          </a:prstGeom>
          <a:solidFill>
            <a:schemeClr val="tx2"/>
          </a:solidFill>
          <a:ln w="12700">
            <a:solidFill>
              <a:schemeClr val="tx2"/>
            </a:solidFill>
            <a:prstDash val="solid"/>
          </a:ln>
        </p:spPr>
      </p:sp>
      <p:pic>
        <p:nvPicPr>
          <p:cNvPr id="42" name="a_05_d5_i" descr="/tmp/claude-0/-home-user-musor/c6980a0f-2a52-569f-a1fc-691d09a5d10f/scratchpad/biz/icons/file_w.png">    </p:cNvPr>
          <p:cNvPicPr>
            <a:picLocks noChangeAspect="1"/>
          </p:cNvPicPr>
          <p:nvPr/>
        </p:nvPicPr>
        <p:blipFill>
          <a:blip r:embed="rId6"/>
          <a:stretch>
            <a:fillRect/>
          </a:stretch>
        </p:blipFill>
        <p:spPr>
          <a:xfrm>
            <a:off x="10236708" y="3351276"/>
            <a:ext cx="329184" cy="329184"/>
          </a:xfrm>
          <a:prstGeom prst="rect">
            <a:avLst/>
          </a:prstGeom>
        </p:spPr>
      </p:pic>
      <p:sp>
        <p:nvSpPr>
          <p:cNvPr id="43" name="a_05_t5"/>
          <p:cNvSpPr txBox="1"/>
          <p:nvPr/>
        </p:nvSpPr>
        <p:spPr>
          <a:xfrm>
            <a:off x="10012680" y="3977640"/>
            <a:ext cx="1508760" cy="822960"/>
          </a:xfrm>
          <a:prstGeom prst="rect">
            <a:avLst/>
          </a:prstGeom>
          <a:noFill/>
          <a:ln/>
        </p:spPr>
        <p:txBody>
          <a:bodyPr wrap="square" lIns="0" tIns="0" rIns="0" bIns="0" rtlCol="0" anchor="t"/>
          <a:lstStyle/>
          <a:p>
            <a:pPr indent="0" marL="0">
              <a:buNone/>
            </a:pPr>
            <a:r>
              <a:rPr lang="ru-RU" sz="1400" b="1" dirty="0">
                <a:solidFill>
                  <a:schemeClr val="tx1"/>
                </a:solidFill>
              </a:rPr>
              <a:t>Хозяйственные партнёрства</a:t>
            </a:r>
            <a:endParaRPr lang="ru-RU" sz="1400" dirty="0"/>
          </a:p>
        </p:txBody>
      </p:sp>
      <p:sp>
        <p:nvSpPr>
          <p:cNvPr id="44" name="a_05_s5"/>
          <p:cNvSpPr txBox="1"/>
          <p:nvPr/>
        </p:nvSpPr>
        <p:spPr>
          <a:xfrm>
            <a:off x="10012680" y="4846320"/>
            <a:ext cx="1508760" cy="365760"/>
          </a:xfrm>
          <a:prstGeom prst="rect">
            <a:avLst/>
          </a:prstGeom>
          <a:noFill/>
          <a:ln/>
        </p:spPr>
        <p:txBody>
          <a:bodyPr wrap="square" lIns="0" tIns="0" rIns="0" bIns="0" rtlCol="0" anchor="ctr"/>
          <a:lstStyle/>
          <a:p>
            <a:pPr indent="0" marL="0">
              <a:buNone/>
            </a:pPr>
            <a:r>
              <a:rPr lang="ru-RU" sz="1400" dirty="0">
                <a:solidFill>
                  <a:schemeClr val="tx2"/>
                </a:solidFill>
              </a:rPr>
              <a:t>с 2012 г.</a:t>
            </a:r>
            <a:endParaRPr lang="ru-RU" sz="1400" dirty="0"/>
          </a:p>
        </p:txBody>
      </p:sp>
      <p:sp>
        <p:nvSpPr>
          <p:cNvPr id="45" name="a_06_note"/>
          <p:cNvSpPr txBox="1"/>
          <p:nvPr/>
        </p:nvSpPr>
        <p:spPr>
          <a:xfrm>
            <a:off x="548640" y="5669280"/>
            <a:ext cx="11064240" cy="365760"/>
          </a:xfrm>
          <a:prstGeom prst="rect">
            <a:avLst/>
          </a:prstGeom>
          <a:noFill/>
          <a:ln/>
        </p:spPr>
        <p:txBody>
          <a:bodyPr wrap="square" lIns="0" tIns="0" rIns="0" bIns="0" rtlCol="0" anchor="ctr"/>
          <a:lstStyle/>
          <a:p>
            <a:pPr indent="0" marL="0">
              <a:buNone/>
            </a:pPr>
            <a:r>
              <a:rPr lang="ru-RU" sz="1500" i="1" dirty="0">
                <a:solidFill>
                  <a:schemeClr val="tx2"/>
                </a:solidFill>
              </a:rPr>
              <a:t>Перечень закрытый: других форм коммерческих организаций в России создать нельзя</a:t>
            </a:r>
            <a:endParaRPr lang="ru-RU"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ru-RU"/>
              <a:t>2</a:t>
            </a:fld>
            <a:endParaRPr lang="ru-RU"/>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25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00"/>
                                        <p:tgtEl>
                                          <p:spTgt spid="5"/>
                                        </p:tgtEl>
                                      </p:cBhvr>
                                    </p:animEffect>
                                    <p:anim calcmode="lin" valueType="num">
                                      <p:cBhvr>
                                        <p:cTn id="8" dur="600" fill="hold"/>
                                        <p:tgtEl>
                                          <p:spTgt spid="5"/>
                                        </p:tgtEl>
                                        <p:attrNameLst>
                                          <p:attrName>ppt_x</p:attrName>
                                        </p:attrNameLst>
                                      </p:cBhvr>
                                      <p:tavLst>
                                        <p:tav tm="0">
                                          <p:val>
                                            <p:strVal val="#ppt_x"/>
                                          </p:val>
                                        </p:tav>
                                        <p:tav tm="100000">
                                          <p:val>
                                            <p:strVal val="#ppt_x"/>
                                          </p:val>
                                        </p:tav>
                                      </p:tavLst>
                                    </p:anim>
                                    <p:anim calcmode="lin" valueType="num">
                                      <p:cBhvr>
                                        <p:cTn id="9" dur="600" decel="100000" fill="hold"/>
                                        <p:tgtEl>
                                          <p:spTgt spid="5"/>
                                        </p:tgtEl>
                                        <p:attrNameLst>
                                          <p:attrName>ppt_y</p:attrName>
                                        </p:attrNameLst>
                                      </p:cBhvr>
                                      <p:tavLst>
                                        <p:tav tm="0">
                                          <p:val>
                                            <p:strVal val="#ppt_y+.05"/>
                                          </p:val>
                                        </p:tav>
                                        <p:tav tm="100000">
                                          <p:val>
                                            <p:strVal val="#ppt_y"/>
                                          </p:val>
                                        </p:tav>
                                      </p:tavLst>
                                    </p:anim>
                                  </p:childTnLst>
                                </p:cTn>
                              </p:par>
                            </p:childTnLst>
                          </p:cTn>
                        </p:par>
                        <p:par>
                          <p:cTn id="10" fill="hold">
                            <p:stCondLst>
                              <p:cond delay="250"/>
                            </p:stCondLst>
                            <p:childTnLst>
                              <p:par>
                                <p:cTn id="11" presetID="42"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600"/>
                                        <p:tgtEl>
                                          <p:spTgt spid="6"/>
                                        </p:tgtEl>
                                      </p:cBhvr>
                                    </p:animEffect>
                                    <p:anim calcmode="lin" valueType="num">
                                      <p:cBhvr>
                                        <p:cTn id="14" dur="600" fill="hold"/>
                                        <p:tgtEl>
                                          <p:spTgt spid="6"/>
                                        </p:tgtEl>
                                        <p:attrNameLst>
                                          <p:attrName>ppt_x</p:attrName>
                                        </p:attrNameLst>
                                      </p:cBhvr>
                                      <p:tavLst>
                                        <p:tav tm="0">
                                          <p:val>
                                            <p:strVal val="#ppt_x"/>
                                          </p:val>
                                        </p:tav>
                                        <p:tav tm="100000">
                                          <p:val>
                                            <p:strVal val="#ppt_x"/>
                                          </p:val>
                                        </p:tav>
                                      </p:tavLst>
                                    </p:anim>
                                    <p:anim calcmode="lin" valueType="num">
                                      <p:cBhvr>
                                        <p:cTn id="15" dur="600" decel="100000" fill="hold"/>
                                        <p:tgtEl>
                                          <p:spTgt spid="6"/>
                                        </p:tgtEl>
                                        <p:attrNameLst>
                                          <p:attrName>ppt_y</p:attrName>
                                        </p:attrNameLst>
                                      </p:cBhvr>
                                      <p:tavLst>
                                        <p:tav tm="0">
                                          <p:val>
                                            <p:strVal val="#ppt_y+.05"/>
                                          </p:val>
                                        </p:tav>
                                        <p:tav tm="100000">
                                          <p:val>
                                            <p:strVal val="#ppt_y"/>
                                          </p:val>
                                        </p:tav>
                                      </p:tavLst>
                                    </p:anim>
                                  </p:childTnLst>
                                </p:cTn>
                              </p:par>
                            </p:childTnLst>
                          </p:cTn>
                        </p:par>
                        <p:par>
                          <p:cTn id="16" fill="hold">
                            <p:stCondLst>
                              <p:cond delay="700"/>
                            </p:stCondLst>
                            <p:childTnLst>
                              <p:par>
                                <p:cTn id="17" presetID="42"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600"/>
                                        <p:tgtEl>
                                          <p:spTgt spid="7"/>
                                        </p:tgtEl>
                                      </p:cBhvr>
                                    </p:animEffect>
                                    <p:anim calcmode="lin" valueType="num">
                                      <p:cBhvr>
                                        <p:cTn id="20" dur="600" fill="hold"/>
                                        <p:tgtEl>
                                          <p:spTgt spid="7"/>
                                        </p:tgtEl>
                                        <p:attrNameLst>
                                          <p:attrName>ppt_x</p:attrName>
                                        </p:attrNameLst>
                                      </p:cBhvr>
                                      <p:tavLst>
                                        <p:tav tm="0">
                                          <p:val>
                                            <p:strVal val="#ppt_x"/>
                                          </p:val>
                                        </p:tav>
                                        <p:tav tm="100000">
                                          <p:val>
                                            <p:strVal val="#ppt_x"/>
                                          </p:val>
                                        </p:tav>
                                      </p:tavLst>
                                    </p:anim>
                                    <p:anim calcmode="lin" valueType="num">
                                      <p:cBhvr>
                                        <p:cTn id="21" dur="600" decel="100000" fill="hold"/>
                                        <p:tgtEl>
                                          <p:spTgt spid="7"/>
                                        </p:tgtEl>
                                        <p:attrNameLst>
                                          <p:attrName>ppt_y</p:attrName>
                                        </p:attrNameLst>
                                      </p:cBhvr>
                                      <p:tavLst>
                                        <p:tav tm="0">
                                          <p:val>
                                            <p:strVal val="#ppt_y+.05"/>
                                          </p:val>
                                        </p:tav>
                                        <p:tav tm="100000">
                                          <p:val>
                                            <p:strVal val="#ppt_y"/>
                                          </p:val>
                                        </p:tav>
                                      </p:tavLst>
                                    </p:anim>
                                  </p:childTnLst>
                                </p:cTn>
                              </p:par>
                            </p:childTnLst>
                          </p:cTn>
                        </p:par>
                        <p:par>
                          <p:cTn id="22" fill="hold">
                            <p:stCondLst>
                              <p:cond delay="700"/>
                            </p:stCondLst>
                            <p:childTnLst>
                              <p:par>
                                <p:cTn id="23" presetID="42" presetClass="entr" presetSubtype="0"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600"/>
                                        <p:tgtEl>
                                          <p:spTgt spid="8"/>
                                        </p:tgtEl>
                                      </p:cBhvr>
                                    </p:animEffect>
                                    <p:anim calcmode="lin" valueType="num">
                                      <p:cBhvr>
                                        <p:cTn id="26" dur="600" fill="hold"/>
                                        <p:tgtEl>
                                          <p:spTgt spid="8"/>
                                        </p:tgtEl>
                                        <p:attrNameLst>
                                          <p:attrName>ppt_x</p:attrName>
                                        </p:attrNameLst>
                                      </p:cBhvr>
                                      <p:tavLst>
                                        <p:tav tm="0">
                                          <p:val>
                                            <p:strVal val="#ppt_x"/>
                                          </p:val>
                                        </p:tav>
                                        <p:tav tm="100000">
                                          <p:val>
                                            <p:strVal val="#ppt_x"/>
                                          </p:val>
                                        </p:tav>
                                      </p:tavLst>
                                    </p:anim>
                                    <p:anim calcmode="lin" valueType="num">
                                      <p:cBhvr>
                                        <p:cTn id="27" dur="600" decel="100000" fill="hold"/>
                                        <p:tgtEl>
                                          <p:spTgt spid="8"/>
                                        </p:tgtEl>
                                        <p:attrNameLst>
                                          <p:attrName>ppt_y</p:attrName>
                                        </p:attrNameLst>
                                      </p:cBhvr>
                                      <p:tavLst>
                                        <p:tav tm="0">
                                          <p:val>
                                            <p:strVal val="#ppt_y+.05"/>
                                          </p:val>
                                        </p:tav>
                                        <p:tav tm="100000">
                                          <p:val>
                                            <p:strVal val="#ppt_y"/>
                                          </p:val>
                                        </p:tav>
                                      </p:tavLst>
                                    </p:anim>
                                  </p:childTnLst>
                                </p:cTn>
                              </p:par>
                            </p:childTnLst>
                          </p:cTn>
                        </p:par>
                        <p:par>
                          <p:cTn id="28" fill="hold">
                            <p:stCondLst>
                              <p:cond delay="1150"/>
                            </p:stCondLst>
                            <p:childTnLst>
                              <p:par>
                                <p:cTn id="29" presetID="42" presetClass="entr" presetSubtype="0" fill="hold" grpId="0" nodeType="with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fade">
                                      <p:cBhvr>
                                        <p:cTn id="31" dur="600"/>
                                        <p:tgtEl>
                                          <p:spTgt spid="9"/>
                                        </p:tgtEl>
                                      </p:cBhvr>
                                    </p:animEffect>
                                    <p:anim calcmode="lin" valueType="num">
                                      <p:cBhvr>
                                        <p:cTn id="32" dur="600" fill="hold"/>
                                        <p:tgtEl>
                                          <p:spTgt spid="9"/>
                                        </p:tgtEl>
                                        <p:attrNameLst>
                                          <p:attrName>ppt_x</p:attrName>
                                        </p:attrNameLst>
                                      </p:cBhvr>
                                      <p:tavLst>
                                        <p:tav tm="0">
                                          <p:val>
                                            <p:strVal val="#ppt_x"/>
                                          </p:val>
                                        </p:tav>
                                        <p:tav tm="100000">
                                          <p:val>
                                            <p:strVal val="#ppt_x"/>
                                          </p:val>
                                        </p:tav>
                                      </p:tavLst>
                                    </p:anim>
                                    <p:anim calcmode="lin" valueType="num">
                                      <p:cBhvr>
                                        <p:cTn id="33" dur="600" decel="100000" fill="hold"/>
                                        <p:tgtEl>
                                          <p:spTgt spid="9"/>
                                        </p:tgtEl>
                                        <p:attrNameLst>
                                          <p:attrName>ppt_y</p:attrName>
                                        </p:attrNameLst>
                                      </p:cBhvr>
                                      <p:tavLst>
                                        <p:tav tm="0">
                                          <p:val>
                                            <p:strVal val="#ppt_y+.05"/>
                                          </p:val>
                                        </p:tav>
                                        <p:tav tm="100000">
                                          <p:val>
                                            <p:strVal val="#ppt_y"/>
                                          </p:val>
                                        </p:tav>
                                      </p:tavLst>
                                    </p:anim>
                                  </p:childTnLst>
                                </p:cTn>
                              </p:par>
                            </p:childTnLst>
                          </p:cTn>
                        </p:par>
                        <p:par>
                          <p:cTn id="34" fill="hold">
                            <p:stCondLst>
                              <p:cond delay="1150"/>
                            </p:stCondLst>
                            <p:childTnLst>
                              <p:par>
                                <p:cTn id="35" presetID="42" presetClass="entr" presetSubtype="0" fill="hold" grpId="0" nodeType="with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600"/>
                                        <p:tgtEl>
                                          <p:spTgt spid="10"/>
                                        </p:tgtEl>
                                      </p:cBhvr>
                                    </p:animEffect>
                                    <p:anim calcmode="lin" valueType="num">
                                      <p:cBhvr>
                                        <p:cTn id="38" dur="600" fill="hold"/>
                                        <p:tgtEl>
                                          <p:spTgt spid="10"/>
                                        </p:tgtEl>
                                        <p:attrNameLst>
                                          <p:attrName>ppt_x</p:attrName>
                                        </p:attrNameLst>
                                      </p:cBhvr>
                                      <p:tavLst>
                                        <p:tav tm="0">
                                          <p:val>
                                            <p:strVal val="#ppt_x"/>
                                          </p:val>
                                        </p:tav>
                                        <p:tav tm="100000">
                                          <p:val>
                                            <p:strVal val="#ppt_x"/>
                                          </p:val>
                                        </p:tav>
                                      </p:tavLst>
                                    </p:anim>
                                    <p:anim calcmode="lin" valueType="num">
                                      <p:cBhvr>
                                        <p:cTn id="39" dur="600" decel="100000" fill="hold"/>
                                        <p:tgtEl>
                                          <p:spTgt spid="10"/>
                                        </p:tgtEl>
                                        <p:attrNameLst>
                                          <p:attrName>ppt_y</p:attrName>
                                        </p:attrNameLst>
                                      </p:cBhvr>
                                      <p:tavLst>
                                        <p:tav tm="0">
                                          <p:val>
                                            <p:strVal val="#ppt_y+.05"/>
                                          </p:val>
                                        </p:tav>
                                        <p:tav tm="100000">
                                          <p:val>
                                            <p:strVal val="#ppt_y"/>
                                          </p:val>
                                        </p:tav>
                                      </p:tavLst>
                                    </p:anim>
                                  </p:childTnLst>
                                </p:cTn>
                              </p:par>
                            </p:childTnLst>
                          </p:cTn>
                        </p:par>
                        <p:par>
                          <p:cTn id="40" fill="hold">
                            <p:stCondLst>
                              <p:cond delay="1150"/>
                            </p:stCondLst>
                            <p:childTnLst>
                              <p:par>
                                <p:cTn id="41" presetID="42" presetClass="entr" presetSubtype="0" fill="hold" grpId="0" nodeType="withEffect">
                                  <p:stCondLst>
                                    <p:cond delay="0"/>
                                  </p:stCondLst>
                                  <p:childTnLst>
                                    <p:set>
                                      <p:cBhvr>
                                        <p:cTn id="42" dur="1" fill="hold">
                                          <p:stCondLst>
                                            <p:cond delay="0"/>
                                          </p:stCondLst>
                                        </p:cTn>
                                        <p:tgtEl>
                                          <p:spTgt spid="11"/>
                                        </p:tgtEl>
                                        <p:attrNameLst>
                                          <p:attrName>style.visibility</p:attrName>
                                        </p:attrNameLst>
                                      </p:cBhvr>
                                      <p:to>
                                        <p:strVal val="visible"/>
                                      </p:to>
                                    </p:set>
                                    <p:animEffect transition="in" filter="fade">
                                      <p:cBhvr>
                                        <p:cTn id="43" dur="600"/>
                                        <p:tgtEl>
                                          <p:spTgt spid="11"/>
                                        </p:tgtEl>
                                      </p:cBhvr>
                                    </p:animEffect>
                                    <p:anim calcmode="lin" valueType="num">
                                      <p:cBhvr>
                                        <p:cTn id="44" dur="600" fill="hold"/>
                                        <p:tgtEl>
                                          <p:spTgt spid="11"/>
                                        </p:tgtEl>
                                        <p:attrNameLst>
                                          <p:attrName>ppt_x</p:attrName>
                                        </p:attrNameLst>
                                      </p:cBhvr>
                                      <p:tavLst>
                                        <p:tav tm="0">
                                          <p:val>
                                            <p:strVal val="#ppt_x"/>
                                          </p:val>
                                        </p:tav>
                                        <p:tav tm="100000">
                                          <p:val>
                                            <p:strVal val="#ppt_x"/>
                                          </p:val>
                                        </p:tav>
                                      </p:tavLst>
                                    </p:anim>
                                    <p:anim calcmode="lin" valueType="num">
                                      <p:cBhvr>
                                        <p:cTn id="45" dur="600" decel="100000" fill="hold"/>
                                        <p:tgtEl>
                                          <p:spTgt spid="11"/>
                                        </p:tgtEl>
                                        <p:attrNameLst>
                                          <p:attrName>ppt_y</p:attrName>
                                        </p:attrNameLst>
                                      </p:cBhvr>
                                      <p:tavLst>
                                        <p:tav tm="0">
                                          <p:val>
                                            <p:strVal val="#ppt_y+.05"/>
                                          </p:val>
                                        </p:tav>
                                        <p:tav tm="100000">
                                          <p:val>
                                            <p:strVal val="#ppt_y"/>
                                          </p:val>
                                        </p:tav>
                                      </p:tavLst>
                                    </p:anim>
                                  </p:childTnLst>
                                </p:cTn>
                              </p:par>
                            </p:childTnLst>
                          </p:cTn>
                        </p:par>
                        <p:par>
                          <p:cTn id="46" fill="hold">
                            <p:stCondLst>
                              <p:cond delay="1150"/>
                            </p:stCondLst>
                            <p:childTnLst>
                              <p:par>
                                <p:cTn id="47" presetID="42" presetClass="entr" presetSubtype="0" fill="hold" grpId="0" nodeType="withEffect">
                                  <p:stCondLst>
                                    <p:cond delay="0"/>
                                  </p:stCondLst>
                                  <p:childTnLst>
                                    <p:set>
                                      <p:cBhvr>
                                        <p:cTn id="48" dur="1" fill="hold">
                                          <p:stCondLst>
                                            <p:cond delay="0"/>
                                          </p:stCondLst>
                                        </p:cTn>
                                        <p:tgtEl>
                                          <p:spTgt spid="12"/>
                                        </p:tgtEl>
                                        <p:attrNameLst>
                                          <p:attrName>style.visibility</p:attrName>
                                        </p:attrNameLst>
                                      </p:cBhvr>
                                      <p:to>
                                        <p:strVal val="visible"/>
                                      </p:to>
                                    </p:set>
                                    <p:animEffect transition="in" filter="fade">
                                      <p:cBhvr>
                                        <p:cTn id="49" dur="600"/>
                                        <p:tgtEl>
                                          <p:spTgt spid="12"/>
                                        </p:tgtEl>
                                      </p:cBhvr>
                                    </p:animEffect>
                                    <p:anim calcmode="lin" valueType="num">
                                      <p:cBhvr>
                                        <p:cTn id="50" dur="600" fill="hold"/>
                                        <p:tgtEl>
                                          <p:spTgt spid="12"/>
                                        </p:tgtEl>
                                        <p:attrNameLst>
                                          <p:attrName>ppt_x</p:attrName>
                                        </p:attrNameLst>
                                      </p:cBhvr>
                                      <p:tavLst>
                                        <p:tav tm="0">
                                          <p:val>
                                            <p:strVal val="#ppt_x"/>
                                          </p:val>
                                        </p:tav>
                                        <p:tav tm="100000">
                                          <p:val>
                                            <p:strVal val="#ppt_x"/>
                                          </p:val>
                                        </p:tav>
                                      </p:tavLst>
                                    </p:anim>
                                    <p:anim calcmode="lin" valueType="num">
                                      <p:cBhvr>
                                        <p:cTn id="51" dur="600" decel="100000" fill="hold"/>
                                        <p:tgtEl>
                                          <p:spTgt spid="12"/>
                                        </p:tgtEl>
                                        <p:attrNameLst>
                                          <p:attrName>ppt_y</p:attrName>
                                        </p:attrNameLst>
                                      </p:cBhvr>
                                      <p:tavLst>
                                        <p:tav tm="0">
                                          <p:val>
                                            <p:strVal val="#ppt_y+.05"/>
                                          </p:val>
                                        </p:tav>
                                        <p:tav tm="100000">
                                          <p:val>
                                            <p:strVal val="#ppt_y"/>
                                          </p:val>
                                        </p:tav>
                                      </p:tavLst>
                                    </p:anim>
                                  </p:childTnLst>
                                </p:cTn>
                              </p:par>
                            </p:childTnLst>
                          </p:cTn>
                        </p:par>
                        <p:par>
                          <p:cTn id="52" fill="hold">
                            <p:stCondLst>
                              <p:cond delay="1150"/>
                            </p:stCondLst>
                            <p:childTnLst>
                              <p:par>
                                <p:cTn id="53" presetID="42" presetClass="entr" presetSubtype="0" fill="hold" grpId="0" nodeType="withEffect">
                                  <p:stCondLst>
                                    <p:cond delay="0"/>
                                  </p:stCondLst>
                                  <p:childTnLst>
                                    <p:set>
                                      <p:cBhvr>
                                        <p:cTn id="54" dur="1" fill="hold">
                                          <p:stCondLst>
                                            <p:cond delay="0"/>
                                          </p:stCondLst>
                                        </p:cTn>
                                        <p:tgtEl>
                                          <p:spTgt spid="13"/>
                                        </p:tgtEl>
                                        <p:attrNameLst>
                                          <p:attrName>style.visibility</p:attrName>
                                        </p:attrNameLst>
                                      </p:cBhvr>
                                      <p:to>
                                        <p:strVal val="visible"/>
                                      </p:to>
                                    </p:set>
                                    <p:animEffect transition="in" filter="fade">
                                      <p:cBhvr>
                                        <p:cTn id="55" dur="600"/>
                                        <p:tgtEl>
                                          <p:spTgt spid="13"/>
                                        </p:tgtEl>
                                      </p:cBhvr>
                                    </p:animEffect>
                                    <p:anim calcmode="lin" valueType="num">
                                      <p:cBhvr>
                                        <p:cTn id="56" dur="600" fill="hold"/>
                                        <p:tgtEl>
                                          <p:spTgt spid="13"/>
                                        </p:tgtEl>
                                        <p:attrNameLst>
                                          <p:attrName>ppt_x</p:attrName>
                                        </p:attrNameLst>
                                      </p:cBhvr>
                                      <p:tavLst>
                                        <p:tav tm="0">
                                          <p:val>
                                            <p:strVal val="#ppt_x"/>
                                          </p:val>
                                        </p:tav>
                                        <p:tav tm="100000">
                                          <p:val>
                                            <p:strVal val="#ppt_x"/>
                                          </p:val>
                                        </p:tav>
                                      </p:tavLst>
                                    </p:anim>
                                    <p:anim calcmode="lin" valueType="num">
                                      <p:cBhvr>
                                        <p:cTn id="57" dur="600" decel="100000" fill="hold"/>
                                        <p:tgtEl>
                                          <p:spTgt spid="13"/>
                                        </p:tgtEl>
                                        <p:attrNameLst>
                                          <p:attrName>ppt_y</p:attrName>
                                        </p:attrNameLst>
                                      </p:cBhvr>
                                      <p:tavLst>
                                        <p:tav tm="0">
                                          <p:val>
                                            <p:strVal val="#ppt_y+.05"/>
                                          </p:val>
                                        </p:tav>
                                        <p:tav tm="100000">
                                          <p:val>
                                            <p:strVal val="#ppt_y"/>
                                          </p:val>
                                        </p:tav>
                                      </p:tavLst>
                                    </p:anim>
                                  </p:childTnLst>
                                </p:cTn>
                              </p:par>
                            </p:childTnLst>
                          </p:cTn>
                        </p:par>
                        <p:par>
                          <p:cTn id="58" fill="hold">
                            <p:stCondLst>
                              <p:cond delay="1150"/>
                            </p:stCondLst>
                            <p:childTnLst>
                              <p:par>
                                <p:cTn id="59" presetID="42" presetClass="entr" presetSubtype="0" fill="hold" grpId="0" nodeType="withEffect">
                                  <p:stCondLst>
                                    <p:cond delay="0"/>
                                  </p:stCondLst>
                                  <p:childTnLst>
                                    <p:set>
                                      <p:cBhvr>
                                        <p:cTn id="60" dur="1" fill="hold">
                                          <p:stCondLst>
                                            <p:cond delay="0"/>
                                          </p:stCondLst>
                                        </p:cTn>
                                        <p:tgtEl>
                                          <p:spTgt spid="14"/>
                                        </p:tgtEl>
                                        <p:attrNameLst>
                                          <p:attrName>style.visibility</p:attrName>
                                        </p:attrNameLst>
                                      </p:cBhvr>
                                      <p:to>
                                        <p:strVal val="visible"/>
                                      </p:to>
                                    </p:set>
                                    <p:animEffect transition="in" filter="fade">
                                      <p:cBhvr>
                                        <p:cTn id="61" dur="600"/>
                                        <p:tgtEl>
                                          <p:spTgt spid="14"/>
                                        </p:tgtEl>
                                      </p:cBhvr>
                                    </p:animEffect>
                                    <p:anim calcmode="lin" valueType="num">
                                      <p:cBhvr>
                                        <p:cTn id="62" dur="600" fill="hold"/>
                                        <p:tgtEl>
                                          <p:spTgt spid="14"/>
                                        </p:tgtEl>
                                        <p:attrNameLst>
                                          <p:attrName>ppt_x</p:attrName>
                                        </p:attrNameLst>
                                      </p:cBhvr>
                                      <p:tavLst>
                                        <p:tav tm="0">
                                          <p:val>
                                            <p:strVal val="#ppt_x"/>
                                          </p:val>
                                        </p:tav>
                                        <p:tav tm="100000">
                                          <p:val>
                                            <p:strVal val="#ppt_x"/>
                                          </p:val>
                                        </p:tav>
                                      </p:tavLst>
                                    </p:anim>
                                    <p:anim calcmode="lin" valueType="num">
                                      <p:cBhvr>
                                        <p:cTn id="63" dur="600" decel="100000" fill="hold"/>
                                        <p:tgtEl>
                                          <p:spTgt spid="14"/>
                                        </p:tgtEl>
                                        <p:attrNameLst>
                                          <p:attrName>ppt_y</p:attrName>
                                        </p:attrNameLst>
                                      </p:cBhvr>
                                      <p:tavLst>
                                        <p:tav tm="0">
                                          <p:val>
                                            <p:strVal val="#ppt_y+.05"/>
                                          </p:val>
                                        </p:tav>
                                        <p:tav tm="100000">
                                          <p:val>
                                            <p:strVal val="#ppt_y"/>
                                          </p:val>
                                        </p:tav>
                                      </p:tavLst>
                                    </p:anim>
                                  </p:childTnLst>
                                </p:cTn>
                              </p:par>
                            </p:childTnLst>
                          </p:cTn>
                        </p:par>
                        <p:par>
                          <p:cTn id="64" fill="hold">
                            <p:stCondLst>
                              <p:cond delay="1150"/>
                            </p:stCondLst>
                            <p:childTnLst>
                              <p:par>
                                <p:cTn id="65" presetID="42" presetClass="entr" presetSubtype="0" fill="hold" grpId="0" nodeType="withEffect">
                                  <p:stCondLst>
                                    <p:cond delay="0"/>
                                  </p:stCondLst>
                                  <p:childTnLst>
                                    <p:set>
                                      <p:cBhvr>
                                        <p:cTn id="66" dur="1" fill="hold">
                                          <p:stCondLst>
                                            <p:cond delay="0"/>
                                          </p:stCondLst>
                                        </p:cTn>
                                        <p:tgtEl>
                                          <p:spTgt spid="15"/>
                                        </p:tgtEl>
                                        <p:attrNameLst>
                                          <p:attrName>style.visibility</p:attrName>
                                        </p:attrNameLst>
                                      </p:cBhvr>
                                      <p:to>
                                        <p:strVal val="visible"/>
                                      </p:to>
                                    </p:set>
                                    <p:animEffect transition="in" filter="fade">
                                      <p:cBhvr>
                                        <p:cTn id="67" dur="600"/>
                                        <p:tgtEl>
                                          <p:spTgt spid="15"/>
                                        </p:tgtEl>
                                      </p:cBhvr>
                                    </p:animEffect>
                                    <p:anim calcmode="lin" valueType="num">
                                      <p:cBhvr>
                                        <p:cTn id="68" dur="600" fill="hold"/>
                                        <p:tgtEl>
                                          <p:spTgt spid="15"/>
                                        </p:tgtEl>
                                        <p:attrNameLst>
                                          <p:attrName>ppt_x</p:attrName>
                                        </p:attrNameLst>
                                      </p:cBhvr>
                                      <p:tavLst>
                                        <p:tav tm="0">
                                          <p:val>
                                            <p:strVal val="#ppt_x"/>
                                          </p:val>
                                        </p:tav>
                                        <p:tav tm="100000">
                                          <p:val>
                                            <p:strVal val="#ppt_x"/>
                                          </p:val>
                                        </p:tav>
                                      </p:tavLst>
                                    </p:anim>
                                    <p:anim calcmode="lin" valueType="num">
                                      <p:cBhvr>
                                        <p:cTn id="69" dur="600" decel="100000" fill="hold"/>
                                        <p:tgtEl>
                                          <p:spTgt spid="15"/>
                                        </p:tgtEl>
                                        <p:attrNameLst>
                                          <p:attrName>ppt_y</p:attrName>
                                        </p:attrNameLst>
                                      </p:cBhvr>
                                      <p:tavLst>
                                        <p:tav tm="0">
                                          <p:val>
                                            <p:strVal val="#ppt_y+.05"/>
                                          </p:val>
                                        </p:tav>
                                        <p:tav tm="100000">
                                          <p:val>
                                            <p:strVal val="#ppt_y"/>
                                          </p:val>
                                        </p:tav>
                                      </p:tavLst>
                                    </p:anim>
                                  </p:childTnLst>
                                </p:cTn>
                              </p:par>
                            </p:childTnLst>
                          </p:cTn>
                        </p:par>
                        <p:par>
                          <p:cTn id="70" fill="hold">
                            <p:stCondLst>
                              <p:cond delay="1150"/>
                            </p:stCondLst>
                            <p:childTnLst>
                              <p:par>
                                <p:cTn id="71" presetID="42" presetClass="entr" presetSubtype="0" fill="hold" grpId="0" nodeType="withEffect">
                                  <p:stCondLst>
                                    <p:cond delay="0"/>
                                  </p:stCondLst>
                                  <p:childTnLst>
                                    <p:set>
                                      <p:cBhvr>
                                        <p:cTn id="72" dur="1" fill="hold">
                                          <p:stCondLst>
                                            <p:cond delay="0"/>
                                          </p:stCondLst>
                                        </p:cTn>
                                        <p:tgtEl>
                                          <p:spTgt spid="16"/>
                                        </p:tgtEl>
                                        <p:attrNameLst>
                                          <p:attrName>style.visibility</p:attrName>
                                        </p:attrNameLst>
                                      </p:cBhvr>
                                      <p:to>
                                        <p:strVal val="visible"/>
                                      </p:to>
                                    </p:set>
                                    <p:animEffect transition="in" filter="fade">
                                      <p:cBhvr>
                                        <p:cTn id="73" dur="600"/>
                                        <p:tgtEl>
                                          <p:spTgt spid="16"/>
                                        </p:tgtEl>
                                      </p:cBhvr>
                                    </p:animEffect>
                                    <p:anim calcmode="lin" valueType="num">
                                      <p:cBhvr>
                                        <p:cTn id="74" dur="600" fill="hold"/>
                                        <p:tgtEl>
                                          <p:spTgt spid="16"/>
                                        </p:tgtEl>
                                        <p:attrNameLst>
                                          <p:attrName>ppt_x</p:attrName>
                                        </p:attrNameLst>
                                      </p:cBhvr>
                                      <p:tavLst>
                                        <p:tav tm="0">
                                          <p:val>
                                            <p:strVal val="#ppt_x"/>
                                          </p:val>
                                        </p:tav>
                                        <p:tav tm="100000">
                                          <p:val>
                                            <p:strVal val="#ppt_x"/>
                                          </p:val>
                                        </p:tav>
                                      </p:tavLst>
                                    </p:anim>
                                    <p:anim calcmode="lin" valueType="num">
                                      <p:cBhvr>
                                        <p:cTn id="75" dur="600" decel="100000" fill="hold"/>
                                        <p:tgtEl>
                                          <p:spTgt spid="16"/>
                                        </p:tgtEl>
                                        <p:attrNameLst>
                                          <p:attrName>ppt_y</p:attrName>
                                        </p:attrNameLst>
                                      </p:cBhvr>
                                      <p:tavLst>
                                        <p:tav tm="0">
                                          <p:val>
                                            <p:strVal val="#ppt_y+.05"/>
                                          </p:val>
                                        </p:tav>
                                        <p:tav tm="100000">
                                          <p:val>
                                            <p:strVal val="#ppt_y"/>
                                          </p:val>
                                        </p:tav>
                                      </p:tavLst>
                                    </p:anim>
                                  </p:childTnLst>
                                </p:cTn>
                              </p:par>
                            </p:childTnLst>
                          </p:cTn>
                        </p:par>
                        <p:par>
                          <p:cTn id="76" fill="hold">
                            <p:stCondLst>
                              <p:cond delay="1150"/>
                            </p:stCondLst>
                            <p:childTnLst>
                              <p:par>
                                <p:cTn id="77" presetID="42" presetClass="entr" presetSubtype="0" fill="hold" grpId="0" nodeType="withEffect">
                                  <p:stCondLst>
                                    <p:cond delay="0"/>
                                  </p:stCondLst>
                                  <p:childTnLst>
                                    <p:set>
                                      <p:cBhvr>
                                        <p:cTn id="78" dur="1" fill="hold">
                                          <p:stCondLst>
                                            <p:cond delay="0"/>
                                          </p:stCondLst>
                                        </p:cTn>
                                        <p:tgtEl>
                                          <p:spTgt spid="17"/>
                                        </p:tgtEl>
                                        <p:attrNameLst>
                                          <p:attrName>style.visibility</p:attrName>
                                        </p:attrNameLst>
                                      </p:cBhvr>
                                      <p:to>
                                        <p:strVal val="visible"/>
                                      </p:to>
                                    </p:set>
                                    <p:animEffect transition="in" filter="fade">
                                      <p:cBhvr>
                                        <p:cTn id="79" dur="600"/>
                                        <p:tgtEl>
                                          <p:spTgt spid="17"/>
                                        </p:tgtEl>
                                      </p:cBhvr>
                                    </p:animEffect>
                                    <p:anim calcmode="lin" valueType="num">
                                      <p:cBhvr>
                                        <p:cTn id="80" dur="600" fill="hold"/>
                                        <p:tgtEl>
                                          <p:spTgt spid="17"/>
                                        </p:tgtEl>
                                        <p:attrNameLst>
                                          <p:attrName>ppt_x</p:attrName>
                                        </p:attrNameLst>
                                      </p:cBhvr>
                                      <p:tavLst>
                                        <p:tav tm="0">
                                          <p:val>
                                            <p:strVal val="#ppt_x"/>
                                          </p:val>
                                        </p:tav>
                                        <p:tav tm="100000">
                                          <p:val>
                                            <p:strVal val="#ppt_x"/>
                                          </p:val>
                                        </p:tav>
                                      </p:tavLst>
                                    </p:anim>
                                    <p:anim calcmode="lin" valueType="num">
                                      <p:cBhvr>
                                        <p:cTn id="81" dur="600" decel="100000" fill="hold"/>
                                        <p:tgtEl>
                                          <p:spTgt spid="17"/>
                                        </p:tgtEl>
                                        <p:attrNameLst>
                                          <p:attrName>ppt_y</p:attrName>
                                        </p:attrNameLst>
                                      </p:cBhvr>
                                      <p:tavLst>
                                        <p:tav tm="0">
                                          <p:val>
                                            <p:strVal val="#ppt_y+.05"/>
                                          </p:val>
                                        </p:tav>
                                        <p:tav tm="100000">
                                          <p:val>
                                            <p:strVal val="#ppt_y"/>
                                          </p:val>
                                        </p:tav>
                                      </p:tavLst>
                                    </p:anim>
                                  </p:childTnLst>
                                </p:cTn>
                              </p:par>
                            </p:childTnLst>
                          </p:cTn>
                        </p:par>
                        <p:par>
                          <p:cTn id="82" fill="hold">
                            <p:stCondLst>
                              <p:cond delay="1150"/>
                            </p:stCondLst>
                            <p:childTnLst>
                              <p:par>
                                <p:cTn id="83" presetID="42" presetClass="entr" presetSubtype="0" fill="hold" grpId="0" nodeType="withEffect">
                                  <p:stCondLst>
                                    <p:cond delay="0"/>
                                  </p:stCondLst>
                                  <p:childTnLst>
                                    <p:set>
                                      <p:cBhvr>
                                        <p:cTn id="84" dur="1" fill="hold">
                                          <p:stCondLst>
                                            <p:cond delay="0"/>
                                          </p:stCondLst>
                                        </p:cTn>
                                        <p:tgtEl>
                                          <p:spTgt spid="18"/>
                                        </p:tgtEl>
                                        <p:attrNameLst>
                                          <p:attrName>style.visibility</p:attrName>
                                        </p:attrNameLst>
                                      </p:cBhvr>
                                      <p:to>
                                        <p:strVal val="visible"/>
                                      </p:to>
                                    </p:set>
                                    <p:animEffect transition="in" filter="fade">
                                      <p:cBhvr>
                                        <p:cTn id="85" dur="600"/>
                                        <p:tgtEl>
                                          <p:spTgt spid="18"/>
                                        </p:tgtEl>
                                      </p:cBhvr>
                                    </p:animEffect>
                                    <p:anim calcmode="lin" valueType="num">
                                      <p:cBhvr>
                                        <p:cTn id="86" dur="600" fill="hold"/>
                                        <p:tgtEl>
                                          <p:spTgt spid="18"/>
                                        </p:tgtEl>
                                        <p:attrNameLst>
                                          <p:attrName>ppt_x</p:attrName>
                                        </p:attrNameLst>
                                      </p:cBhvr>
                                      <p:tavLst>
                                        <p:tav tm="0">
                                          <p:val>
                                            <p:strVal val="#ppt_x"/>
                                          </p:val>
                                        </p:tav>
                                        <p:tav tm="100000">
                                          <p:val>
                                            <p:strVal val="#ppt_x"/>
                                          </p:val>
                                        </p:tav>
                                      </p:tavLst>
                                    </p:anim>
                                    <p:anim calcmode="lin" valueType="num">
                                      <p:cBhvr>
                                        <p:cTn id="87" dur="600" decel="100000" fill="hold"/>
                                        <p:tgtEl>
                                          <p:spTgt spid="18"/>
                                        </p:tgtEl>
                                        <p:attrNameLst>
                                          <p:attrName>ppt_y</p:attrName>
                                        </p:attrNameLst>
                                      </p:cBhvr>
                                      <p:tavLst>
                                        <p:tav tm="0">
                                          <p:val>
                                            <p:strVal val="#ppt_y+.05"/>
                                          </p:val>
                                        </p:tav>
                                        <p:tav tm="100000">
                                          <p:val>
                                            <p:strVal val="#ppt_y"/>
                                          </p:val>
                                        </p:tav>
                                      </p:tavLst>
                                    </p:anim>
                                  </p:childTnLst>
                                </p:cTn>
                              </p:par>
                            </p:childTnLst>
                          </p:cTn>
                        </p:par>
                        <p:par>
                          <p:cTn id="88" fill="hold">
                            <p:stCondLst>
                              <p:cond delay="1150"/>
                            </p:stCondLst>
                            <p:childTnLst>
                              <p:par>
                                <p:cTn id="89" presetID="42" presetClass="entr" presetSubtype="0" fill="hold" grpId="0" nodeType="withEffect">
                                  <p:stCondLst>
                                    <p:cond delay="0"/>
                                  </p:stCondLst>
                                  <p:childTnLst>
                                    <p:set>
                                      <p:cBhvr>
                                        <p:cTn id="90" dur="1" fill="hold">
                                          <p:stCondLst>
                                            <p:cond delay="0"/>
                                          </p:stCondLst>
                                        </p:cTn>
                                        <p:tgtEl>
                                          <p:spTgt spid="19"/>
                                        </p:tgtEl>
                                        <p:attrNameLst>
                                          <p:attrName>style.visibility</p:attrName>
                                        </p:attrNameLst>
                                      </p:cBhvr>
                                      <p:to>
                                        <p:strVal val="visible"/>
                                      </p:to>
                                    </p:set>
                                    <p:animEffect transition="in" filter="fade">
                                      <p:cBhvr>
                                        <p:cTn id="91" dur="600"/>
                                        <p:tgtEl>
                                          <p:spTgt spid="19"/>
                                        </p:tgtEl>
                                      </p:cBhvr>
                                    </p:animEffect>
                                    <p:anim calcmode="lin" valueType="num">
                                      <p:cBhvr>
                                        <p:cTn id="92" dur="600" fill="hold"/>
                                        <p:tgtEl>
                                          <p:spTgt spid="19"/>
                                        </p:tgtEl>
                                        <p:attrNameLst>
                                          <p:attrName>ppt_x</p:attrName>
                                        </p:attrNameLst>
                                      </p:cBhvr>
                                      <p:tavLst>
                                        <p:tav tm="0">
                                          <p:val>
                                            <p:strVal val="#ppt_x"/>
                                          </p:val>
                                        </p:tav>
                                        <p:tav tm="100000">
                                          <p:val>
                                            <p:strVal val="#ppt_x"/>
                                          </p:val>
                                        </p:tav>
                                      </p:tavLst>
                                    </p:anim>
                                    <p:anim calcmode="lin" valueType="num">
                                      <p:cBhvr>
                                        <p:cTn id="93" dur="600" decel="100000" fill="hold"/>
                                        <p:tgtEl>
                                          <p:spTgt spid="19"/>
                                        </p:tgtEl>
                                        <p:attrNameLst>
                                          <p:attrName>ppt_y</p:attrName>
                                        </p:attrNameLst>
                                      </p:cBhvr>
                                      <p:tavLst>
                                        <p:tav tm="0">
                                          <p:val>
                                            <p:strVal val="#ppt_y+.05"/>
                                          </p:val>
                                        </p:tav>
                                        <p:tav tm="100000">
                                          <p:val>
                                            <p:strVal val="#ppt_y"/>
                                          </p:val>
                                        </p:tav>
                                      </p:tavLst>
                                    </p:anim>
                                  </p:childTnLst>
                                </p:cTn>
                              </p:par>
                            </p:childTnLst>
                          </p:cTn>
                        </p:par>
                        <p:par>
                          <p:cTn id="94" fill="hold">
                            <p:stCondLst>
                              <p:cond delay="1150"/>
                            </p:stCondLst>
                            <p:childTnLst>
                              <p:par>
                                <p:cTn id="95" presetID="42" presetClass="entr" presetSubtype="0" fill="hold" grpId="0" nodeType="withEffect">
                                  <p:stCondLst>
                                    <p:cond delay="0"/>
                                  </p:stCondLst>
                                  <p:childTnLst>
                                    <p:set>
                                      <p:cBhvr>
                                        <p:cTn id="96" dur="1" fill="hold">
                                          <p:stCondLst>
                                            <p:cond delay="0"/>
                                          </p:stCondLst>
                                        </p:cTn>
                                        <p:tgtEl>
                                          <p:spTgt spid="20"/>
                                        </p:tgtEl>
                                        <p:attrNameLst>
                                          <p:attrName>style.visibility</p:attrName>
                                        </p:attrNameLst>
                                      </p:cBhvr>
                                      <p:to>
                                        <p:strVal val="visible"/>
                                      </p:to>
                                    </p:set>
                                    <p:animEffect transition="in" filter="fade">
                                      <p:cBhvr>
                                        <p:cTn id="97" dur="600"/>
                                        <p:tgtEl>
                                          <p:spTgt spid="20"/>
                                        </p:tgtEl>
                                      </p:cBhvr>
                                    </p:animEffect>
                                    <p:anim calcmode="lin" valueType="num">
                                      <p:cBhvr>
                                        <p:cTn id="98" dur="600" fill="hold"/>
                                        <p:tgtEl>
                                          <p:spTgt spid="20"/>
                                        </p:tgtEl>
                                        <p:attrNameLst>
                                          <p:attrName>ppt_x</p:attrName>
                                        </p:attrNameLst>
                                      </p:cBhvr>
                                      <p:tavLst>
                                        <p:tav tm="0">
                                          <p:val>
                                            <p:strVal val="#ppt_x"/>
                                          </p:val>
                                        </p:tav>
                                        <p:tav tm="100000">
                                          <p:val>
                                            <p:strVal val="#ppt_x"/>
                                          </p:val>
                                        </p:tav>
                                      </p:tavLst>
                                    </p:anim>
                                    <p:anim calcmode="lin" valueType="num">
                                      <p:cBhvr>
                                        <p:cTn id="99" dur="600" decel="100000" fill="hold"/>
                                        <p:tgtEl>
                                          <p:spTgt spid="20"/>
                                        </p:tgtEl>
                                        <p:attrNameLst>
                                          <p:attrName>ppt_y</p:attrName>
                                        </p:attrNameLst>
                                      </p:cBhvr>
                                      <p:tavLst>
                                        <p:tav tm="0">
                                          <p:val>
                                            <p:strVal val="#ppt_y+.05"/>
                                          </p:val>
                                        </p:tav>
                                        <p:tav tm="100000">
                                          <p:val>
                                            <p:strVal val="#ppt_y"/>
                                          </p:val>
                                        </p:tav>
                                      </p:tavLst>
                                    </p:anim>
                                  </p:childTnLst>
                                </p:cTn>
                              </p:par>
                            </p:childTnLst>
                          </p:cTn>
                        </p:par>
                        <p:par>
                          <p:cTn id="100" fill="hold">
                            <p:stCondLst>
                              <p:cond delay="1600"/>
                            </p:stCondLst>
                            <p:childTnLst>
                              <p:par>
                                <p:cTn id="101" presetID="42" presetClass="entr" presetSubtype="0" fill="hold" grpId="0" nodeType="withEffect">
                                  <p:stCondLst>
                                    <p:cond delay="0"/>
                                  </p:stCondLst>
                                  <p:childTnLst>
                                    <p:set>
                                      <p:cBhvr>
                                        <p:cTn id="102" dur="1" fill="hold">
                                          <p:stCondLst>
                                            <p:cond delay="0"/>
                                          </p:stCondLst>
                                        </p:cTn>
                                        <p:tgtEl>
                                          <p:spTgt spid="21"/>
                                        </p:tgtEl>
                                        <p:attrNameLst>
                                          <p:attrName>style.visibility</p:attrName>
                                        </p:attrNameLst>
                                      </p:cBhvr>
                                      <p:to>
                                        <p:strVal val="visible"/>
                                      </p:to>
                                    </p:set>
                                    <p:animEffect transition="in" filter="fade">
                                      <p:cBhvr>
                                        <p:cTn id="103" dur="600"/>
                                        <p:tgtEl>
                                          <p:spTgt spid="21"/>
                                        </p:tgtEl>
                                      </p:cBhvr>
                                    </p:animEffect>
                                    <p:anim calcmode="lin" valueType="num">
                                      <p:cBhvr>
                                        <p:cTn id="104" dur="600" fill="hold"/>
                                        <p:tgtEl>
                                          <p:spTgt spid="21"/>
                                        </p:tgtEl>
                                        <p:attrNameLst>
                                          <p:attrName>ppt_x</p:attrName>
                                        </p:attrNameLst>
                                      </p:cBhvr>
                                      <p:tavLst>
                                        <p:tav tm="0">
                                          <p:val>
                                            <p:strVal val="#ppt_x"/>
                                          </p:val>
                                        </p:tav>
                                        <p:tav tm="100000">
                                          <p:val>
                                            <p:strVal val="#ppt_x"/>
                                          </p:val>
                                        </p:tav>
                                      </p:tavLst>
                                    </p:anim>
                                    <p:anim calcmode="lin" valueType="num">
                                      <p:cBhvr>
                                        <p:cTn id="105" dur="600" decel="100000" fill="hold"/>
                                        <p:tgtEl>
                                          <p:spTgt spid="21"/>
                                        </p:tgtEl>
                                        <p:attrNameLst>
                                          <p:attrName>ppt_y</p:attrName>
                                        </p:attrNameLst>
                                      </p:cBhvr>
                                      <p:tavLst>
                                        <p:tav tm="0">
                                          <p:val>
                                            <p:strVal val="#ppt_y+.05"/>
                                          </p:val>
                                        </p:tav>
                                        <p:tav tm="100000">
                                          <p:val>
                                            <p:strVal val="#ppt_y"/>
                                          </p:val>
                                        </p:tav>
                                      </p:tavLst>
                                    </p:anim>
                                  </p:childTnLst>
                                </p:cTn>
                              </p:par>
                            </p:childTnLst>
                          </p:cTn>
                        </p:par>
                        <p:par>
                          <p:cTn id="106" fill="hold">
                            <p:stCondLst>
                              <p:cond delay="1600"/>
                            </p:stCondLst>
                            <p:childTnLst>
                              <p:par>
                                <p:cTn id="107" presetID="42" presetClass="entr" presetSubtype="0" fill="hold" grpId="0" nodeType="withEffect">
                                  <p:stCondLst>
                                    <p:cond delay="0"/>
                                  </p:stCondLst>
                                  <p:childTnLst>
                                    <p:set>
                                      <p:cBhvr>
                                        <p:cTn id="108" dur="1" fill="hold">
                                          <p:stCondLst>
                                            <p:cond delay="0"/>
                                          </p:stCondLst>
                                        </p:cTn>
                                        <p:tgtEl>
                                          <p:spTgt spid="22"/>
                                        </p:tgtEl>
                                        <p:attrNameLst>
                                          <p:attrName>style.visibility</p:attrName>
                                        </p:attrNameLst>
                                      </p:cBhvr>
                                      <p:to>
                                        <p:strVal val="visible"/>
                                      </p:to>
                                    </p:set>
                                    <p:animEffect transition="in" filter="fade">
                                      <p:cBhvr>
                                        <p:cTn id="109" dur="600"/>
                                        <p:tgtEl>
                                          <p:spTgt spid="22"/>
                                        </p:tgtEl>
                                      </p:cBhvr>
                                    </p:animEffect>
                                    <p:anim calcmode="lin" valueType="num">
                                      <p:cBhvr>
                                        <p:cTn id="110" dur="600" fill="hold"/>
                                        <p:tgtEl>
                                          <p:spTgt spid="22"/>
                                        </p:tgtEl>
                                        <p:attrNameLst>
                                          <p:attrName>ppt_x</p:attrName>
                                        </p:attrNameLst>
                                      </p:cBhvr>
                                      <p:tavLst>
                                        <p:tav tm="0">
                                          <p:val>
                                            <p:strVal val="#ppt_x"/>
                                          </p:val>
                                        </p:tav>
                                        <p:tav tm="100000">
                                          <p:val>
                                            <p:strVal val="#ppt_x"/>
                                          </p:val>
                                        </p:tav>
                                      </p:tavLst>
                                    </p:anim>
                                    <p:anim calcmode="lin" valueType="num">
                                      <p:cBhvr>
                                        <p:cTn id="111" dur="600" decel="100000" fill="hold"/>
                                        <p:tgtEl>
                                          <p:spTgt spid="22"/>
                                        </p:tgtEl>
                                        <p:attrNameLst>
                                          <p:attrName>ppt_y</p:attrName>
                                        </p:attrNameLst>
                                      </p:cBhvr>
                                      <p:tavLst>
                                        <p:tav tm="0">
                                          <p:val>
                                            <p:strVal val="#ppt_y+.05"/>
                                          </p:val>
                                        </p:tav>
                                        <p:tav tm="100000">
                                          <p:val>
                                            <p:strVal val="#ppt_y"/>
                                          </p:val>
                                        </p:tav>
                                      </p:tavLst>
                                    </p:anim>
                                  </p:childTnLst>
                                </p:cTn>
                              </p:par>
                            </p:childTnLst>
                          </p:cTn>
                        </p:par>
                        <p:par>
                          <p:cTn id="112" fill="hold">
                            <p:stCondLst>
                              <p:cond delay="1600"/>
                            </p:stCondLst>
                            <p:childTnLst>
                              <p:par>
                                <p:cTn id="113" presetID="42" presetClass="entr" presetSubtype="0" fill="hold" grpId="0" nodeType="withEffect">
                                  <p:stCondLst>
                                    <p:cond delay="0"/>
                                  </p:stCondLst>
                                  <p:childTnLst>
                                    <p:set>
                                      <p:cBhvr>
                                        <p:cTn id="114" dur="1" fill="hold">
                                          <p:stCondLst>
                                            <p:cond delay="0"/>
                                          </p:stCondLst>
                                        </p:cTn>
                                        <p:tgtEl>
                                          <p:spTgt spid="23"/>
                                        </p:tgtEl>
                                        <p:attrNameLst>
                                          <p:attrName>style.visibility</p:attrName>
                                        </p:attrNameLst>
                                      </p:cBhvr>
                                      <p:to>
                                        <p:strVal val="visible"/>
                                      </p:to>
                                    </p:set>
                                    <p:animEffect transition="in" filter="fade">
                                      <p:cBhvr>
                                        <p:cTn id="115" dur="600"/>
                                        <p:tgtEl>
                                          <p:spTgt spid="23"/>
                                        </p:tgtEl>
                                      </p:cBhvr>
                                    </p:animEffect>
                                    <p:anim calcmode="lin" valueType="num">
                                      <p:cBhvr>
                                        <p:cTn id="116" dur="600" fill="hold"/>
                                        <p:tgtEl>
                                          <p:spTgt spid="23"/>
                                        </p:tgtEl>
                                        <p:attrNameLst>
                                          <p:attrName>ppt_x</p:attrName>
                                        </p:attrNameLst>
                                      </p:cBhvr>
                                      <p:tavLst>
                                        <p:tav tm="0">
                                          <p:val>
                                            <p:strVal val="#ppt_x"/>
                                          </p:val>
                                        </p:tav>
                                        <p:tav tm="100000">
                                          <p:val>
                                            <p:strVal val="#ppt_x"/>
                                          </p:val>
                                        </p:tav>
                                      </p:tavLst>
                                    </p:anim>
                                    <p:anim calcmode="lin" valueType="num">
                                      <p:cBhvr>
                                        <p:cTn id="117" dur="600" decel="100000" fill="hold"/>
                                        <p:tgtEl>
                                          <p:spTgt spid="23"/>
                                        </p:tgtEl>
                                        <p:attrNameLst>
                                          <p:attrName>ppt_y</p:attrName>
                                        </p:attrNameLst>
                                      </p:cBhvr>
                                      <p:tavLst>
                                        <p:tav tm="0">
                                          <p:val>
                                            <p:strVal val="#ppt_y+.05"/>
                                          </p:val>
                                        </p:tav>
                                        <p:tav tm="100000">
                                          <p:val>
                                            <p:strVal val="#ppt_y"/>
                                          </p:val>
                                        </p:tav>
                                      </p:tavLst>
                                    </p:anim>
                                  </p:childTnLst>
                                </p:cTn>
                              </p:par>
                            </p:childTnLst>
                          </p:cTn>
                        </p:par>
                        <p:par>
                          <p:cTn id="118" fill="hold">
                            <p:stCondLst>
                              <p:cond delay="1600"/>
                            </p:stCondLst>
                            <p:childTnLst>
                              <p:par>
                                <p:cTn id="119" presetID="42" presetClass="entr" presetSubtype="0" fill="hold" grpId="0" nodeType="withEffect">
                                  <p:stCondLst>
                                    <p:cond delay="0"/>
                                  </p:stCondLst>
                                  <p:childTnLst>
                                    <p:set>
                                      <p:cBhvr>
                                        <p:cTn id="120" dur="1" fill="hold">
                                          <p:stCondLst>
                                            <p:cond delay="0"/>
                                          </p:stCondLst>
                                        </p:cTn>
                                        <p:tgtEl>
                                          <p:spTgt spid="24"/>
                                        </p:tgtEl>
                                        <p:attrNameLst>
                                          <p:attrName>style.visibility</p:attrName>
                                        </p:attrNameLst>
                                      </p:cBhvr>
                                      <p:to>
                                        <p:strVal val="visible"/>
                                      </p:to>
                                    </p:set>
                                    <p:animEffect transition="in" filter="fade">
                                      <p:cBhvr>
                                        <p:cTn id="121" dur="600"/>
                                        <p:tgtEl>
                                          <p:spTgt spid="24"/>
                                        </p:tgtEl>
                                      </p:cBhvr>
                                    </p:animEffect>
                                    <p:anim calcmode="lin" valueType="num">
                                      <p:cBhvr>
                                        <p:cTn id="122" dur="600" fill="hold"/>
                                        <p:tgtEl>
                                          <p:spTgt spid="24"/>
                                        </p:tgtEl>
                                        <p:attrNameLst>
                                          <p:attrName>ppt_x</p:attrName>
                                        </p:attrNameLst>
                                      </p:cBhvr>
                                      <p:tavLst>
                                        <p:tav tm="0">
                                          <p:val>
                                            <p:strVal val="#ppt_x"/>
                                          </p:val>
                                        </p:tav>
                                        <p:tav tm="100000">
                                          <p:val>
                                            <p:strVal val="#ppt_x"/>
                                          </p:val>
                                        </p:tav>
                                      </p:tavLst>
                                    </p:anim>
                                    <p:anim calcmode="lin" valueType="num">
                                      <p:cBhvr>
                                        <p:cTn id="123" dur="600" decel="100000" fill="hold"/>
                                        <p:tgtEl>
                                          <p:spTgt spid="24"/>
                                        </p:tgtEl>
                                        <p:attrNameLst>
                                          <p:attrName>ppt_y</p:attrName>
                                        </p:attrNameLst>
                                      </p:cBhvr>
                                      <p:tavLst>
                                        <p:tav tm="0">
                                          <p:val>
                                            <p:strVal val="#ppt_y+.05"/>
                                          </p:val>
                                        </p:tav>
                                        <p:tav tm="100000">
                                          <p:val>
                                            <p:strVal val="#ppt_y"/>
                                          </p:val>
                                        </p:tav>
                                      </p:tavLst>
                                    </p:anim>
                                  </p:childTnLst>
                                </p:cTn>
                              </p:par>
                            </p:childTnLst>
                          </p:cTn>
                        </p:par>
                        <p:par>
                          <p:cTn id="124" fill="hold">
                            <p:stCondLst>
                              <p:cond delay="1600"/>
                            </p:stCondLst>
                            <p:childTnLst>
                              <p:par>
                                <p:cTn id="125" presetID="42" presetClass="entr" presetSubtype="0" fill="hold" grpId="0" nodeType="withEffect">
                                  <p:stCondLst>
                                    <p:cond delay="0"/>
                                  </p:stCondLst>
                                  <p:childTnLst>
                                    <p:set>
                                      <p:cBhvr>
                                        <p:cTn id="126" dur="1" fill="hold">
                                          <p:stCondLst>
                                            <p:cond delay="0"/>
                                          </p:stCondLst>
                                        </p:cTn>
                                        <p:tgtEl>
                                          <p:spTgt spid="25"/>
                                        </p:tgtEl>
                                        <p:attrNameLst>
                                          <p:attrName>style.visibility</p:attrName>
                                        </p:attrNameLst>
                                      </p:cBhvr>
                                      <p:to>
                                        <p:strVal val="visible"/>
                                      </p:to>
                                    </p:set>
                                    <p:animEffect transition="in" filter="fade">
                                      <p:cBhvr>
                                        <p:cTn id="127" dur="600"/>
                                        <p:tgtEl>
                                          <p:spTgt spid="25"/>
                                        </p:tgtEl>
                                      </p:cBhvr>
                                    </p:animEffect>
                                    <p:anim calcmode="lin" valueType="num">
                                      <p:cBhvr>
                                        <p:cTn id="128" dur="600" fill="hold"/>
                                        <p:tgtEl>
                                          <p:spTgt spid="25"/>
                                        </p:tgtEl>
                                        <p:attrNameLst>
                                          <p:attrName>ppt_x</p:attrName>
                                        </p:attrNameLst>
                                      </p:cBhvr>
                                      <p:tavLst>
                                        <p:tav tm="0">
                                          <p:val>
                                            <p:strVal val="#ppt_x"/>
                                          </p:val>
                                        </p:tav>
                                        <p:tav tm="100000">
                                          <p:val>
                                            <p:strVal val="#ppt_x"/>
                                          </p:val>
                                        </p:tav>
                                      </p:tavLst>
                                    </p:anim>
                                    <p:anim calcmode="lin" valueType="num">
                                      <p:cBhvr>
                                        <p:cTn id="129" dur="600" decel="100000" fill="hold"/>
                                        <p:tgtEl>
                                          <p:spTgt spid="25"/>
                                        </p:tgtEl>
                                        <p:attrNameLst>
                                          <p:attrName>ppt_y</p:attrName>
                                        </p:attrNameLst>
                                      </p:cBhvr>
                                      <p:tavLst>
                                        <p:tav tm="0">
                                          <p:val>
                                            <p:strVal val="#ppt_y+.05"/>
                                          </p:val>
                                        </p:tav>
                                        <p:tav tm="100000">
                                          <p:val>
                                            <p:strVal val="#ppt_y"/>
                                          </p:val>
                                        </p:tav>
                                      </p:tavLst>
                                    </p:anim>
                                  </p:childTnLst>
                                </p:cTn>
                              </p:par>
                            </p:childTnLst>
                          </p:cTn>
                        </p:par>
                        <p:par>
                          <p:cTn id="130" fill="hold">
                            <p:stCondLst>
                              <p:cond delay="1600"/>
                            </p:stCondLst>
                            <p:childTnLst>
                              <p:par>
                                <p:cTn id="131" presetID="42" presetClass="entr" presetSubtype="0" fill="hold" grpId="0" nodeType="withEffect">
                                  <p:stCondLst>
                                    <p:cond delay="0"/>
                                  </p:stCondLst>
                                  <p:childTnLst>
                                    <p:set>
                                      <p:cBhvr>
                                        <p:cTn id="132" dur="1" fill="hold">
                                          <p:stCondLst>
                                            <p:cond delay="0"/>
                                          </p:stCondLst>
                                        </p:cTn>
                                        <p:tgtEl>
                                          <p:spTgt spid="26"/>
                                        </p:tgtEl>
                                        <p:attrNameLst>
                                          <p:attrName>style.visibility</p:attrName>
                                        </p:attrNameLst>
                                      </p:cBhvr>
                                      <p:to>
                                        <p:strVal val="visible"/>
                                      </p:to>
                                    </p:set>
                                    <p:animEffect transition="in" filter="fade">
                                      <p:cBhvr>
                                        <p:cTn id="133" dur="600"/>
                                        <p:tgtEl>
                                          <p:spTgt spid="26"/>
                                        </p:tgtEl>
                                      </p:cBhvr>
                                    </p:animEffect>
                                    <p:anim calcmode="lin" valueType="num">
                                      <p:cBhvr>
                                        <p:cTn id="134" dur="600" fill="hold"/>
                                        <p:tgtEl>
                                          <p:spTgt spid="26"/>
                                        </p:tgtEl>
                                        <p:attrNameLst>
                                          <p:attrName>ppt_x</p:attrName>
                                        </p:attrNameLst>
                                      </p:cBhvr>
                                      <p:tavLst>
                                        <p:tav tm="0">
                                          <p:val>
                                            <p:strVal val="#ppt_x"/>
                                          </p:val>
                                        </p:tav>
                                        <p:tav tm="100000">
                                          <p:val>
                                            <p:strVal val="#ppt_x"/>
                                          </p:val>
                                        </p:tav>
                                      </p:tavLst>
                                    </p:anim>
                                    <p:anim calcmode="lin" valueType="num">
                                      <p:cBhvr>
                                        <p:cTn id="135" dur="600" decel="100000" fill="hold"/>
                                        <p:tgtEl>
                                          <p:spTgt spid="26"/>
                                        </p:tgtEl>
                                        <p:attrNameLst>
                                          <p:attrName>ppt_y</p:attrName>
                                        </p:attrNameLst>
                                      </p:cBhvr>
                                      <p:tavLst>
                                        <p:tav tm="0">
                                          <p:val>
                                            <p:strVal val="#ppt_y+.05"/>
                                          </p:val>
                                        </p:tav>
                                        <p:tav tm="100000">
                                          <p:val>
                                            <p:strVal val="#ppt_y"/>
                                          </p:val>
                                        </p:tav>
                                      </p:tavLst>
                                    </p:anim>
                                  </p:childTnLst>
                                </p:cTn>
                              </p:par>
                            </p:childTnLst>
                          </p:cTn>
                        </p:par>
                        <p:par>
                          <p:cTn id="136" fill="hold">
                            <p:stCondLst>
                              <p:cond delay="1600"/>
                            </p:stCondLst>
                            <p:childTnLst>
                              <p:par>
                                <p:cTn id="137" presetID="42" presetClass="entr" presetSubtype="0" fill="hold" grpId="0" nodeType="withEffect">
                                  <p:stCondLst>
                                    <p:cond delay="0"/>
                                  </p:stCondLst>
                                  <p:childTnLst>
                                    <p:set>
                                      <p:cBhvr>
                                        <p:cTn id="138" dur="1" fill="hold">
                                          <p:stCondLst>
                                            <p:cond delay="0"/>
                                          </p:stCondLst>
                                        </p:cTn>
                                        <p:tgtEl>
                                          <p:spTgt spid="27"/>
                                        </p:tgtEl>
                                        <p:attrNameLst>
                                          <p:attrName>style.visibility</p:attrName>
                                        </p:attrNameLst>
                                      </p:cBhvr>
                                      <p:to>
                                        <p:strVal val="visible"/>
                                      </p:to>
                                    </p:set>
                                    <p:animEffect transition="in" filter="fade">
                                      <p:cBhvr>
                                        <p:cTn id="139" dur="600"/>
                                        <p:tgtEl>
                                          <p:spTgt spid="27"/>
                                        </p:tgtEl>
                                      </p:cBhvr>
                                    </p:animEffect>
                                    <p:anim calcmode="lin" valueType="num">
                                      <p:cBhvr>
                                        <p:cTn id="140" dur="600" fill="hold"/>
                                        <p:tgtEl>
                                          <p:spTgt spid="27"/>
                                        </p:tgtEl>
                                        <p:attrNameLst>
                                          <p:attrName>ppt_x</p:attrName>
                                        </p:attrNameLst>
                                      </p:cBhvr>
                                      <p:tavLst>
                                        <p:tav tm="0">
                                          <p:val>
                                            <p:strVal val="#ppt_x"/>
                                          </p:val>
                                        </p:tav>
                                        <p:tav tm="100000">
                                          <p:val>
                                            <p:strVal val="#ppt_x"/>
                                          </p:val>
                                        </p:tav>
                                      </p:tavLst>
                                    </p:anim>
                                    <p:anim calcmode="lin" valueType="num">
                                      <p:cBhvr>
                                        <p:cTn id="141" dur="600" decel="100000" fill="hold"/>
                                        <p:tgtEl>
                                          <p:spTgt spid="27"/>
                                        </p:tgtEl>
                                        <p:attrNameLst>
                                          <p:attrName>ppt_y</p:attrName>
                                        </p:attrNameLst>
                                      </p:cBhvr>
                                      <p:tavLst>
                                        <p:tav tm="0">
                                          <p:val>
                                            <p:strVal val="#ppt_y+.05"/>
                                          </p:val>
                                        </p:tav>
                                        <p:tav tm="100000">
                                          <p:val>
                                            <p:strVal val="#ppt_y"/>
                                          </p:val>
                                        </p:tav>
                                      </p:tavLst>
                                    </p:anim>
                                  </p:childTnLst>
                                </p:cTn>
                              </p:par>
                            </p:childTnLst>
                          </p:cTn>
                        </p:par>
                        <p:par>
                          <p:cTn id="142" fill="hold">
                            <p:stCondLst>
                              <p:cond delay="1600"/>
                            </p:stCondLst>
                            <p:childTnLst>
                              <p:par>
                                <p:cTn id="143" presetID="42" presetClass="entr" presetSubtype="0" fill="hold" grpId="0" nodeType="withEffect">
                                  <p:stCondLst>
                                    <p:cond delay="0"/>
                                  </p:stCondLst>
                                  <p:childTnLst>
                                    <p:set>
                                      <p:cBhvr>
                                        <p:cTn id="144" dur="1" fill="hold">
                                          <p:stCondLst>
                                            <p:cond delay="0"/>
                                          </p:stCondLst>
                                        </p:cTn>
                                        <p:tgtEl>
                                          <p:spTgt spid="28"/>
                                        </p:tgtEl>
                                        <p:attrNameLst>
                                          <p:attrName>style.visibility</p:attrName>
                                        </p:attrNameLst>
                                      </p:cBhvr>
                                      <p:to>
                                        <p:strVal val="visible"/>
                                      </p:to>
                                    </p:set>
                                    <p:animEffect transition="in" filter="fade">
                                      <p:cBhvr>
                                        <p:cTn id="145" dur="600"/>
                                        <p:tgtEl>
                                          <p:spTgt spid="28"/>
                                        </p:tgtEl>
                                      </p:cBhvr>
                                    </p:animEffect>
                                    <p:anim calcmode="lin" valueType="num">
                                      <p:cBhvr>
                                        <p:cTn id="146" dur="600" fill="hold"/>
                                        <p:tgtEl>
                                          <p:spTgt spid="28"/>
                                        </p:tgtEl>
                                        <p:attrNameLst>
                                          <p:attrName>ppt_x</p:attrName>
                                        </p:attrNameLst>
                                      </p:cBhvr>
                                      <p:tavLst>
                                        <p:tav tm="0">
                                          <p:val>
                                            <p:strVal val="#ppt_x"/>
                                          </p:val>
                                        </p:tav>
                                        <p:tav tm="100000">
                                          <p:val>
                                            <p:strVal val="#ppt_x"/>
                                          </p:val>
                                        </p:tav>
                                      </p:tavLst>
                                    </p:anim>
                                    <p:anim calcmode="lin" valueType="num">
                                      <p:cBhvr>
                                        <p:cTn id="147" dur="600" decel="100000" fill="hold"/>
                                        <p:tgtEl>
                                          <p:spTgt spid="28"/>
                                        </p:tgtEl>
                                        <p:attrNameLst>
                                          <p:attrName>ppt_y</p:attrName>
                                        </p:attrNameLst>
                                      </p:cBhvr>
                                      <p:tavLst>
                                        <p:tav tm="0">
                                          <p:val>
                                            <p:strVal val="#ppt_y+.05"/>
                                          </p:val>
                                        </p:tav>
                                        <p:tav tm="100000">
                                          <p:val>
                                            <p:strVal val="#ppt_y"/>
                                          </p:val>
                                        </p:tav>
                                      </p:tavLst>
                                    </p:anim>
                                  </p:childTnLst>
                                </p:cTn>
                              </p:par>
                            </p:childTnLst>
                          </p:cTn>
                        </p:par>
                        <p:par>
                          <p:cTn id="148" fill="hold">
                            <p:stCondLst>
                              <p:cond delay="1600"/>
                            </p:stCondLst>
                            <p:childTnLst>
                              <p:par>
                                <p:cTn id="149" presetID="42" presetClass="entr" presetSubtype="0" fill="hold" grpId="0" nodeType="withEffect">
                                  <p:stCondLst>
                                    <p:cond delay="0"/>
                                  </p:stCondLst>
                                  <p:childTnLst>
                                    <p:set>
                                      <p:cBhvr>
                                        <p:cTn id="150" dur="1" fill="hold">
                                          <p:stCondLst>
                                            <p:cond delay="0"/>
                                          </p:stCondLst>
                                        </p:cTn>
                                        <p:tgtEl>
                                          <p:spTgt spid="29"/>
                                        </p:tgtEl>
                                        <p:attrNameLst>
                                          <p:attrName>style.visibility</p:attrName>
                                        </p:attrNameLst>
                                      </p:cBhvr>
                                      <p:to>
                                        <p:strVal val="visible"/>
                                      </p:to>
                                    </p:set>
                                    <p:animEffect transition="in" filter="fade">
                                      <p:cBhvr>
                                        <p:cTn id="151" dur="600"/>
                                        <p:tgtEl>
                                          <p:spTgt spid="29"/>
                                        </p:tgtEl>
                                      </p:cBhvr>
                                    </p:animEffect>
                                    <p:anim calcmode="lin" valueType="num">
                                      <p:cBhvr>
                                        <p:cTn id="152" dur="600" fill="hold"/>
                                        <p:tgtEl>
                                          <p:spTgt spid="29"/>
                                        </p:tgtEl>
                                        <p:attrNameLst>
                                          <p:attrName>ppt_x</p:attrName>
                                        </p:attrNameLst>
                                      </p:cBhvr>
                                      <p:tavLst>
                                        <p:tav tm="0">
                                          <p:val>
                                            <p:strVal val="#ppt_x"/>
                                          </p:val>
                                        </p:tav>
                                        <p:tav tm="100000">
                                          <p:val>
                                            <p:strVal val="#ppt_x"/>
                                          </p:val>
                                        </p:tav>
                                      </p:tavLst>
                                    </p:anim>
                                    <p:anim calcmode="lin" valueType="num">
                                      <p:cBhvr>
                                        <p:cTn id="153" dur="600" decel="100000" fill="hold"/>
                                        <p:tgtEl>
                                          <p:spTgt spid="29"/>
                                        </p:tgtEl>
                                        <p:attrNameLst>
                                          <p:attrName>ppt_y</p:attrName>
                                        </p:attrNameLst>
                                      </p:cBhvr>
                                      <p:tavLst>
                                        <p:tav tm="0">
                                          <p:val>
                                            <p:strVal val="#ppt_y+.05"/>
                                          </p:val>
                                        </p:tav>
                                        <p:tav tm="100000">
                                          <p:val>
                                            <p:strVal val="#ppt_y"/>
                                          </p:val>
                                        </p:tav>
                                      </p:tavLst>
                                    </p:anim>
                                  </p:childTnLst>
                                </p:cTn>
                              </p:par>
                            </p:childTnLst>
                          </p:cTn>
                        </p:par>
                        <p:par>
                          <p:cTn id="154" fill="hold">
                            <p:stCondLst>
                              <p:cond delay="1600"/>
                            </p:stCondLst>
                            <p:childTnLst>
                              <p:par>
                                <p:cTn id="155" presetID="42" presetClass="entr" presetSubtype="0" fill="hold" grpId="0" nodeType="withEffect">
                                  <p:stCondLst>
                                    <p:cond delay="0"/>
                                  </p:stCondLst>
                                  <p:childTnLst>
                                    <p:set>
                                      <p:cBhvr>
                                        <p:cTn id="156" dur="1" fill="hold">
                                          <p:stCondLst>
                                            <p:cond delay="0"/>
                                          </p:stCondLst>
                                        </p:cTn>
                                        <p:tgtEl>
                                          <p:spTgt spid="30"/>
                                        </p:tgtEl>
                                        <p:attrNameLst>
                                          <p:attrName>style.visibility</p:attrName>
                                        </p:attrNameLst>
                                      </p:cBhvr>
                                      <p:to>
                                        <p:strVal val="visible"/>
                                      </p:to>
                                    </p:set>
                                    <p:animEffect transition="in" filter="fade">
                                      <p:cBhvr>
                                        <p:cTn id="157" dur="600"/>
                                        <p:tgtEl>
                                          <p:spTgt spid="30"/>
                                        </p:tgtEl>
                                      </p:cBhvr>
                                    </p:animEffect>
                                    <p:anim calcmode="lin" valueType="num">
                                      <p:cBhvr>
                                        <p:cTn id="158" dur="600" fill="hold"/>
                                        <p:tgtEl>
                                          <p:spTgt spid="30"/>
                                        </p:tgtEl>
                                        <p:attrNameLst>
                                          <p:attrName>ppt_x</p:attrName>
                                        </p:attrNameLst>
                                      </p:cBhvr>
                                      <p:tavLst>
                                        <p:tav tm="0">
                                          <p:val>
                                            <p:strVal val="#ppt_x"/>
                                          </p:val>
                                        </p:tav>
                                        <p:tav tm="100000">
                                          <p:val>
                                            <p:strVal val="#ppt_x"/>
                                          </p:val>
                                        </p:tav>
                                      </p:tavLst>
                                    </p:anim>
                                    <p:anim calcmode="lin" valueType="num">
                                      <p:cBhvr>
                                        <p:cTn id="159" dur="600" decel="100000" fill="hold"/>
                                        <p:tgtEl>
                                          <p:spTgt spid="30"/>
                                        </p:tgtEl>
                                        <p:attrNameLst>
                                          <p:attrName>ppt_y</p:attrName>
                                        </p:attrNameLst>
                                      </p:cBhvr>
                                      <p:tavLst>
                                        <p:tav tm="0">
                                          <p:val>
                                            <p:strVal val="#ppt_y+.05"/>
                                          </p:val>
                                        </p:tav>
                                        <p:tav tm="100000">
                                          <p:val>
                                            <p:strVal val="#ppt_y"/>
                                          </p:val>
                                        </p:tav>
                                      </p:tavLst>
                                    </p:anim>
                                  </p:childTnLst>
                                </p:cTn>
                              </p:par>
                            </p:childTnLst>
                          </p:cTn>
                        </p:par>
                        <p:par>
                          <p:cTn id="160" fill="hold">
                            <p:stCondLst>
                              <p:cond delay="1600"/>
                            </p:stCondLst>
                            <p:childTnLst>
                              <p:par>
                                <p:cTn id="161" presetID="42" presetClass="entr" presetSubtype="0" fill="hold" grpId="0" nodeType="withEffect">
                                  <p:stCondLst>
                                    <p:cond delay="0"/>
                                  </p:stCondLst>
                                  <p:childTnLst>
                                    <p:set>
                                      <p:cBhvr>
                                        <p:cTn id="162" dur="1" fill="hold">
                                          <p:stCondLst>
                                            <p:cond delay="0"/>
                                          </p:stCondLst>
                                        </p:cTn>
                                        <p:tgtEl>
                                          <p:spTgt spid="31"/>
                                        </p:tgtEl>
                                        <p:attrNameLst>
                                          <p:attrName>style.visibility</p:attrName>
                                        </p:attrNameLst>
                                      </p:cBhvr>
                                      <p:to>
                                        <p:strVal val="visible"/>
                                      </p:to>
                                    </p:set>
                                    <p:animEffect transition="in" filter="fade">
                                      <p:cBhvr>
                                        <p:cTn id="163" dur="600"/>
                                        <p:tgtEl>
                                          <p:spTgt spid="31"/>
                                        </p:tgtEl>
                                      </p:cBhvr>
                                    </p:animEffect>
                                    <p:anim calcmode="lin" valueType="num">
                                      <p:cBhvr>
                                        <p:cTn id="164" dur="600" fill="hold"/>
                                        <p:tgtEl>
                                          <p:spTgt spid="31"/>
                                        </p:tgtEl>
                                        <p:attrNameLst>
                                          <p:attrName>ppt_x</p:attrName>
                                        </p:attrNameLst>
                                      </p:cBhvr>
                                      <p:tavLst>
                                        <p:tav tm="0">
                                          <p:val>
                                            <p:strVal val="#ppt_x"/>
                                          </p:val>
                                        </p:tav>
                                        <p:tav tm="100000">
                                          <p:val>
                                            <p:strVal val="#ppt_x"/>
                                          </p:val>
                                        </p:tav>
                                      </p:tavLst>
                                    </p:anim>
                                    <p:anim calcmode="lin" valueType="num">
                                      <p:cBhvr>
                                        <p:cTn id="165" dur="600" decel="100000" fill="hold"/>
                                        <p:tgtEl>
                                          <p:spTgt spid="31"/>
                                        </p:tgtEl>
                                        <p:attrNameLst>
                                          <p:attrName>ppt_y</p:attrName>
                                        </p:attrNameLst>
                                      </p:cBhvr>
                                      <p:tavLst>
                                        <p:tav tm="0">
                                          <p:val>
                                            <p:strVal val="#ppt_y+.05"/>
                                          </p:val>
                                        </p:tav>
                                        <p:tav tm="100000">
                                          <p:val>
                                            <p:strVal val="#ppt_y"/>
                                          </p:val>
                                        </p:tav>
                                      </p:tavLst>
                                    </p:anim>
                                  </p:childTnLst>
                                </p:cTn>
                              </p:par>
                            </p:childTnLst>
                          </p:cTn>
                        </p:par>
                        <p:par>
                          <p:cTn id="166" fill="hold">
                            <p:stCondLst>
                              <p:cond delay="1600"/>
                            </p:stCondLst>
                            <p:childTnLst>
                              <p:par>
                                <p:cTn id="167" presetID="42" presetClass="entr" presetSubtype="0" fill="hold" grpId="0" nodeType="withEffect">
                                  <p:stCondLst>
                                    <p:cond delay="0"/>
                                  </p:stCondLst>
                                  <p:childTnLst>
                                    <p:set>
                                      <p:cBhvr>
                                        <p:cTn id="168" dur="1" fill="hold">
                                          <p:stCondLst>
                                            <p:cond delay="0"/>
                                          </p:stCondLst>
                                        </p:cTn>
                                        <p:tgtEl>
                                          <p:spTgt spid="32"/>
                                        </p:tgtEl>
                                        <p:attrNameLst>
                                          <p:attrName>style.visibility</p:attrName>
                                        </p:attrNameLst>
                                      </p:cBhvr>
                                      <p:to>
                                        <p:strVal val="visible"/>
                                      </p:to>
                                    </p:set>
                                    <p:animEffect transition="in" filter="fade">
                                      <p:cBhvr>
                                        <p:cTn id="169" dur="600"/>
                                        <p:tgtEl>
                                          <p:spTgt spid="32"/>
                                        </p:tgtEl>
                                      </p:cBhvr>
                                    </p:animEffect>
                                    <p:anim calcmode="lin" valueType="num">
                                      <p:cBhvr>
                                        <p:cTn id="170" dur="600" fill="hold"/>
                                        <p:tgtEl>
                                          <p:spTgt spid="32"/>
                                        </p:tgtEl>
                                        <p:attrNameLst>
                                          <p:attrName>ppt_x</p:attrName>
                                        </p:attrNameLst>
                                      </p:cBhvr>
                                      <p:tavLst>
                                        <p:tav tm="0">
                                          <p:val>
                                            <p:strVal val="#ppt_x"/>
                                          </p:val>
                                        </p:tav>
                                        <p:tav tm="100000">
                                          <p:val>
                                            <p:strVal val="#ppt_x"/>
                                          </p:val>
                                        </p:tav>
                                      </p:tavLst>
                                    </p:anim>
                                    <p:anim calcmode="lin" valueType="num">
                                      <p:cBhvr>
                                        <p:cTn id="171" dur="600" decel="100000" fill="hold"/>
                                        <p:tgtEl>
                                          <p:spTgt spid="32"/>
                                        </p:tgtEl>
                                        <p:attrNameLst>
                                          <p:attrName>ppt_y</p:attrName>
                                        </p:attrNameLst>
                                      </p:cBhvr>
                                      <p:tavLst>
                                        <p:tav tm="0">
                                          <p:val>
                                            <p:strVal val="#ppt_y+.05"/>
                                          </p:val>
                                        </p:tav>
                                        <p:tav tm="100000">
                                          <p:val>
                                            <p:strVal val="#ppt_y"/>
                                          </p:val>
                                        </p:tav>
                                      </p:tavLst>
                                    </p:anim>
                                  </p:childTnLst>
                                </p:cTn>
                              </p:par>
                            </p:childTnLst>
                          </p:cTn>
                        </p:par>
                        <p:par>
                          <p:cTn id="172" fill="hold">
                            <p:stCondLst>
                              <p:cond delay="2050"/>
                            </p:stCondLst>
                            <p:childTnLst>
                              <p:par>
                                <p:cTn id="173" presetID="42" presetClass="entr" presetSubtype="0" fill="hold" grpId="0" nodeType="withEffect">
                                  <p:stCondLst>
                                    <p:cond delay="0"/>
                                  </p:stCondLst>
                                  <p:childTnLst>
                                    <p:set>
                                      <p:cBhvr>
                                        <p:cTn id="174" dur="1" fill="hold">
                                          <p:stCondLst>
                                            <p:cond delay="0"/>
                                          </p:stCondLst>
                                        </p:cTn>
                                        <p:tgtEl>
                                          <p:spTgt spid="33"/>
                                        </p:tgtEl>
                                        <p:attrNameLst>
                                          <p:attrName>style.visibility</p:attrName>
                                        </p:attrNameLst>
                                      </p:cBhvr>
                                      <p:to>
                                        <p:strVal val="visible"/>
                                      </p:to>
                                    </p:set>
                                    <p:animEffect transition="in" filter="fade">
                                      <p:cBhvr>
                                        <p:cTn id="175" dur="600"/>
                                        <p:tgtEl>
                                          <p:spTgt spid="33"/>
                                        </p:tgtEl>
                                      </p:cBhvr>
                                    </p:animEffect>
                                    <p:anim calcmode="lin" valueType="num">
                                      <p:cBhvr>
                                        <p:cTn id="176" dur="600" fill="hold"/>
                                        <p:tgtEl>
                                          <p:spTgt spid="33"/>
                                        </p:tgtEl>
                                        <p:attrNameLst>
                                          <p:attrName>ppt_x</p:attrName>
                                        </p:attrNameLst>
                                      </p:cBhvr>
                                      <p:tavLst>
                                        <p:tav tm="0">
                                          <p:val>
                                            <p:strVal val="#ppt_x"/>
                                          </p:val>
                                        </p:tav>
                                        <p:tav tm="100000">
                                          <p:val>
                                            <p:strVal val="#ppt_x"/>
                                          </p:val>
                                        </p:tav>
                                      </p:tavLst>
                                    </p:anim>
                                    <p:anim calcmode="lin" valueType="num">
                                      <p:cBhvr>
                                        <p:cTn id="177" dur="600" decel="100000" fill="hold"/>
                                        <p:tgtEl>
                                          <p:spTgt spid="33"/>
                                        </p:tgtEl>
                                        <p:attrNameLst>
                                          <p:attrName>ppt_y</p:attrName>
                                        </p:attrNameLst>
                                      </p:cBhvr>
                                      <p:tavLst>
                                        <p:tav tm="0">
                                          <p:val>
                                            <p:strVal val="#ppt_y+.05"/>
                                          </p:val>
                                        </p:tav>
                                        <p:tav tm="100000">
                                          <p:val>
                                            <p:strVal val="#ppt_y"/>
                                          </p:val>
                                        </p:tav>
                                      </p:tavLst>
                                    </p:anim>
                                  </p:childTnLst>
                                </p:cTn>
                              </p:par>
                            </p:childTnLst>
                          </p:cTn>
                        </p:par>
                        <p:par>
                          <p:cTn id="178" fill="hold">
                            <p:stCondLst>
                              <p:cond delay="2050"/>
                            </p:stCondLst>
                            <p:childTnLst>
                              <p:par>
                                <p:cTn id="179" presetID="42" presetClass="entr" presetSubtype="0" fill="hold" grpId="0" nodeType="withEffect">
                                  <p:stCondLst>
                                    <p:cond delay="0"/>
                                  </p:stCondLst>
                                  <p:childTnLst>
                                    <p:set>
                                      <p:cBhvr>
                                        <p:cTn id="180" dur="1" fill="hold">
                                          <p:stCondLst>
                                            <p:cond delay="0"/>
                                          </p:stCondLst>
                                        </p:cTn>
                                        <p:tgtEl>
                                          <p:spTgt spid="34"/>
                                        </p:tgtEl>
                                        <p:attrNameLst>
                                          <p:attrName>style.visibility</p:attrName>
                                        </p:attrNameLst>
                                      </p:cBhvr>
                                      <p:to>
                                        <p:strVal val="visible"/>
                                      </p:to>
                                    </p:set>
                                    <p:animEffect transition="in" filter="fade">
                                      <p:cBhvr>
                                        <p:cTn id="181" dur="600"/>
                                        <p:tgtEl>
                                          <p:spTgt spid="34"/>
                                        </p:tgtEl>
                                      </p:cBhvr>
                                    </p:animEffect>
                                    <p:anim calcmode="lin" valueType="num">
                                      <p:cBhvr>
                                        <p:cTn id="182" dur="600" fill="hold"/>
                                        <p:tgtEl>
                                          <p:spTgt spid="34"/>
                                        </p:tgtEl>
                                        <p:attrNameLst>
                                          <p:attrName>ppt_x</p:attrName>
                                        </p:attrNameLst>
                                      </p:cBhvr>
                                      <p:tavLst>
                                        <p:tav tm="0">
                                          <p:val>
                                            <p:strVal val="#ppt_x"/>
                                          </p:val>
                                        </p:tav>
                                        <p:tav tm="100000">
                                          <p:val>
                                            <p:strVal val="#ppt_x"/>
                                          </p:val>
                                        </p:tav>
                                      </p:tavLst>
                                    </p:anim>
                                    <p:anim calcmode="lin" valueType="num">
                                      <p:cBhvr>
                                        <p:cTn id="183" dur="600" decel="100000" fill="hold"/>
                                        <p:tgtEl>
                                          <p:spTgt spid="34"/>
                                        </p:tgtEl>
                                        <p:attrNameLst>
                                          <p:attrName>ppt_y</p:attrName>
                                        </p:attrNameLst>
                                      </p:cBhvr>
                                      <p:tavLst>
                                        <p:tav tm="0">
                                          <p:val>
                                            <p:strVal val="#ppt_y+.05"/>
                                          </p:val>
                                        </p:tav>
                                        <p:tav tm="100000">
                                          <p:val>
                                            <p:strVal val="#ppt_y"/>
                                          </p:val>
                                        </p:tav>
                                      </p:tavLst>
                                    </p:anim>
                                  </p:childTnLst>
                                </p:cTn>
                              </p:par>
                            </p:childTnLst>
                          </p:cTn>
                        </p:par>
                        <p:par>
                          <p:cTn id="184" fill="hold">
                            <p:stCondLst>
                              <p:cond delay="2050"/>
                            </p:stCondLst>
                            <p:childTnLst>
                              <p:par>
                                <p:cTn id="185" presetID="42" presetClass="entr" presetSubtype="0" fill="hold" grpId="0" nodeType="withEffect">
                                  <p:stCondLst>
                                    <p:cond delay="0"/>
                                  </p:stCondLst>
                                  <p:childTnLst>
                                    <p:set>
                                      <p:cBhvr>
                                        <p:cTn id="186" dur="1" fill="hold">
                                          <p:stCondLst>
                                            <p:cond delay="0"/>
                                          </p:stCondLst>
                                        </p:cTn>
                                        <p:tgtEl>
                                          <p:spTgt spid="35"/>
                                        </p:tgtEl>
                                        <p:attrNameLst>
                                          <p:attrName>style.visibility</p:attrName>
                                        </p:attrNameLst>
                                      </p:cBhvr>
                                      <p:to>
                                        <p:strVal val="visible"/>
                                      </p:to>
                                    </p:set>
                                    <p:animEffect transition="in" filter="fade">
                                      <p:cBhvr>
                                        <p:cTn id="187" dur="600"/>
                                        <p:tgtEl>
                                          <p:spTgt spid="35"/>
                                        </p:tgtEl>
                                      </p:cBhvr>
                                    </p:animEffect>
                                    <p:anim calcmode="lin" valueType="num">
                                      <p:cBhvr>
                                        <p:cTn id="188" dur="600" fill="hold"/>
                                        <p:tgtEl>
                                          <p:spTgt spid="35"/>
                                        </p:tgtEl>
                                        <p:attrNameLst>
                                          <p:attrName>ppt_x</p:attrName>
                                        </p:attrNameLst>
                                      </p:cBhvr>
                                      <p:tavLst>
                                        <p:tav tm="0">
                                          <p:val>
                                            <p:strVal val="#ppt_x"/>
                                          </p:val>
                                        </p:tav>
                                        <p:tav tm="100000">
                                          <p:val>
                                            <p:strVal val="#ppt_x"/>
                                          </p:val>
                                        </p:tav>
                                      </p:tavLst>
                                    </p:anim>
                                    <p:anim calcmode="lin" valueType="num">
                                      <p:cBhvr>
                                        <p:cTn id="189" dur="600" decel="100000" fill="hold"/>
                                        <p:tgtEl>
                                          <p:spTgt spid="35"/>
                                        </p:tgtEl>
                                        <p:attrNameLst>
                                          <p:attrName>ppt_y</p:attrName>
                                        </p:attrNameLst>
                                      </p:cBhvr>
                                      <p:tavLst>
                                        <p:tav tm="0">
                                          <p:val>
                                            <p:strVal val="#ppt_y+.05"/>
                                          </p:val>
                                        </p:tav>
                                        <p:tav tm="100000">
                                          <p:val>
                                            <p:strVal val="#ppt_y"/>
                                          </p:val>
                                        </p:tav>
                                      </p:tavLst>
                                    </p:anim>
                                  </p:childTnLst>
                                </p:cTn>
                              </p:par>
                            </p:childTnLst>
                          </p:cTn>
                        </p:par>
                        <p:par>
                          <p:cTn id="190" fill="hold">
                            <p:stCondLst>
                              <p:cond delay="2050"/>
                            </p:stCondLst>
                            <p:childTnLst>
                              <p:par>
                                <p:cTn id="191" presetID="42" presetClass="entr" presetSubtype="0" fill="hold" grpId="0" nodeType="withEffect">
                                  <p:stCondLst>
                                    <p:cond delay="0"/>
                                  </p:stCondLst>
                                  <p:childTnLst>
                                    <p:set>
                                      <p:cBhvr>
                                        <p:cTn id="192" dur="1" fill="hold">
                                          <p:stCondLst>
                                            <p:cond delay="0"/>
                                          </p:stCondLst>
                                        </p:cTn>
                                        <p:tgtEl>
                                          <p:spTgt spid="36"/>
                                        </p:tgtEl>
                                        <p:attrNameLst>
                                          <p:attrName>style.visibility</p:attrName>
                                        </p:attrNameLst>
                                      </p:cBhvr>
                                      <p:to>
                                        <p:strVal val="visible"/>
                                      </p:to>
                                    </p:set>
                                    <p:animEffect transition="in" filter="fade">
                                      <p:cBhvr>
                                        <p:cTn id="193" dur="600"/>
                                        <p:tgtEl>
                                          <p:spTgt spid="36"/>
                                        </p:tgtEl>
                                      </p:cBhvr>
                                    </p:animEffect>
                                    <p:anim calcmode="lin" valueType="num">
                                      <p:cBhvr>
                                        <p:cTn id="194" dur="600" fill="hold"/>
                                        <p:tgtEl>
                                          <p:spTgt spid="36"/>
                                        </p:tgtEl>
                                        <p:attrNameLst>
                                          <p:attrName>ppt_x</p:attrName>
                                        </p:attrNameLst>
                                      </p:cBhvr>
                                      <p:tavLst>
                                        <p:tav tm="0">
                                          <p:val>
                                            <p:strVal val="#ppt_x"/>
                                          </p:val>
                                        </p:tav>
                                        <p:tav tm="100000">
                                          <p:val>
                                            <p:strVal val="#ppt_x"/>
                                          </p:val>
                                        </p:tav>
                                      </p:tavLst>
                                    </p:anim>
                                    <p:anim calcmode="lin" valueType="num">
                                      <p:cBhvr>
                                        <p:cTn id="195" dur="600" decel="100000" fill="hold"/>
                                        <p:tgtEl>
                                          <p:spTgt spid="36"/>
                                        </p:tgtEl>
                                        <p:attrNameLst>
                                          <p:attrName>ppt_y</p:attrName>
                                        </p:attrNameLst>
                                      </p:cBhvr>
                                      <p:tavLst>
                                        <p:tav tm="0">
                                          <p:val>
                                            <p:strVal val="#ppt_y+.05"/>
                                          </p:val>
                                        </p:tav>
                                        <p:tav tm="100000">
                                          <p:val>
                                            <p:strVal val="#ppt_y"/>
                                          </p:val>
                                        </p:tav>
                                      </p:tavLst>
                                    </p:anim>
                                  </p:childTnLst>
                                </p:cTn>
                              </p:par>
                            </p:childTnLst>
                          </p:cTn>
                        </p:par>
                        <p:par>
                          <p:cTn id="196" fill="hold">
                            <p:stCondLst>
                              <p:cond delay="2050"/>
                            </p:stCondLst>
                            <p:childTnLst>
                              <p:par>
                                <p:cTn id="197" presetID="42" presetClass="entr" presetSubtype="0" fill="hold" grpId="0" nodeType="withEffect">
                                  <p:stCondLst>
                                    <p:cond delay="0"/>
                                  </p:stCondLst>
                                  <p:childTnLst>
                                    <p:set>
                                      <p:cBhvr>
                                        <p:cTn id="198" dur="1" fill="hold">
                                          <p:stCondLst>
                                            <p:cond delay="0"/>
                                          </p:stCondLst>
                                        </p:cTn>
                                        <p:tgtEl>
                                          <p:spTgt spid="37"/>
                                        </p:tgtEl>
                                        <p:attrNameLst>
                                          <p:attrName>style.visibility</p:attrName>
                                        </p:attrNameLst>
                                      </p:cBhvr>
                                      <p:to>
                                        <p:strVal val="visible"/>
                                      </p:to>
                                    </p:set>
                                    <p:animEffect transition="in" filter="fade">
                                      <p:cBhvr>
                                        <p:cTn id="199" dur="600"/>
                                        <p:tgtEl>
                                          <p:spTgt spid="37"/>
                                        </p:tgtEl>
                                      </p:cBhvr>
                                    </p:animEffect>
                                    <p:anim calcmode="lin" valueType="num">
                                      <p:cBhvr>
                                        <p:cTn id="200" dur="600" fill="hold"/>
                                        <p:tgtEl>
                                          <p:spTgt spid="37"/>
                                        </p:tgtEl>
                                        <p:attrNameLst>
                                          <p:attrName>ppt_x</p:attrName>
                                        </p:attrNameLst>
                                      </p:cBhvr>
                                      <p:tavLst>
                                        <p:tav tm="0">
                                          <p:val>
                                            <p:strVal val="#ppt_x"/>
                                          </p:val>
                                        </p:tav>
                                        <p:tav tm="100000">
                                          <p:val>
                                            <p:strVal val="#ppt_x"/>
                                          </p:val>
                                        </p:tav>
                                      </p:tavLst>
                                    </p:anim>
                                    <p:anim calcmode="lin" valueType="num">
                                      <p:cBhvr>
                                        <p:cTn id="201" dur="600" decel="100000" fill="hold"/>
                                        <p:tgtEl>
                                          <p:spTgt spid="37"/>
                                        </p:tgtEl>
                                        <p:attrNameLst>
                                          <p:attrName>ppt_y</p:attrName>
                                        </p:attrNameLst>
                                      </p:cBhvr>
                                      <p:tavLst>
                                        <p:tav tm="0">
                                          <p:val>
                                            <p:strVal val="#ppt_y+.05"/>
                                          </p:val>
                                        </p:tav>
                                        <p:tav tm="100000">
                                          <p:val>
                                            <p:strVal val="#ppt_y"/>
                                          </p:val>
                                        </p:tav>
                                      </p:tavLst>
                                    </p:anim>
                                  </p:childTnLst>
                                </p:cTn>
                              </p:par>
                            </p:childTnLst>
                          </p:cTn>
                        </p:par>
                        <p:par>
                          <p:cTn id="202" fill="hold">
                            <p:stCondLst>
                              <p:cond delay="2050"/>
                            </p:stCondLst>
                            <p:childTnLst>
                              <p:par>
                                <p:cTn id="203" presetID="42" presetClass="entr" presetSubtype="0" fill="hold" grpId="0" nodeType="withEffect">
                                  <p:stCondLst>
                                    <p:cond delay="0"/>
                                  </p:stCondLst>
                                  <p:childTnLst>
                                    <p:set>
                                      <p:cBhvr>
                                        <p:cTn id="204" dur="1" fill="hold">
                                          <p:stCondLst>
                                            <p:cond delay="0"/>
                                          </p:stCondLst>
                                        </p:cTn>
                                        <p:tgtEl>
                                          <p:spTgt spid="38"/>
                                        </p:tgtEl>
                                        <p:attrNameLst>
                                          <p:attrName>style.visibility</p:attrName>
                                        </p:attrNameLst>
                                      </p:cBhvr>
                                      <p:to>
                                        <p:strVal val="visible"/>
                                      </p:to>
                                    </p:set>
                                    <p:animEffect transition="in" filter="fade">
                                      <p:cBhvr>
                                        <p:cTn id="205" dur="600"/>
                                        <p:tgtEl>
                                          <p:spTgt spid="38"/>
                                        </p:tgtEl>
                                      </p:cBhvr>
                                    </p:animEffect>
                                    <p:anim calcmode="lin" valueType="num">
                                      <p:cBhvr>
                                        <p:cTn id="206" dur="600" fill="hold"/>
                                        <p:tgtEl>
                                          <p:spTgt spid="38"/>
                                        </p:tgtEl>
                                        <p:attrNameLst>
                                          <p:attrName>ppt_x</p:attrName>
                                        </p:attrNameLst>
                                      </p:cBhvr>
                                      <p:tavLst>
                                        <p:tav tm="0">
                                          <p:val>
                                            <p:strVal val="#ppt_x"/>
                                          </p:val>
                                        </p:tav>
                                        <p:tav tm="100000">
                                          <p:val>
                                            <p:strVal val="#ppt_x"/>
                                          </p:val>
                                        </p:tav>
                                      </p:tavLst>
                                    </p:anim>
                                    <p:anim calcmode="lin" valueType="num">
                                      <p:cBhvr>
                                        <p:cTn id="207" dur="600" decel="100000" fill="hold"/>
                                        <p:tgtEl>
                                          <p:spTgt spid="38"/>
                                        </p:tgtEl>
                                        <p:attrNameLst>
                                          <p:attrName>ppt_y</p:attrName>
                                        </p:attrNameLst>
                                      </p:cBhvr>
                                      <p:tavLst>
                                        <p:tav tm="0">
                                          <p:val>
                                            <p:strVal val="#ppt_y+.05"/>
                                          </p:val>
                                        </p:tav>
                                        <p:tav tm="100000">
                                          <p:val>
                                            <p:strVal val="#ppt_y"/>
                                          </p:val>
                                        </p:tav>
                                      </p:tavLst>
                                    </p:anim>
                                  </p:childTnLst>
                                </p:cTn>
                              </p:par>
                            </p:childTnLst>
                          </p:cTn>
                        </p:par>
                        <p:par>
                          <p:cTn id="208" fill="hold">
                            <p:stCondLst>
                              <p:cond delay="2050"/>
                            </p:stCondLst>
                            <p:childTnLst>
                              <p:par>
                                <p:cTn id="209" presetID="42" presetClass="entr" presetSubtype="0" fill="hold" grpId="0" nodeType="withEffect">
                                  <p:stCondLst>
                                    <p:cond delay="0"/>
                                  </p:stCondLst>
                                  <p:childTnLst>
                                    <p:set>
                                      <p:cBhvr>
                                        <p:cTn id="210" dur="1" fill="hold">
                                          <p:stCondLst>
                                            <p:cond delay="0"/>
                                          </p:stCondLst>
                                        </p:cTn>
                                        <p:tgtEl>
                                          <p:spTgt spid="39"/>
                                        </p:tgtEl>
                                        <p:attrNameLst>
                                          <p:attrName>style.visibility</p:attrName>
                                        </p:attrNameLst>
                                      </p:cBhvr>
                                      <p:to>
                                        <p:strVal val="visible"/>
                                      </p:to>
                                    </p:set>
                                    <p:animEffect transition="in" filter="fade">
                                      <p:cBhvr>
                                        <p:cTn id="211" dur="600"/>
                                        <p:tgtEl>
                                          <p:spTgt spid="39"/>
                                        </p:tgtEl>
                                      </p:cBhvr>
                                    </p:animEffect>
                                    <p:anim calcmode="lin" valueType="num">
                                      <p:cBhvr>
                                        <p:cTn id="212" dur="600" fill="hold"/>
                                        <p:tgtEl>
                                          <p:spTgt spid="39"/>
                                        </p:tgtEl>
                                        <p:attrNameLst>
                                          <p:attrName>ppt_x</p:attrName>
                                        </p:attrNameLst>
                                      </p:cBhvr>
                                      <p:tavLst>
                                        <p:tav tm="0">
                                          <p:val>
                                            <p:strVal val="#ppt_x"/>
                                          </p:val>
                                        </p:tav>
                                        <p:tav tm="100000">
                                          <p:val>
                                            <p:strVal val="#ppt_x"/>
                                          </p:val>
                                        </p:tav>
                                      </p:tavLst>
                                    </p:anim>
                                    <p:anim calcmode="lin" valueType="num">
                                      <p:cBhvr>
                                        <p:cTn id="213" dur="600" decel="100000" fill="hold"/>
                                        <p:tgtEl>
                                          <p:spTgt spid="39"/>
                                        </p:tgtEl>
                                        <p:attrNameLst>
                                          <p:attrName>ppt_y</p:attrName>
                                        </p:attrNameLst>
                                      </p:cBhvr>
                                      <p:tavLst>
                                        <p:tav tm="0">
                                          <p:val>
                                            <p:strVal val="#ppt_y+.05"/>
                                          </p:val>
                                        </p:tav>
                                        <p:tav tm="100000">
                                          <p:val>
                                            <p:strVal val="#ppt_y"/>
                                          </p:val>
                                        </p:tav>
                                      </p:tavLst>
                                    </p:anim>
                                  </p:childTnLst>
                                </p:cTn>
                              </p:par>
                            </p:childTnLst>
                          </p:cTn>
                        </p:par>
                        <p:par>
                          <p:cTn id="214" fill="hold">
                            <p:stCondLst>
                              <p:cond delay="2050"/>
                            </p:stCondLst>
                            <p:childTnLst>
                              <p:par>
                                <p:cTn id="215" presetID="42" presetClass="entr" presetSubtype="0" fill="hold" grpId="0" nodeType="withEffect">
                                  <p:stCondLst>
                                    <p:cond delay="0"/>
                                  </p:stCondLst>
                                  <p:childTnLst>
                                    <p:set>
                                      <p:cBhvr>
                                        <p:cTn id="216" dur="1" fill="hold">
                                          <p:stCondLst>
                                            <p:cond delay="0"/>
                                          </p:stCondLst>
                                        </p:cTn>
                                        <p:tgtEl>
                                          <p:spTgt spid="40"/>
                                        </p:tgtEl>
                                        <p:attrNameLst>
                                          <p:attrName>style.visibility</p:attrName>
                                        </p:attrNameLst>
                                      </p:cBhvr>
                                      <p:to>
                                        <p:strVal val="visible"/>
                                      </p:to>
                                    </p:set>
                                    <p:animEffect transition="in" filter="fade">
                                      <p:cBhvr>
                                        <p:cTn id="217" dur="600"/>
                                        <p:tgtEl>
                                          <p:spTgt spid="40"/>
                                        </p:tgtEl>
                                      </p:cBhvr>
                                    </p:animEffect>
                                    <p:anim calcmode="lin" valueType="num">
                                      <p:cBhvr>
                                        <p:cTn id="218" dur="600" fill="hold"/>
                                        <p:tgtEl>
                                          <p:spTgt spid="40"/>
                                        </p:tgtEl>
                                        <p:attrNameLst>
                                          <p:attrName>ppt_x</p:attrName>
                                        </p:attrNameLst>
                                      </p:cBhvr>
                                      <p:tavLst>
                                        <p:tav tm="0">
                                          <p:val>
                                            <p:strVal val="#ppt_x"/>
                                          </p:val>
                                        </p:tav>
                                        <p:tav tm="100000">
                                          <p:val>
                                            <p:strVal val="#ppt_x"/>
                                          </p:val>
                                        </p:tav>
                                      </p:tavLst>
                                    </p:anim>
                                    <p:anim calcmode="lin" valueType="num">
                                      <p:cBhvr>
                                        <p:cTn id="219" dur="600" decel="100000" fill="hold"/>
                                        <p:tgtEl>
                                          <p:spTgt spid="40"/>
                                        </p:tgtEl>
                                        <p:attrNameLst>
                                          <p:attrName>ppt_y</p:attrName>
                                        </p:attrNameLst>
                                      </p:cBhvr>
                                      <p:tavLst>
                                        <p:tav tm="0">
                                          <p:val>
                                            <p:strVal val="#ppt_y+.05"/>
                                          </p:val>
                                        </p:tav>
                                        <p:tav tm="100000">
                                          <p:val>
                                            <p:strVal val="#ppt_y"/>
                                          </p:val>
                                        </p:tav>
                                      </p:tavLst>
                                    </p:anim>
                                  </p:childTnLst>
                                </p:cTn>
                              </p:par>
                            </p:childTnLst>
                          </p:cTn>
                        </p:par>
                        <p:par>
                          <p:cTn id="220" fill="hold">
                            <p:stCondLst>
                              <p:cond delay="2050"/>
                            </p:stCondLst>
                            <p:childTnLst>
                              <p:par>
                                <p:cTn id="221" presetID="42" presetClass="entr" presetSubtype="0" fill="hold" grpId="0" nodeType="withEffect">
                                  <p:stCondLst>
                                    <p:cond delay="0"/>
                                  </p:stCondLst>
                                  <p:childTnLst>
                                    <p:set>
                                      <p:cBhvr>
                                        <p:cTn id="222" dur="1" fill="hold">
                                          <p:stCondLst>
                                            <p:cond delay="0"/>
                                          </p:stCondLst>
                                        </p:cTn>
                                        <p:tgtEl>
                                          <p:spTgt spid="41"/>
                                        </p:tgtEl>
                                        <p:attrNameLst>
                                          <p:attrName>style.visibility</p:attrName>
                                        </p:attrNameLst>
                                      </p:cBhvr>
                                      <p:to>
                                        <p:strVal val="visible"/>
                                      </p:to>
                                    </p:set>
                                    <p:animEffect transition="in" filter="fade">
                                      <p:cBhvr>
                                        <p:cTn id="223" dur="600"/>
                                        <p:tgtEl>
                                          <p:spTgt spid="41"/>
                                        </p:tgtEl>
                                      </p:cBhvr>
                                    </p:animEffect>
                                    <p:anim calcmode="lin" valueType="num">
                                      <p:cBhvr>
                                        <p:cTn id="224" dur="600" fill="hold"/>
                                        <p:tgtEl>
                                          <p:spTgt spid="41"/>
                                        </p:tgtEl>
                                        <p:attrNameLst>
                                          <p:attrName>ppt_x</p:attrName>
                                        </p:attrNameLst>
                                      </p:cBhvr>
                                      <p:tavLst>
                                        <p:tav tm="0">
                                          <p:val>
                                            <p:strVal val="#ppt_x"/>
                                          </p:val>
                                        </p:tav>
                                        <p:tav tm="100000">
                                          <p:val>
                                            <p:strVal val="#ppt_x"/>
                                          </p:val>
                                        </p:tav>
                                      </p:tavLst>
                                    </p:anim>
                                    <p:anim calcmode="lin" valueType="num">
                                      <p:cBhvr>
                                        <p:cTn id="225" dur="600" decel="100000" fill="hold"/>
                                        <p:tgtEl>
                                          <p:spTgt spid="41"/>
                                        </p:tgtEl>
                                        <p:attrNameLst>
                                          <p:attrName>ppt_y</p:attrName>
                                        </p:attrNameLst>
                                      </p:cBhvr>
                                      <p:tavLst>
                                        <p:tav tm="0">
                                          <p:val>
                                            <p:strVal val="#ppt_y+.05"/>
                                          </p:val>
                                        </p:tav>
                                        <p:tav tm="100000">
                                          <p:val>
                                            <p:strVal val="#ppt_y"/>
                                          </p:val>
                                        </p:tav>
                                      </p:tavLst>
                                    </p:anim>
                                  </p:childTnLst>
                                </p:cTn>
                              </p:par>
                            </p:childTnLst>
                          </p:cTn>
                        </p:par>
                        <p:par>
                          <p:cTn id="226" fill="hold">
                            <p:stCondLst>
                              <p:cond delay="2050"/>
                            </p:stCondLst>
                            <p:childTnLst>
                              <p:par>
                                <p:cTn id="227" presetID="42" presetClass="entr" presetSubtype="0" fill="hold" grpId="0" nodeType="withEffect">
                                  <p:stCondLst>
                                    <p:cond delay="0"/>
                                  </p:stCondLst>
                                  <p:childTnLst>
                                    <p:set>
                                      <p:cBhvr>
                                        <p:cTn id="228" dur="1" fill="hold">
                                          <p:stCondLst>
                                            <p:cond delay="0"/>
                                          </p:stCondLst>
                                        </p:cTn>
                                        <p:tgtEl>
                                          <p:spTgt spid="42"/>
                                        </p:tgtEl>
                                        <p:attrNameLst>
                                          <p:attrName>style.visibility</p:attrName>
                                        </p:attrNameLst>
                                      </p:cBhvr>
                                      <p:to>
                                        <p:strVal val="visible"/>
                                      </p:to>
                                    </p:set>
                                    <p:animEffect transition="in" filter="fade">
                                      <p:cBhvr>
                                        <p:cTn id="229" dur="600"/>
                                        <p:tgtEl>
                                          <p:spTgt spid="42"/>
                                        </p:tgtEl>
                                      </p:cBhvr>
                                    </p:animEffect>
                                    <p:anim calcmode="lin" valueType="num">
                                      <p:cBhvr>
                                        <p:cTn id="230" dur="600" fill="hold"/>
                                        <p:tgtEl>
                                          <p:spTgt spid="42"/>
                                        </p:tgtEl>
                                        <p:attrNameLst>
                                          <p:attrName>ppt_x</p:attrName>
                                        </p:attrNameLst>
                                      </p:cBhvr>
                                      <p:tavLst>
                                        <p:tav tm="0">
                                          <p:val>
                                            <p:strVal val="#ppt_x"/>
                                          </p:val>
                                        </p:tav>
                                        <p:tav tm="100000">
                                          <p:val>
                                            <p:strVal val="#ppt_x"/>
                                          </p:val>
                                        </p:tav>
                                      </p:tavLst>
                                    </p:anim>
                                    <p:anim calcmode="lin" valueType="num">
                                      <p:cBhvr>
                                        <p:cTn id="231" dur="600" decel="100000" fill="hold"/>
                                        <p:tgtEl>
                                          <p:spTgt spid="42"/>
                                        </p:tgtEl>
                                        <p:attrNameLst>
                                          <p:attrName>ppt_y</p:attrName>
                                        </p:attrNameLst>
                                      </p:cBhvr>
                                      <p:tavLst>
                                        <p:tav tm="0">
                                          <p:val>
                                            <p:strVal val="#ppt_y+.05"/>
                                          </p:val>
                                        </p:tav>
                                        <p:tav tm="100000">
                                          <p:val>
                                            <p:strVal val="#ppt_y"/>
                                          </p:val>
                                        </p:tav>
                                      </p:tavLst>
                                    </p:anim>
                                  </p:childTnLst>
                                </p:cTn>
                              </p:par>
                            </p:childTnLst>
                          </p:cTn>
                        </p:par>
                        <p:par>
                          <p:cTn id="232" fill="hold">
                            <p:stCondLst>
                              <p:cond delay="2050"/>
                            </p:stCondLst>
                            <p:childTnLst>
                              <p:par>
                                <p:cTn id="233" presetID="42" presetClass="entr" presetSubtype="0" fill="hold" grpId="0" nodeType="withEffect">
                                  <p:stCondLst>
                                    <p:cond delay="0"/>
                                  </p:stCondLst>
                                  <p:childTnLst>
                                    <p:set>
                                      <p:cBhvr>
                                        <p:cTn id="234" dur="1" fill="hold">
                                          <p:stCondLst>
                                            <p:cond delay="0"/>
                                          </p:stCondLst>
                                        </p:cTn>
                                        <p:tgtEl>
                                          <p:spTgt spid="43"/>
                                        </p:tgtEl>
                                        <p:attrNameLst>
                                          <p:attrName>style.visibility</p:attrName>
                                        </p:attrNameLst>
                                      </p:cBhvr>
                                      <p:to>
                                        <p:strVal val="visible"/>
                                      </p:to>
                                    </p:set>
                                    <p:animEffect transition="in" filter="fade">
                                      <p:cBhvr>
                                        <p:cTn id="235" dur="600"/>
                                        <p:tgtEl>
                                          <p:spTgt spid="43"/>
                                        </p:tgtEl>
                                      </p:cBhvr>
                                    </p:animEffect>
                                    <p:anim calcmode="lin" valueType="num">
                                      <p:cBhvr>
                                        <p:cTn id="236" dur="600" fill="hold"/>
                                        <p:tgtEl>
                                          <p:spTgt spid="43"/>
                                        </p:tgtEl>
                                        <p:attrNameLst>
                                          <p:attrName>ppt_x</p:attrName>
                                        </p:attrNameLst>
                                      </p:cBhvr>
                                      <p:tavLst>
                                        <p:tav tm="0">
                                          <p:val>
                                            <p:strVal val="#ppt_x"/>
                                          </p:val>
                                        </p:tav>
                                        <p:tav tm="100000">
                                          <p:val>
                                            <p:strVal val="#ppt_x"/>
                                          </p:val>
                                        </p:tav>
                                      </p:tavLst>
                                    </p:anim>
                                    <p:anim calcmode="lin" valueType="num">
                                      <p:cBhvr>
                                        <p:cTn id="237" dur="600" decel="100000" fill="hold"/>
                                        <p:tgtEl>
                                          <p:spTgt spid="43"/>
                                        </p:tgtEl>
                                        <p:attrNameLst>
                                          <p:attrName>ppt_y</p:attrName>
                                        </p:attrNameLst>
                                      </p:cBhvr>
                                      <p:tavLst>
                                        <p:tav tm="0">
                                          <p:val>
                                            <p:strVal val="#ppt_y+.05"/>
                                          </p:val>
                                        </p:tav>
                                        <p:tav tm="100000">
                                          <p:val>
                                            <p:strVal val="#ppt_y"/>
                                          </p:val>
                                        </p:tav>
                                      </p:tavLst>
                                    </p:anim>
                                  </p:childTnLst>
                                </p:cTn>
                              </p:par>
                            </p:childTnLst>
                          </p:cTn>
                        </p:par>
                        <p:par>
                          <p:cTn id="238" fill="hold">
                            <p:stCondLst>
                              <p:cond delay="2050"/>
                            </p:stCondLst>
                            <p:childTnLst>
                              <p:par>
                                <p:cTn id="239" presetID="42" presetClass="entr" presetSubtype="0" fill="hold" grpId="0" nodeType="withEffect">
                                  <p:stCondLst>
                                    <p:cond delay="0"/>
                                  </p:stCondLst>
                                  <p:childTnLst>
                                    <p:set>
                                      <p:cBhvr>
                                        <p:cTn id="240" dur="1" fill="hold">
                                          <p:stCondLst>
                                            <p:cond delay="0"/>
                                          </p:stCondLst>
                                        </p:cTn>
                                        <p:tgtEl>
                                          <p:spTgt spid="44"/>
                                        </p:tgtEl>
                                        <p:attrNameLst>
                                          <p:attrName>style.visibility</p:attrName>
                                        </p:attrNameLst>
                                      </p:cBhvr>
                                      <p:to>
                                        <p:strVal val="visible"/>
                                      </p:to>
                                    </p:set>
                                    <p:animEffect transition="in" filter="fade">
                                      <p:cBhvr>
                                        <p:cTn id="241" dur="600"/>
                                        <p:tgtEl>
                                          <p:spTgt spid="44"/>
                                        </p:tgtEl>
                                      </p:cBhvr>
                                    </p:animEffect>
                                    <p:anim calcmode="lin" valueType="num">
                                      <p:cBhvr>
                                        <p:cTn id="242" dur="600" fill="hold"/>
                                        <p:tgtEl>
                                          <p:spTgt spid="44"/>
                                        </p:tgtEl>
                                        <p:attrNameLst>
                                          <p:attrName>ppt_x</p:attrName>
                                        </p:attrNameLst>
                                      </p:cBhvr>
                                      <p:tavLst>
                                        <p:tav tm="0">
                                          <p:val>
                                            <p:strVal val="#ppt_x"/>
                                          </p:val>
                                        </p:tav>
                                        <p:tav tm="100000">
                                          <p:val>
                                            <p:strVal val="#ppt_x"/>
                                          </p:val>
                                        </p:tav>
                                      </p:tavLst>
                                    </p:anim>
                                    <p:anim calcmode="lin" valueType="num">
                                      <p:cBhvr>
                                        <p:cTn id="243" dur="600" decel="100000" fill="hold"/>
                                        <p:tgtEl>
                                          <p:spTgt spid="44"/>
                                        </p:tgtEl>
                                        <p:attrNameLst>
                                          <p:attrName>ppt_y</p:attrName>
                                        </p:attrNameLst>
                                      </p:cBhvr>
                                      <p:tavLst>
                                        <p:tav tm="0">
                                          <p:val>
                                            <p:strVal val="#ppt_y+.05"/>
                                          </p:val>
                                        </p:tav>
                                        <p:tav tm="100000">
                                          <p:val>
                                            <p:strVal val="#ppt_y"/>
                                          </p:val>
                                        </p:tav>
                                      </p:tavLst>
                                    </p:anim>
                                  </p:childTnLst>
                                </p:cTn>
                              </p:par>
                            </p:childTnLst>
                          </p:cTn>
                        </p:par>
                        <p:par>
                          <p:cTn id="244" fill="hold">
                            <p:stCondLst>
                              <p:cond delay="2500"/>
                            </p:stCondLst>
                            <p:childTnLst>
                              <p:par>
                                <p:cTn id="245" presetID="42" presetClass="entr" presetSubtype="0" fill="hold" grpId="0" nodeType="withEffect">
                                  <p:stCondLst>
                                    <p:cond delay="0"/>
                                  </p:stCondLst>
                                  <p:childTnLst>
                                    <p:set>
                                      <p:cBhvr>
                                        <p:cTn id="246" dur="1" fill="hold">
                                          <p:stCondLst>
                                            <p:cond delay="0"/>
                                          </p:stCondLst>
                                        </p:cTn>
                                        <p:tgtEl>
                                          <p:spTgt spid="45"/>
                                        </p:tgtEl>
                                        <p:attrNameLst>
                                          <p:attrName>style.visibility</p:attrName>
                                        </p:attrNameLst>
                                      </p:cBhvr>
                                      <p:to>
                                        <p:strVal val="visible"/>
                                      </p:to>
                                    </p:set>
                                    <p:animEffect transition="in" filter="fade">
                                      <p:cBhvr>
                                        <p:cTn id="247" dur="600"/>
                                        <p:tgtEl>
                                          <p:spTgt spid="45"/>
                                        </p:tgtEl>
                                      </p:cBhvr>
                                    </p:animEffect>
                                    <p:anim calcmode="lin" valueType="num">
                                      <p:cBhvr>
                                        <p:cTn id="248" dur="600" fill="hold"/>
                                        <p:tgtEl>
                                          <p:spTgt spid="45"/>
                                        </p:tgtEl>
                                        <p:attrNameLst>
                                          <p:attrName>ppt_x</p:attrName>
                                        </p:attrNameLst>
                                      </p:cBhvr>
                                      <p:tavLst>
                                        <p:tav tm="0">
                                          <p:val>
                                            <p:strVal val="#ppt_x"/>
                                          </p:val>
                                        </p:tav>
                                        <p:tav tm="100000">
                                          <p:val>
                                            <p:strVal val="#ppt_x"/>
                                          </p:val>
                                        </p:tav>
                                      </p:tavLst>
                                    </p:anim>
                                    <p:anim calcmode="lin" valueType="num">
                                      <p:cBhvr>
                                        <p:cTn id="249" dur="600" decel="100000" fill="hold"/>
                                        <p:tgtEl>
                                          <p:spTgt spid="45"/>
                                        </p:tgtEl>
                                        <p:attrNameLst>
                                          <p:attrName>ppt_y</p:attrName>
                                        </p:attrNameLst>
                                      </p:cBhvr>
                                      <p:tavLst>
                                        <p:tav tm="0">
                                          <p:val>
                                            <p:strVal val="#ppt_y+.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3" grpId="0" animBg="1"/>
      <p:bldP spid="14" grpId="0" animBg="1"/>
      <p:bldP spid="15" grpId="0" animBg="1"/>
      <p:bldP spid="16" grpId="0" animBg="1"/>
      <p:bldP spid="17" grpId="0" animBg="1"/>
      <p:bldP spid="19" grpId="0" animBg="1"/>
      <p:bldP spid="20" grpId="0" animBg="1"/>
      <p:bldP spid="21" grpId="0" animBg="1"/>
      <p:bldP spid="22" grpId="0" animBg="1"/>
      <p:bldP spid="23" grpId="0" animBg="1"/>
      <p:bldP spid="25" grpId="0" animBg="1"/>
      <p:bldP spid="26" grpId="0" animBg="1"/>
      <p:bldP spid="27" grpId="0" animBg="1"/>
      <p:bldP spid="28" grpId="0" animBg="1"/>
      <p:bldP spid="29" grpId="0" animBg="1"/>
      <p:bldP spid="31" grpId="0" animBg="1"/>
      <p:bldP spid="32" grpId="0" animBg="1"/>
      <p:bldP spid="33" grpId="0" animBg="1"/>
      <p:bldP spid="34" grpId="0" animBg="1"/>
      <p:bldP spid="35" grpId="0" animBg="1"/>
      <p:bldP spid="37" grpId="0" animBg="1"/>
      <p:bldP spid="38" grpId="0" animBg="1"/>
      <p:bldP spid="39" grpId="0" animBg="1"/>
      <p:bldP spid="40" grpId="0" animBg="1"/>
      <p:bldP spid="41" grpId="0" animBg="1"/>
      <p:bldP spid="43" grpId="0" animBg="1"/>
      <p:bldP spid="44" grpId="0" animBg="1"/>
      <p:bldP spid="45"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0"/>
          <p:cNvSpPr txBox="1"/>
          <p:nvPr/>
        </p:nvSpPr>
        <p:spPr>
          <a:xfrm>
            <a:off x="548640" y="292608"/>
            <a:ext cx="7315200" cy="292608"/>
          </a:xfrm>
          <a:prstGeom prst="rect">
            <a:avLst/>
          </a:prstGeom>
          <a:noFill/>
          <a:ln/>
        </p:spPr>
        <p:txBody>
          <a:bodyPr wrap="square" lIns="0" tIns="0" rIns="0" bIns="0" rtlCol="0" anchor="ctr"/>
          <a:lstStyle/>
          <a:p>
            <a:pPr indent="0" marL="0">
              <a:buNone/>
            </a:pPr>
            <a:r>
              <a:rPr lang="ru-RU" sz="1300" b="1" spc="200" kern="0" dirty="0">
                <a:solidFill>
                  <a:schemeClr val="accent1"/>
                </a:solidFill>
              </a:rPr>
              <a:t>02  ·  ХОЗЯЙСТВЕННЫЕ ОБЩЕСТВА</a:t>
            </a:r>
            <a:endParaRPr lang="ru-RU" sz="1300" dirty="0"/>
          </a:p>
        </p:txBody>
      </p:sp>
      <p:sp>
        <p:nvSpPr>
          <p:cNvPr id="4" name="Text 0"/>
          <p:cNvSpPr/>
          <p:nvPr>
            <p:ph idx="100" type="title" hasCustomPrompt="1"/>
          </p:nvPr>
        </p:nvSpPr>
        <p:spPr>
          <a:xfrm>
            <a:off x="548640" y="566928"/>
            <a:ext cx="11064240" cy="731520"/>
          </a:xfrm>
          <a:prstGeom prst="rect">
            <a:avLst/>
          </a:prstGeom>
          <a:noFill/>
          <a:ln/>
        </p:spPr>
        <p:txBody>
          <a:bodyPr wrap="square" lIns="0" tIns="0" rIns="0" bIns="0" rtlCol="0" anchor="ctr"/>
          <a:lstStyle/>
          <a:p>
            <a:pPr algn="l" indent="0" marL="0">
              <a:buNone/>
            </a:pPr>
            <a:r>
              <a:rPr lang="ru-RU" sz="3400" b="1" dirty="0">
                <a:solidFill>
                  <a:schemeClr val="tx1"/>
                </a:solidFill>
                <a:latin typeface="Georgia" pitchFamily="34" charset="0"/>
                <a:ea typeface="Georgia" pitchFamily="34" charset="-122"/>
                <a:cs typeface="Georgia" pitchFamily="34" charset="-120"/>
              </a:rPr>
              <a:t>ООО — самая популярная форма бизнеса</a:t>
            </a:r>
            <a:endParaRPr lang="ru-RU" sz="3400" dirty="0"/>
          </a:p>
        </p:txBody>
      </p:sp>
      <p:sp>
        <p:nvSpPr>
          <p:cNvPr id="5" name="a_01_c0"/>
          <p:cNvSpPr/>
          <p:nvPr/>
        </p:nvSpPr>
        <p:spPr>
          <a:xfrm>
            <a:off x="548640" y="1508760"/>
            <a:ext cx="3566160" cy="2331720"/>
          </a:xfrm>
          <a:prstGeom prst="roundRect">
            <a:avLst>
              <a:gd name="adj" fmla="val 4706"/>
            </a:avLst>
          </a:prstGeom>
          <a:solidFill>
            <a:schemeClr val="bg2"/>
          </a:solidFill>
          <a:ln w="9525">
            <a:solidFill>
              <a:schemeClr val="bg2"/>
            </a:solidFill>
            <a:prstDash val="solid"/>
          </a:ln>
        </p:spPr>
      </p:sp>
      <p:sp>
        <p:nvSpPr>
          <p:cNvPr id="6" name="a_01_d0_c"/>
          <p:cNvSpPr/>
          <p:nvPr/>
        </p:nvSpPr>
        <p:spPr>
          <a:xfrm>
            <a:off x="822960" y="1737360"/>
            <a:ext cx="731520" cy="731520"/>
          </a:xfrm>
          <a:prstGeom prst="ellipse">
            <a:avLst/>
          </a:prstGeom>
          <a:solidFill>
            <a:schemeClr val="accent2"/>
          </a:solidFill>
          <a:ln w="12700">
            <a:solidFill>
              <a:schemeClr val="accent2"/>
            </a:solidFill>
            <a:prstDash val="solid"/>
          </a:ln>
        </p:spPr>
      </p:sp>
      <p:pic>
        <p:nvPicPr>
          <p:cNvPr id="7" name="a_01_d0_i" descr="/tmp/claude-0/-home-user-musor/c6980a0f-2a52-569f-a1fc-691d09a5d10f/scratchpad/biz/icons/users_w.png">    </p:cNvPr>
          <p:cNvPicPr>
            <a:picLocks noChangeAspect="1"/>
          </p:cNvPicPr>
          <p:nvPr/>
        </p:nvPicPr>
        <p:blipFill>
          <a:blip r:embed="rId1"/>
          <a:stretch>
            <a:fillRect/>
          </a:stretch>
        </p:blipFill>
        <p:spPr>
          <a:xfrm>
            <a:off x="1013155" y="1927555"/>
            <a:ext cx="351130" cy="351130"/>
          </a:xfrm>
          <a:prstGeom prst="rect">
            <a:avLst/>
          </a:prstGeom>
        </p:spPr>
      </p:pic>
      <p:sp>
        <p:nvSpPr>
          <p:cNvPr id="8" name="a_01_b0"/>
          <p:cNvSpPr txBox="1"/>
          <p:nvPr/>
        </p:nvSpPr>
        <p:spPr>
          <a:xfrm>
            <a:off x="822960" y="2560320"/>
            <a:ext cx="3108960" cy="685800"/>
          </a:xfrm>
          <a:prstGeom prst="rect">
            <a:avLst/>
          </a:prstGeom>
          <a:noFill/>
          <a:ln/>
        </p:spPr>
        <p:txBody>
          <a:bodyPr wrap="square" lIns="0" tIns="0" rIns="0" bIns="0" rtlCol="0" anchor="ctr"/>
          <a:lstStyle/>
          <a:p>
            <a:pPr indent="0" marL="0">
              <a:buNone/>
            </a:pPr>
            <a:r>
              <a:rPr lang="ru-RU" sz="4000" b="1" dirty="0">
                <a:solidFill>
                  <a:schemeClr val="tx1"/>
                </a:solidFill>
                <a:latin typeface="Georgia" pitchFamily="34" charset="0"/>
                <a:ea typeface="Georgia" pitchFamily="34" charset="-122"/>
                <a:cs typeface="Georgia" pitchFamily="34" charset="-120"/>
              </a:rPr>
              <a:t>1–50</a:t>
            </a:r>
            <a:endParaRPr lang="ru-RU" sz="4000" dirty="0"/>
          </a:p>
        </p:txBody>
      </p:sp>
      <p:sp>
        <p:nvSpPr>
          <p:cNvPr id="9" name="a_01_l0"/>
          <p:cNvSpPr txBox="1"/>
          <p:nvPr/>
        </p:nvSpPr>
        <p:spPr>
          <a:xfrm>
            <a:off x="822960" y="3246120"/>
            <a:ext cx="3108960" cy="502920"/>
          </a:xfrm>
          <a:prstGeom prst="rect">
            <a:avLst/>
          </a:prstGeom>
          <a:noFill/>
          <a:ln/>
        </p:spPr>
        <p:txBody>
          <a:bodyPr wrap="square" lIns="0" tIns="0" rIns="0" bIns="0" rtlCol="0" anchor="t"/>
          <a:lstStyle/>
          <a:p>
            <a:pPr indent="0" marL="0">
              <a:buNone/>
            </a:pPr>
            <a:r>
              <a:rPr lang="ru-RU" sz="1500" dirty="0">
                <a:solidFill>
                  <a:schemeClr val="tx2"/>
                </a:solidFill>
              </a:rPr>
              <a:t>участников — можно открыть и в одиночку</a:t>
            </a:r>
            <a:endParaRPr lang="ru-RU" sz="1500" dirty="0"/>
          </a:p>
        </p:txBody>
      </p:sp>
      <p:sp>
        <p:nvSpPr>
          <p:cNvPr id="10" name="a_02_c1"/>
          <p:cNvSpPr/>
          <p:nvPr/>
        </p:nvSpPr>
        <p:spPr>
          <a:xfrm>
            <a:off x="4297680" y="1508760"/>
            <a:ext cx="3566160" cy="2331720"/>
          </a:xfrm>
          <a:prstGeom prst="roundRect">
            <a:avLst>
              <a:gd name="adj" fmla="val 4706"/>
            </a:avLst>
          </a:prstGeom>
          <a:solidFill>
            <a:schemeClr val="bg2"/>
          </a:solidFill>
          <a:ln w="9525">
            <a:solidFill>
              <a:schemeClr val="bg2"/>
            </a:solidFill>
            <a:prstDash val="solid"/>
          </a:ln>
        </p:spPr>
      </p:sp>
      <p:sp>
        <p:nvSpPr>
          <p:cNvPr id="11" name="a_02_d1_c"/>
          <p:cNvSpPr/>
          <p:nvPr/>
        </p:nvSpPr>
        <p:spPr>
          <a:xfrm>
            <a:off x="4572000" y="1737360"/>
            <a:ext cx="731520" cy="731520"/>
          </a:xfrm>
          <a:prstGeom prst="ellipse">
            <a:avLst/>
          </a:prstGeom>
          <a:solidFill>
            <a:schemeClr val="accent3"/>
          </a:solidFill>
          <a:ln w="12700">
            <a:solidFill>
              <a:schemeClr val="accent3"/>
            </a:solidFill>
            <a:prstDash val="solid"/>
          </a:ln>
        </p:spPr>
      </p:sp>
      <p:pic>
        <p:nvPicPr>
          <p:cNvPr id="12" name="a_02_d1_i" descr="/tmp/claude-0/-home-user-musor/c6980a0f-2a52-569f-a1fc-691d09a5d10f/scratchpad/biz/icons/coins_w.png">    </p:cNvPr>
          <p:cNvPicPr>
            <a:picLocks noChangeAspect="1"/>
          </p:cNvPicPr>
          <p:nvPr/>
        </p:nvPicPr>
        <p:blipFill>
          <a:blip r:embed="rId2"/>
          <a:stretch>
            <a:fillRect/>
          </a:stretch>
        </p:blipFill>
        <p:spPr>
          <a:xfrm>
            <a:off x="4762195" y="1927555"/>
            <a:ext cx="351130" cy="351130"/>
          </a:xfrm>
          <a:prstGeom prst="rect">
            <a:avLst/>
          </a:prstGeom>
        </p:spPr>
      </p:pic>
      <p:sp>
        <p:nvSpPr>
          <p:cNvPr id="13" name="a_02_b1"/>
          <p:cNvSpPr txBox="1"/>
          <p:nvPr/>
        </p:nvSpPr>
        <p:spPr>
          <a:xfrm>
            <a:off x="4572000" y="2560320"/>
            <a:ext cx="3108960" cy="685800"/>
          </a:xfrm>
          <a:prstGeom prst="rect">
            <a:avLst/>
          </a:prstGeom>
          <a:noFill/>
          <a:ln/>
        </p:spPr>
        <p:txBody>
          <a:bodyPr wrap="square" lIns="0" tIns="0" rIns="0" bIns="0" rtlCol="0" anchor="ctr"/>
          <a:lstStyle/>
          <a:p>
            <a:pPr indent="0" marL="0">
              <a:buNone/>
            </a:pPr>
            <a:r>
              <a:rPr lang="ru-RU" sz="4000" b="1" dirty="0">
                <a:solidFill>
                  <a:schemeClr val="tx1"/>
                </a:solidFill>
                <a:latin typeface="Georgia" pitchFamily="34" charset="0"/>
                <a:ea typeface="Georgia" pitchFamily="34" charset="-122"/>
                <a:cs typeface="Georgia" pitchFamily="34" charset="-120"/>
              </a:rPr>
              <a:t>10 000 ₽</a:t>
            </a:r>
            <a:endParaRPr lang="ru-RU" sz="4000" dirty="0"/>
          </a:p>
        </p:txBody>
      </p:sp>
      <p:sp>
        <p:nvSpPr>
          <p:cNvPr id="14" name="a_02_l1"/>
          <p:cNvSpPr txBox="1"/>
          <p:nvPr/>
        </p:nvSpPr>
        <p:spPr>
          <a:xfrm>
            <a:off x="4572000" y="3246120"/>
            <a:ext cx="3108960" cy="502920"/>
          </a:xfrm>
          <a:prstGeom prst="rect">
            <a:avLst/>
          </a:prstGeom>
          <a:noFill/>
          <a:ln/>
        </p:spPr>
        <p:txBody>
          <a:bodyPr wrap="square" lIns="0" tIns="0" rIns="0" bIns="0" rtlCol="0" anchor="t"/>
          <a:lstStyle/>
          <a:p>
            <a:pPr indent="0" marL="0">
              <a:buNone/>
            </a:pPr>
            <a:r>
              <a:rPr lang="ru-RU" sz="1500" dirty="0">
                <a:solidFill>
                  <a:schemeClr val="tx2"/>
                </a:solidFill>
              </a:rPr>
              <a:t>минимальный уставный капитал</a:t>
            </a:r>
            <a:endParaRPr lang="ru-RU" sz="1500" dirty="0"/>
          </a:p>
        </p:txBody>
      </p:sp>
      <p:sp>
        <p:nvSpPr>
          <p:cNvPr id="15" name="a_03_c2"/>
          <p:cNvSpPr/>
          <p:nvPr/>
        </p:nvSpPr>
        <p:spPr>
          <a:xfrm>
            <a:off x="8046720" y="1508760"/>
            <a:ext cx="3566160" cy="2331720"/>
          </a:xfrm>
          <a:prstGeom prst="roundRect">
            <a:avLst>
              <a:gd name="adj" fmla="val 4706"/>
            </a:avLst>
          </a:prstGeom>
          <a:solidFill>
            <a:schemeClr val="bg2"/>
          </a:solidFill>
          <a:ln w="9525">
            <a:solidFill>
              <a:schemeClr val="bg2"/>
            </a:solidFill>
            <a:prstDash val="solid"/>
          </a:ln>
        </p:spPr>
      </p:sp>
      <p:sp>
        <p:nvSpPr>
          <p:cNvPr id="16" name="a_03_d2_c"/>
          <p:cNvSpPr/>
          <p:nvPr/>
        </p:nvSpPr>
        <p:spPr>
          <a:xfrm>
            <a:off x="8321040" y="1737360"/>
            <a:ext cx="731520" cy="731520"/>
          </a:xfrm>
          <a:prstGeom prst="ellipse">
            <a:avLst/>
          </a:prstGeom>
          <a:solidFill>
            <a:schemeClr val="accent1"/>
          </a:solidFill>
          <a:ln w="12700">
            <a:solidFill>
              <a:schemeClr val="accent1"/>
            </a:solidFill>
            <a:prstDash val="solid"/>
          </a:ln>
        </p:spPr>
      </p:sp>
      <p:pic>
        <p:nvPicPr>
          <p:cNvPr id="17" name="a_03_d2_i" descr="/tmp/claude-0/-home-user-musor/c6980a0f-2a52-569f-a1fc-691d09a5d10f/scratchpad/biz/icons/shield_w.png">    </p:cNvPr>
          <p:cNvPicPr>
            <a:picLocks noChangeAspect="1"/>
          </p:cNvPicPr>
          <p:nvPr/>
        </p:nvPicPr>
        <p:blipFill>
          <a:blip r:embed="rId3"/>
          <a:stretch>
            <a:fillRect/>
          </a:stretch>
        </p:blipFill>
        <p:spPr>
          <a:xfrm>
            <a:off x="8511235" y="1927555"/>
            <a:ext cx="351130" cy="351130"/>
          </a:xfrm>
          <a:prstGeom prst="rect">
            <a:avLst/>
          </a:prstGeom>
        </p:spPr>
      </p:pic>
      <p:sp>
        <p:nvSpPr>
          <p:cNvPr id="18" name="a_03_b2"/>
          <p:cNvSpPr txBox="1"/>
          <p:nvPr/>
        </p:nvSpPr>
        <p:spPr>
          <a:xfrm>
            <a:off x="8321040" y="2560320"/>
            <a:ext cx="3108960" cy="685800"/>
          </a:xfrm>
          <a:prstGeom prst="rect">
            <a:avLst/>
          </a:prstGeom>
          <a:noFill/>
          <a:ln/>
        </p:spPr>
        <p:txBody>
          <a:bodyPr wrap="square" lIns="0" tIns="0" rIns="0" bIns="0" rtlCol="0" anchor="ctr"/>
          <a:lstStyle/>
          <a:p>
            <a:pPr indent="0" marL="0">
              <a:buNone/>
            </a:pPr>
            <a:r>
              <a:rPr lang="ru-RU" sz="4000" b="1" dirty="0">
                <a:solidFill>
                  <a:schemeClr val="tx1"/>
                </a:solidFill>
                <a:latin typeface="Georgia" pitchFamily="34" charset="0"/>
                <a:ea typeface="Georgia" pitchFamily="34" charset="-122"/>
                <a:cs typeface="Georgia" pitchFamily="34" charset="-120"/>
              </a:rPr>
              <a:t>Доля</a:t>
            </a:r>
            <a:endParaRPr lang="ru-RU" sz="4000" dirty="0"/>
          </a:p>
        </p:txBody>
      </p:sp>
      <p:sp>
        <p:nvSpPr>
          <p:cNvPr id="19" name="a_03_l2"/>
          <p:cNvSpPr txBox="1"/>
          <p:nvPr/>
        </p:nvSpPr>
        <p:spPr>
          <a:xfrm>
            <a:off x="8321040" y="3246120"/>
            <a:ext cx="3108960" cy="502920"/>
          </a:xfrm>
          <a:prstGeom prst="rect">
            <a:avLst/>
          </a:prstGeom>
          <a:noFill/>
          <a:ln/>
        </p:spPr>
        <p:txBody>
          <a:bodyPr wrap="square" lIns="0" tIns="0" rIns="0" bIns="0" rtlCol="0" anchor="t"/>
          <a:lstStyle/>
          <a:p>
            <a:pPr indent="0" marL="0">
              <a:buNone/>
            </a:pPr>
            <a:r>
              <a:rPr lang="ru-RU" sz="1500" dirty="0">
                <a:solidFill>
                  <a:schemeClr val="tx2"/>
                </a:solidFill>
              </a:rPr>
              <a:t>участник рискует только своим вкладом</a:t>
            </a:r>
            <a:endParaRPr lang="ru-RU" sz="1500" dirty="0"/>
          </a:p>
        </p:txBody>
      </p:sp>
      <p:sp>
        <p:nvSpPr>
          <p:cNvPr id="20" name="a_04_flowbg"/>
          <p:cNvSpPr/>
          <p:nvPr/>
        </p:nvSpPr>
        <p:spPr>
          <a:xfrm>
            <a:off x="548640" y="4114800"/>
            <a:ext cx="11064240" cy="1965960"/>
          </a:xfrm>
          <a:prstGeom prst="roundRect">
            <a:avLst>
              <a:gd name="adj" fmla="val 5581"/>
            </a:avLst>
          </a:prstGeom>
          <a:solidFill>
            <a:schemeClr val="tx1"/>
          </a:solidFill>
          <a:ln w="9525">
            <a:solidFill>
              <a:schemeClr val="tx1"/>
            </a:solidFill>
            <a:prstDash val="solid"/>
          </a:ln>
        </p:spPr>
      </p:sp>
      <p:sp>
        <p:nvSpPr>
          <p:cNvPr id="21" name="a_04_fh"/>
          <p:cNvSpPr txBox="1"/>
          <p:nvPr/>
        </p:nvSpPr>
        <p:spPr>
          <a:xfrm>
            <a:off x="868680" y="4279392"/>
            <a:ext cx="5486400" cy="274320"/>
          </a:xfrm>
          <a:prstGeom prst="rect">
            <a:avLst/>
          </a:prstGeom>
          <a:noFill/>
          <a:ln/>
        </p:spPr>
        <p:txBody>
          <a:bodyPr wrap="square" lIns="0" tIns="0" rIns="0" bIns="0" rtlCol="0" anchor="ctr"/>
          <a:lstStyle/>
          <a:p>
            <a:pPr indent="0" marL="0">
              <a:buNone/>
            </a:pPr>
            <a:r>
              <a:rPr lang="ru-RU" sz="1200" b="1" spc="200" kern="0" dirty="0">
                <a:solidFill>
                  <a:schemeClr val="accent3"/>
                </a:solidFill>
              </a:rPr>
              <a:t>КАК УСТРОЕНО УПРАВЛЕНИЕ</a:t>
            </a:r>
            <a:endParaRPr lang="ru-RU" sz="1200" dirty="0"/>
          </a:p>
        </p:txBody>
      </p:sp>
      <p:sp>
        <p:nvSpPr>
          <p:cNvPr id="22" name="a_05_fd0_c"/>
          <p:cNvSpPr/>
          <p:nvPr/>
        </p:nvSpPr>
        <p:spPr>
          <a:xfrm>
            <a:off x="868680" y="4709160"/>
            <a:ext cx="777240" cy="777240"/>
          </a:xfrm>
          <a:prstGeom prst="ellipse">
            <a:avLst/>
          </a:prstGeom>
          <a:solidFill>
            <a:schemeClr val="accent1"/>
          </a:solidFill>
          <a:ln w="12700">
            <a:solidFill>
              <a:schemeClr val="accent1"/>
            </a:solidFill>
            <a:prstDash val="solid"/>
          </a:ln>
        </p:spPr>
      </p:sp>
      <p:pic>
        <p:nvPicPr>
          <p:cNvPr id="23" name="a_05_fd0_i" descr="/tmp/claude-0/-home-user-musor/c6980a0f-2a52-569f-a1fc-691d09a5d10f/scratchpad/biz/icons/users_w.png">    </p:cNvPr>
          <p:cNvPicPr>
            <a:picLocks noChangeAspect="1"/>
          </p:cNvPicPr>
          <p:nvPr/>
        </p:nvPicPr>
        <p:blipFill>
          <a:blip r:embed="rId4"/>
          <a:stretch>
            <a:fillRect/>
          </a:stretch>
        </p:blipFill>
        <p:spPr>
          <a:xfrm>
            <a:off x="1070762" y="4911242"/>
            <a:ext cx="373075" cy="373075"/>
          </a:xfrm>
          <a:prstGeom prst="rect">
            <a:avLst/>
          </a:prstGeom>
        </p:spPr>
      </p:pic>
      <p:sp>
        <p:nvSpPr>
          <p:cNvPr id="24" name="a_05_ft0"/>
          <p:cNvSpPr txBox="1"/>
          <p:nvPr/>
        </p:nvSpPr>
        <p:spPr>
          <a:xfrm>
            <a:off x="1783080" y="4681728"/>
            <a:ext cx="2194560" cy="411480"/>
          </a:xfrm>
          <a:prstGeom prst="rect">
            <a:avLst/>
          </a:prstGeom>
          <a:noFill/>
          <a:ln/>
        </p:spPr>
        <p:txBody>
          <a:bodyPr wrap="square" lIns="0" tIns="0" rIns="0" bIns="0" rtlCol="0" anchor="ctr"/>
          <a:lstStyle/>
          <a:p>
            <a:pPr indent="0" marL="0">
              <a:buNone/>
            </a:pPr>
            <a:r>
              <a:rPr lang="ru-RU" sz="1800" b="1" dirty="0">
                <a:solidFill>
                  <a:schemeClr val="bg1"/>
                </a:solidFill>
              </a:rPr>
              <a:t>Общее собрание</a:t>
            </a:r>
            <a:endParaRPr lang="ru-RU" sz="1800" dirty="0"/>
          </a:p>
        </p:txBody>
      </p:sp>
      <p:sp>
        <p:nvSpPr>
          <p:cNvPr id="25" name="a_05_fx0"/>
          <p:cNvSpPr txBox="1"/>
          <p:nvPr/>
        </p:nvSpPr>
        <p:spPr>
          <a:xfrm>
            <a:off x="1783080" y="5074920"/>
            <a:ext cx="2286000" cy="548640"/>
          </a:xfrm>
          <a:prstGeom prst="rect">
            <a:avLst/>
          </a:prstGeom>
          <a:noFill/>
          <a:ln/>
        </p:spPr>
        <p:txBody>
          <a:bodyPr wrap="square" lIns="0" tIns="0" rIns="0" bIns="0" rtlCol="0" anchor="t"/>
          <a:lstStyle/>
          <a:p>
            <a:pPr indent="0" marL="0">
              <a:buNone/>
            </a:pPr>
            <a:r>
              <a:rPr lang="ru-RU" sz="1400" dirty="0">
                <a:solidFill>
                  <a:schemeClr val="accent6"/>
                </a:solidFill>
              </a:rPr>
              <a:t>участников</a:t>
            </a:r>
            <a:endParaRPr lang="ru-RU" sz="1400" dirty="0"/>
          </a:p>
        </p:txBody>
      </p:sp>
      <p:sp>
        <p:nvSpPr>
          <p:cNvPr id="26" name="a_05_fa0"/>
          <p:cNvSpPr/>
          <p:nvPr/>
        </p:nvSpPr>
        <p:spPr>
          <a:xfrm>
            <a:off x="4023360" y="4937760"/>
            <a:ext cx="365760" cy="347472"/>
          </a:xfrm>
          <a:prstGeom prst="rightArrow">
            <a:avLst/>
          </a:prstGeom>
          <a:solidFill>
            <a:schemeClr val="accent3"/>
          </a:solidFill>
          <a:ln w="12700">
            <a:solidFill>
              <a:schemeClr val="accent3"/>
            </a:solidFill>
            <a:prstDash val="solid"/>
          </a:ln>
        </p:spPr>
      </p:sp>
      <p:sp>
        <p:nvSpPr>
          <p:cNvPr id="27" name="a_06_fd1_c"/>
          <p:cNvSpPr/>
          <p:nvPr/>
        </p:nvSpPr>
        <p:spPr>
          <a:xfrm>
            <a:off x="4526280" y="4709160"/>
            <a:ext cx="777240" cy="777240"/>
          </a:xfrm>
          <a:prstGeom prst="ellipse">
            <a:avLst/>
          </a:prstGeom>
          <a:solidFill>
            <a:schemeClr val="accent2"/>
          </a:solidFill>
          <a:ln w="12700">
            <a:solidFill>
              <a:schemeClr val="accent2"/>
            </a:solidFill>
            <a:prstDash val="solid"/>
          </a:ln>
        </p:spPr>
      </p:sp>
      <p:pic>
        <p:nvPicPr>
          <p:cNvPr id="28" name="a_06_fd1_i" descr="/tmp/claude-0/-home-user-musor/c6980a0f-2a52-569f-a1fc-691d09a5d10f/scratchpad/biz/icons/tie_w.png">    </p:cNvPr>
          <p:cNvPicPr>
            <a:picLocks noChangeAspect="1"/>
          </p:cNvPicPr>
          <p:nvPr/>
        </p:nvPicPr>
        <p:blipFill>
          <a:blip r:embed="rId5"/>
          <a:stretch>
            <a:fillRect/>
          </a:stretch>
        </p:blipFill>
        <p:spPr>
          <a:xfrm>
            <a:off x="4728362" y="4911242"/>
            <a:ext cx="373075" cy="373075"/>
          </a:xfrm>
          <a:prstGeom prst="rect">
            <a:avLst/>
          </a:prstGeom>
        </p:spPr>
      </p:pic>
      <p:sp>
        <p:nvSpPr>
          <p:cNvPr id="29" name="a_06_ft1"/>
          <p:cNvSpPr txBox="1"/>
          <p:nvPr/>
        </p:nvSpPr>
        <p:spPr>
          <a:xfrm>
            <a:off x="5440680" y="4681728"/>
            <a:ext cx="2194560" cy="411480"/>
          </a:xfrm>
          <a:prstGeom prst="rect">
            <a:avLst/>
          </a:prstGeom>
          <a:noFill/>
          <a:ln/>
        </p:spPr>
        <p:txBody>
          <a:bodyPr wrap="square" lIns="0" tIns="0" rIns="0" bIns="0" rtlCol="0" anchor="ctr"/>
          <a:lstStyle/>
          <a:p>
            <a:pPr indent="0" marL="0">
              <a:buNone/>
            </a:pPr>
            <a:r>
              <a:rPr lang="ru-RU" sz="1800" b="1" dirty="0">
                <a:solidFill>
                  <a:schemeClr val="bg1"/>
                </a:solidFill>
              </a:rPr>
              <a:t>Директор</a:t>
            </a:r>
            <a:endParaRPr lang="ru-RU" sz="1800" dirty="0"/>
          </a:p>
        </p:txBody>
      </p:sp>
      <p:sp>
        <p:nvSpPr>
          <p:cNvPr id="30" name="a_06_fx1"/>
          <p:cNvSpPr txBox="1"/>
          <p:nvPr/>
        </p:nvSpPr>
        <p:spPr>
          <a:xfrm>
            <a:off x="5440680" y="5074920"/>
            <a:ext cx="2286000" cy="548640"/>
          </a:xfrm>
          <a:prstGeom prst="rect">
            <a:avLst/>
          </a:prstGeom>
          <a:noFill/>
          <a:ln/>
        </p:spPr>
        <p:txBody>
          <a:bodyPr wrap="square" lIns="0" tIns="0" rIns="0" bIns="0" rtlCol="0" anchor="t"/>
          <a:lstStyle/>
          <a:p>
            <a:pPr indent="0" marL="0">
              <a:buNone/>
            </a:pPr>
            <a:r>
              <a:rPr lang="ru-RU" sz="1400" dirty="0">
                <a:solidFill>
                  <a:schemeClr val="accent6"/>
                </a:solidFill>
              </a:rPr>
              <a:t>руководит делами</a:t>
            </a:r>
            <a:endParaRPr lang="ru-RU" sz="1400" dirty="0"/>
          </a:p>
        </p:txBody>
      </p:sp>
      <p:sp>
        <p:nvSpPr>
          <p:cNvPr id="31" name="a_06_fa1"/>
          <p:cNvSpPr/>
          <p:nvPr/>
        </p:nvSpPr>
        <p:spPr>
          <a:xfrm>
            <a:off x="7680960" y="4937760"/>
            <a:ext cx="365760" cy="347472"/>
          </a:xfrm>
          <a:prstGeom prst="rightArrow">
            <a:avLst/>
          </a:prstGeom>
          <a:solidFill>
            <a:schemeClr val="accent3"/>
          </a:solidFill>
          <a:ln w="12700">
            <a:solidFill>
              <a:schemeClr val="accent3"/>
            </a:solidFill>
            <a:prstDash val="solid"/>
          </a:ln>
        </p:spPr>
      </p:sp>
      <p:sp>
        <p:nvSpPr>
          <p:cNvPr id="32" name="a_07_fd2_c"/>
          <p:cNvSpPr/>
          <p:nvPr/>
        </p:nvSpPr>
        <p:spPr>
          <a:xfrm>
            <a:off x="8183880" y="4709160"/>
            <a:ext cx="777240" cy="777240"/>
          </a:xfrm>
          <a:prstGeom prst="ellipse">
            <a:avLst/>
          </a:prstGeom>
          <a:solidFill>
            <a:schemeClr val="accent3"/>
          </a:solidFill>
          <a:ln w="12700">
            <a:solidFill>
              <a:schemeClr val="accent3"/>
            </a:solidFill>
            <a:prstDash val="solid"/>
          </a:ln>
        </p:spPr>
      </p:sp>
      <p:pic>
        <p:nvPicPr>
          <p:cNvPr id="33" name="a_07_fd2_i" descr="/tmp/claude-0/-home-user-musor/c6980a0f-2a52-569f-a1fc-691d09a5d10f/scratchpad/biz/icons/store_w.png">    </p:cNvPr>
          <p:cNvPicPr>
            <a:picLocks noChangeAspect="1"/>
          </p:cNvPicPr>
          <p:nvPr/>
        </p:nvPicPr>
        <p:blipFill>
          <a:blip r:embed="rId6"/>
          <a:stretch>
            <a:fillRect/>
          </a:stretch>
        </p:blipFill>
        <p:spPr>
          <a:xfrm>
            <a:off x="8385962" y="4911242"/>
            <a:ext cx="373075" cy="373075"/>
          </a:xfrm>
          <a:prstGeom prst="rect">
            <a:avLst/>
          </a:prstGeom>
        </p:spPr>
      </p:pic>
      <p:sp>
        <p:nvSpPr>
          <p:cNvPr id="34" name="a_07_ft2"/>
          <p:cNvSpPr txBox="1"/>
          <p:nvPr/>
        </p:nvSpPr>
        <p:spPr>
          <a:xfrm>
            <a:off x="9098280" y="4681728"/>
            <a:ext cx="2194560" cy="411480"/>
          </a:xfrm>
          <a:prstGeom prst="rect">
            <a:avLst/>
          </a:prstGeom>
          <a:noFill/>
          <a:ln/>
        </p:spPr>
        <p:txBody>
          <a:bodyPr wrap="square" lIns="0" tIns="0" rIns="0" bIns="0" rtlCol="0" anchor="ctr"/>
          <a:lstStyle/>
          <a:p>
            <a:pPr indent="0" marL="0">
              <a:buNone/>
            </a:pPr>
            <a:r>
              <a:rPr lang="ru-RU" sz="1800" b="1" dirty="0">
                <a:solidFill>
                  <a:schemeClr val="bg1"/>
                </a:solidFill>
              </a:rPr>
              <a:t>Компания</a:t>
            </a:r>
            <a:endParaRPr lang="ru-RU" sz="1800" dirty="0"/>
          </a:p>
        </p:txBody>
      </p:sp>
      <p:sp>
        <p:nvSpPr>
          <p:cNvPr id="35" name="a_07_fx2"/>
          <p:cNvSpPr txBox="1"/>
          <p:nvPr/>
        </p:nvSpPr>
        <p:spPr>
          <a:xfrm>
            <a:off x="9098280" y="5074920"/>
            <a:ext cx="2286000" cy="548640"/>
          </a:xfrm>
          <a:prstGeom prst="rect">
            <a:avLst/>
          </a:prstGeom>
          <a:noFill/>
          <a:ln/>
        </p:spPr>
        <p:txBody>
          <a:bodyPr wrap="square" lIns="0" tIns="0" rIns="0" bIns="0" rtlCol="0" anchor="t"/>
          <a:lstStyle/>
          <a:p>
            <a:pPr indent="0" marL="0">
              <a:buNone/>
            </a:pPr>
            <a:r>
              <a:rPr lang="ru-RU" sz="1400" dirty="0">
                <a:solidFill>
                  <a:schemeClr val="accent6"/>
                </a:solidFill>
              </a:rPr>
              <a:t>магазин, кафе, IT, стройка</a:t>
            </a:r>
            <a:endParaRPr lang="ru-RU"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ru-RU"/>
              <a:t>3</a:t>
            </a:fld>
            <a:endParaRPr lang="ru-RU"/>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25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00"/>
                                        <p:tgtEl>
                                          <p:spTgt spid="5"/>
                                        </p:tgtEl>
                                      </p:cBhvr>
                                    </p:animEffect>
                                    <p:anim calcmode="lin" valueType="num">
                                      <p:cBhvr>
                                        <p:cTn id="8" dur="600" fill="hold"/>
                                        <p:tgtEl>
                                          <p:spTgt spid="5"/>
                                        </p:tgtEl>
                                        <p:attrNameLst>
                                          <p:attrName>ppt_x</p:attrName>
                                        </p:attrNameLst>
                                      </p:cBhvr>
                                      <p:tavLst>
                                        <p:tav tm="0">
                                          <p:val>
                                            <p:strVal val="#ppt_x"/>
                                          </p:val>
                                        </p:tav>
                                        <p:tav tm="100000">
                                          <p:val>
                                            <p:strVal val="#ppt_x"/>
                                          </p:val>
                                        </p:tav>
                                      </p:tavLst>
                                    </p:anim>
                                    <p:anim calcmode="lin" valueType="num">
                                      <p:cBhvr>
                                        <p:cTn id="9" dur="600" decel="100000" fill="hold"/>
                                        <p:tgtEl>
                                          <p:spTgt spid="5"/>
                                        </p:tgtEl>
                                        <p:attrNameLst>
                                          <p:attrName>ppt_y</p:attrName>
                                        </p:attrNameLst>
                                      </p:cBhvr>
                                      <p:tavLst>
                                        <p:tav tm="0">
                                          <p:val>
                                            <p:strVal val="#ppt_y+.05"/>
                                          </p:val>
                                        </p:tav>
                                        <p:tav tm="100000">
                                          <p:val>
                                            <p:strVal val="#ppt_y"/>
                                          </p:val>
                                        </p:tav>
                                      </p:tavLst>
                                    </p:anim>
                                  </p:childTnLst>
                                </p:cTn>
                              </p:par>
                            </p:childTnLst>
                          </p:cTn>
                        </p:par>
                        <p:par>
                          <p:cTn id="10" fill="hold">
                            <p:stCondLst>
                              <p:cond delay="250"/>
                            </p:stCondLst>
                            <p:childTnLst>
                              <p:par>
                                <p:cTn id="11" presetID="42"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600"/>
                                        <p:tgtEl>
                                          <p:spTgt spid="6"/>
                                        </p:tgtEl>
                                      </p:cBhvr>
                                    </p:animEffect>
                                    <p:anim calcmode="lin" valueType="num">
                                      <p:cBhvr>
                                        <p:cTn id="14" dur="600" fill="hold"/>
                                        <p:tgtEl>
                                          <p:spTgt spid="6"/>
                                        </p:tgtEl>
                                        <p:attrNameLst>
                                          <p:attrName>ppt_x</p:attrName>
                                        </p:attrNameLst>
                                      </p:cBhvr>
                                      <p:tavLst>
                                        <p:tav tm="0">
                                          <p:val>
                                            <p:strVal val="#ppt_x"/>
                                          </p:val>
                                        </p:tav>
                                        <p:tav tm="100000">
                                          <p:val>
                                            <p:strVal val="#ppt_x"/>
                                          </p:val>
                                        </p:tav>
                                      </p:tavLst>
                                    </p:anim>
                                    <p:anim calcmode="lin" valueType="num">
                                      <p:cBhvr>
                                        <p:cTn id="15" dur="600" decel="100000" fill="hold"/>
                                        <p:tgtEl>
                                          <p:spTgt spid="6"/>
                                        </p:tgtEl>
                                        <p:attrNameLst>
                                          <p:attrName>ppt_y</p:attrName>
                                        </p:attrNameLst>
                                      </p:cBhvr>
                                      <p:tavLst>
                                        <p:tav tm="0">
                                          <p:val>
                                            <p:strVal val="#ppt_y+.05"/>
                                          </p:val>
                                        </p:tav>
                                        <p:tav tm="100000">
                                          <p:val>
                                            <p:strVal val="#ppt_y"/>
                                          </p:val>
                                        </p:tav>
                                      </p:tavLst>
                                    </p:anim>
                                  </p:childTnLst>
                                </p:cTn>
                              </p:par>
                            </p:childTnLst>
                          </p:cTn>
                        </p:par>
                        <p:par>
                          <p:cTn id="16" fill="hold">
                            <p:stCondLst>
                              <p:cond delay="250"/>
                            </p:stCondLst>
                            <p:childTnLst>
                              <p:par>
                                <p:cTn id="17" presetID="42"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600"/>
                                        <p:tgtEl>
                                          <p:spTgt spid="7"/>
                                        </p:tgtEl>
                                      </p:cBhvr>
                                    </p:animEffect>
                                    <p:anim calcmode="lin" valueType="num">
                                      <p:cBhvr>
                                        <p:cTn id="20" dur="600" fill="hold"/>
                                        <p:tgtEl>
                                          <p:spTgt spid="7"/>
                                        </p:tgtEl>
                                        <p:attrNameLst>
                                          <p:attrName>ppt_x</p:attrName>
                                        </p:attrNameLst>
                                      </p:cBhvr>
                                      <p:tavLst>
                                        <p:tav tm="0">
                                          <p:val>
                                            <p:strVal val="#ppt_x"/>
                                          </p:val>
                                        </p:tav>
                                        <p:tav tm="100000">
                                          <p:val>
                                            <p:strVal val="#ppt_x"/>
                                          </p:val>
                                        </p:tav>
                                      </p:tavLst>
                                    </p:anim>
                                    <p:anim calcmode="lin" valueType="num">
                                      <p:cBhvr>
                                        <p:cTn id="21" dur="600" decel="100000" fill="hold"/>
                                        <p:tgtEl>
                                          <p:spTgt spid="7"/>
                                        </p:tgtEl>
                                        <p:attrNameLst>
                                          <p:attrName>ppt_y</p:attrName>
                                        </p:attrNameLst>
                                      </p:cBhvr>
                                      <p:tavLst>
                                        <p:tav tm="0">
                                          <p:val>
                                            <p:strVal val="#ppt_y+.05"/>
                                          </p:val>
                                        </p:tav>
                                        <p:tav tm="100000">
                                          <p:val>
                                            <p:strVal val="#ppt_y"/>
                                          </p:val>
                                        </p:tav>
                                      </p:tavLst>
                                    </p:anim>
                                  </p:childTnLst>
                                </p:cTn>
                              </p:par>
                            </p:childTnLst>
                          </p:cTn>
                        </p:par>
                        <p:par>
                          <p:cTn id="22" fill="hold">
                            <p:stCondLst>
                              <p:cond delay="250"/>
                            </p:stCondLst>
                            <p:childTnLst>
                              <p:par>
                                <p:cTn id="23" presetID="42" presetClass="entr" presetSubtype="0"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600"/>
                                        <p:tgtEl>
                                          <p:spTgt spid="8"/>
                                        </p:tgtEl>
                                      </p:cBhvr>
                                    </p:animEffect>
                                    <p:anim calcmode="lin" valueType="num">
                                      <p:cBhvr>
                                        <p:cTn id="26" dur="600" fill="hold"/>
                                        <p:tgtEl>
                                          <p:spTgt spid="8"/>
                                        </p:tgtEl>
                                        <p:attrNameLst>
                                          <p:attrName>ppt_x</p:attrName>
                                        </p:attrNameLst>
                                      </p:cBhvr>
                                      <p:tavLst>
                                        <p:tav tm="0">
                                          <p:val>
                                            <p:strVal val="#ppt_x"/>
                                          </p:val>
                                        </p:tav>
                                        <p:tav tm="100000">
                                          <p:val>
                                            <p:strVal val="#ppt_x"/>
                                          </p:val>
                                        </p:tav>
                                      </p:tavLst>
                                    </p:anim>
                                    <p:anim calcmode="lin" valueType="num">
                                      <p:cBhvr>
                                        <p:cTn id="27" dur="600" decel="100000" fill="hold"/>
                                        <p:tgtEl>
                                          <p:spTgt spid="8"/>
                                        </p:tgtEl>
                                        <p:attrNameLst>
                                          <p:attrName>ppt_y</p:attrName>
                                        </p:attrNameLst>
                                      </p:cBhvr>
                                      <p:tavLst>
                                        <p:tav tm="0">
                                          <p:val>
                                            <p:strVal val="#ppt_y+.05"/>
                                          </p:val>
                                        </p:tav>
                                        <p:tav tm="100000">
                                          <p:val>
                                            <p:strVal val="#ppt_y"/>
                                          </p:val>
                                        </p:tav>
                                      </p:tavLst>
                                    </p:anim>
                                  </p:childTnLst>
                                </p:cTn>
                              </p:par>
                            </p:childTnLst>
                          </p:cTn>
                        </p:par>
                        <p:par>
                          <p:cTn id="28" fill="hold">
                            <p:stCondLst>
                              <p:cond delay="250"/>
                            </p:stCondLst>
                            <p:childTnLst>
                              <p:par>
                                <p:cTn id="29" presetID="42" presetClass="entr" presetSubtype="0" fill="hold" grpId="0" nodeType="with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fade">
                                      <p:cBhvr>
                                        <p:cTn id="31" dur="600"/>
                                        <p:tgtEl>
                                          <p:spTgt spid="9"/>
                                        </p:tgtEl>
                                      </p:cBhvr>
                                    </p:animEffect>
                                    <p:anim calcmode="lin" valueType="num">
                                      <p:cBhvr>
                                        <p:cTn id="32" dur="600" fill="hold"/>
                                        <p:tgtEl>
                                          <p:spTgt spid="9"/>
                                        </p:tgtEl>
                                        <p:attrNameLst>
                                          <p:attrName>ppt_x</p:attrName>
                                        </p:attrNameLst>
                                      </p:cBhvr>
                                      <p:tavLst>
                                        <p:tav tm="0">
                                          <p:val>
                                            <p:strVal val="#ppt_x"/>
                                          </p:val>
                                        </p:tav>
                                        <p:tav tm="100000">
                                          <p:val>
                                            <p:strVal val="#ppt_x"/>
                                          </p:val>
                                        </p:tav>
                                      </p:tavLst>
                                    </p:anim>
                                    <p:anim calcmode="lin" valueType="num">
                                      <p:cBhvr>
                                        <p:cTn id="33" dur="600" decel="100000" fill="hold"/>
                                        <p:tgtEl>
                                          <p:spTgt spid="9"/>
                                        </p:tgtEl>
                                        <p:attrNameLst>
                                          <p:attrName>ppt_y</p:attrName>
                                        </p:attrNameLst>
                                      </p:cBhvr>
                                      <p:tavLst>
                                        <p:tav tm="0">
                                          <p:val>
                                            <p:strVal val="#ppt_y+.05"/>
                                          </p:val>
                                        </p:tav>
                                        <p:tav tm="100000">
                                          <p:val>
                                            <p:strVal val="#ppt_y"/>
                                          </p:val>
                                        </p:tav>
                                      </p:tavLst>
                                    </p:anim>
                                  </p:childTnLst>
                                </p:cTn>
                              </p:par>
                            </p:childTnLst>
                          </p:cTn>
                        </p:par>
                        <p:par>
                          <p:cTn id="34" fill="hold">
                            <p:stCondLst>
                              <p:cond delay="700"/>
                            </p:stCondLst>
                            <p:childTnLst>
                              <p:par>
                                <p:cTn id="35" presetID="42" presetClass="entr" presetSubtype="0" fill="hold" grpId="0" nodeType="with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600"/>
                                        <p:tgtEl>
                                          <p:spTgt spid="10"/>
                                        </p:tgtEl>
                                      </p:cBhvr>
                                    </p:animEffect>
                                    <p:anim calcmode="lin" valueType="num">
                                      <p:cBhvr>
                                        <p:cTn id="38" dur="600" fill="hold"/>
                                        <p:tgtEl>
                                          <p:spTgt spid="10"/>
                                        </p:tgtEl>
                                        <p:attrNameLst>
                                          <p:attrName>ppt_x</p:attrName>
                                        </p:attrNameLst>
                                      </p:cBhvr>
                                      <p:tavLst>
                                        <p:tav tm="0">
                                          <p:val>
                                            <p:strVal val="#ppt_x"/>
                                          </p:val>
                                        </p:tav>
                                        <p:tav tm="100000">
                                          <p:val>
                                            <p:strVal val="#ppt_x"/>
                                          </p:val>
                                        </p:tav>
                                      </p:tavLst>
                                    </p:anim>
                                    <p:anim calcmode="lin" valueType="num">
                                      <p:cBhvr>
                                        <p:cTn id="39" dur="600" decel="100000" fill="hold"/>
                                        <p:tgtEl>
                                          <p:spTgt spid="10"/>
                                        </p:tgtEl>
                                        <p:attrNameLst>
                                          <p:attrName>ppt_y</p:attrName>
                                        </p:attrNameLst>
                                      </p:cBhvr>
                                      <p:tavLst>
                                        <p:tav tm="0">
                                          <p:val>
                                            <p:strVal val="#ppt_y+.05"/>
                                          </p:val>
                                        </p:tav>
                                        <p:tav tm="100000">
                                          <p:val>
                                            <p:strVal val="#ppt_y"/>
                                          </p:val>
                                        </p:tav>
                                      </p:tavLst>
                                    </p:anim>
                                  </p:childTnLst>
                                </p:cTn>
                              </p:par>
                            </p:childTnLst>
                          </p:cTn>
                        </p:par>
                        <p:par>
                          <p:cTn id="40" fill="hold">
                            <p:stCondLst>
                              <p:cond delay="700"/>
                            </p:stCondLst>
                            <p:childTnLst>
                              <p:par>
                                <p:cTn id="41" presetID="42" presetClass="entr" presetSubtype="0" fill="hold" grpId="0" nodeType="withEffect">
                                  <p:stCondLst>
                                    <p:cond delay="0"/>
                                  </p:stCondLst>
                                  <p:childTnLst>
                                    <p:set>
                                      <p:cBhvr>
                                        <p:cTn id="42" dur="1" fill="hold">
                                          <p:stCondLst>
                                            <p:cond delay="0"/>
                                          </p:stCondLst>
                                        </p:cTn>
                                        <p:tgtEl>
                                          <p:spTgt spid="11"/>
                                        </p:tgtEl>
                                        <p:attrNameLst>
                                          <p:attrName>style.visibility</p:attrName>
                                        </p:attrNameLst>
                                      </p:cBhvr>
                                      <p:to>
                                        <p:strVal val="visible"/>
                                      </p:to>
                                    </p:set>
                                    <p:animEffect transition="in" filter="fade">
                                      <p:cBhvr>
                                        <p:cTn id="43" dur="600"/>
                                        <p:tgtEl>
                                          <p:spTgt spid="11"/>
                                        </p:tgtEl>
                                      </p:cBhvr>
                                    </p:animEffect>
                                    <p:anim calcmode="lin" valueType="num">
                                      <p:cBhvr>
                                        <p:cTn id="44" dur="600" fill="hold"/>
                                        <p:tgtEl>
                                          <p:spTgt spid="11"/>
                                        </p:tgtEl>
                                        <p:attrNameLst>
                                          <p:attrName>ppt_x</p:attrName>
                                        </p:attrNameLst>
                                      </p:cBhvr>
                                      <p:tavLst>
                                        <p:tav tm="0">
                                          <p:val>
                                            <p:strVal val="#ppt_x"/>
                                          </p:val>
                                        </p:tav>
                                        <p:tav tm="100000">
                                          <p:val>
                                            <p:strVal val="#ppt_x"/>
                                          </p:val>
                                        </p:tav>
                                      </p:tavLst>
                                    </p:anim>
                                    <p:anim calcmode="lin" valueType="num">
                                      <p:cBhvr>
                                        <p:cTn id="45" dur="600" decel="100000" fill="hold"/>
                                        <p:tgtEl>
                                          <p:spTgt spid="11"/>
                                        </p:tgtEl>
                                        <p:attrNameLst>
                                          <p:attrName>ppt_y</p:attrName>
                                        </p:attrNameLst>
                                      </p:cBhvr>
                                      <p:tavLst>
                                        <p:tav tm="0">
                                          <p:val>
                                            <p:strVal val="#ppt_y+.05"/>
                                          </p:val>
                                        </p:tav>
                                        <p:tav tm="100000">
                                          <p:val>
                                            <p:strVal val="#ppt_y"/>
                                          </p:val>
                                        </p:tav>
                                      </p:tavLst>
                                    </p:anim>
                                  </p:childTnLst>
                                </p:cTn>
                              </p:par>
                            </p:childTnLst>
                          </p:cTn>
                        </p:par>
                        <p:par>
                          <p:cTn id="46" fill="hold">
                            <p:stCondLst>
                              <p:cond delay="700"/>
                            </p:stCondLst>
                            <p:childTnLst>
                              <p:par>
                                <p:cTn id="47" presetID="42" presetClass="entr" presetSubtype="0" fill="hold" grpId="0" nodeType="withEffect">
                                  <p:stCondLst>
                                    <p:cond delay="0"/>
                                  </p:stCondLst>
                                  <p:childTnLst>
                                    <p:set>
                                      <p:cBhvr>
                                        <p:cTn id="48" dur="1" fill="hold">
                                          <p:stCondLst>
                                            <p:cond delay="0"/>
                                          </p:stCondLst>
                                        </p:cTn>
                                        <p:tgtEl>
                                          <p:spTgt spid="12"/>
                                        </p:tgtEl>
                                        <p:attrNameLst>
                                          <p:attrName>style.visibility</p:attrName>
                                        </p:attrNameLst>
                                      </p:cBhvr>
                                      <p:to>
                                        <p:strVal val="visible"/>
                                      </p:to>
                                    </p:set>
                                    <p:animEffect transition="in" filter="fade">
                                      <p:cBhvr>
                                        <p:cTn id="49" dur="600"/>
                                        <p:tgtEl>
                                          <p:spTgt spid="12"/>
                                        </p:tgtEl>
                                      </p:cBhvr>
                                    </p:animEffect>
                                    <p:anim calcmode="lin" valueType="num">
                                      <p:cBhvr>
                                        <p:cTn id="50" dur="600" fill="hold"/>
                                        <p:tgtEl>
                                          <p:spTgt spid="12"/>
                                        </p:tgtEl>
                                        <p:attrNameLst>
                                          <p:attrName>ppt_x</p:attrName>
                                        </p:attrNameLst>
                                      </p:cBhvr>
                                      <p:tavLst>
                                        <p:tav tm="0">
                                          <p:val>
                                            <p:strVal val="#ppt_x"/>
                                          </p:val>
                                        </p:tav>
                                        <p:tav tm="100000">
                                          <p:val>
                                            <p:strVal val="#ppt_x"/>
                                          </p:val>
                                        </p:tav>
                                      </p:tavLst>
                                    </p:anim>
                                    <p:anim calcmode="lin" valueType="num">
                                      <p:cBhvr>
                                        <p:cTn id="51" dur="600" decel="100000" fill="hold"/>
                                        <p:tgtEl>
                                          <p:spTgt spid="12"/>
                                        </p:tgtEl>
                                        <p:attrNameLst>
                                          <p:attrName>ppt_y</p:attrName>
                                        </p:attrNameLst>
                                      </p:cBhvr>
                                      <p:tavLst>
                                        <p:tav tm="0">
                                          <p:val>
                                            <p:strVal val="#ppt_y+.05"/>
                                          </p:val>
                                        </p:tav>
                                        <p:tav tm="100000">
                                          <p:val>
                                            <p:strVal val="#ppt_y"/>
                                          </p:val>
                                        </p:tav>
                                      </p:tavLst>
                                    </p:anim>
                                  </p:childTnLst>
                                </p:cTn>
                              </p:par>
                            </p:childTnLst>
                          </p:cTn>
                        </p:par>
                        <p:par>
                          <p:cTn id="52" fill="hold">
                            <p:stCondLst>
                              <p:cond delay="700"/>
                            </p:stCondLst>
                            <p:childTnLst>
                              <p:par>
                                <p:cTn id="53" presetID="42" presetClass="entr" presetSubtype="0" fill="hold" grpId="0" nodeType="withEffect">
                                  <p:stCondLst>
                                    <p:cond delay="0"/>
                                  </p:stCondLst>
                                  <p:childTnLst>
                                    <p:set>
                                      <p:cBhvr>
                                        <p:cTn id="54" dur="1" fill="hold">
                                          <p:stCondLst>
                                            <p:cond delay="0"/>
                                          </p:stCondLst>
                                        </p:cTn>
                                        <p:tgtEl>
                                          <p:spTgt spid="13"/>
                                        </p:tgtEl>
                                        <p:attrNameLst>
                                          <p:attrName>style.visibility</p:attrName>
                                        </p:attrNameLst>
                                      </p:cBhvr>
                                      <p:to>
                                        <p:strVal val="visible"/>
                                      </p:to>
                                    </p:set>
                                    <p:animEffect transition="in" filter="fade">
                                      <p:cBhvr>
                                        <p:cTn id="55" dur="600"/>
                                        <p:tgtEl>
                                          <p:spTgt spid="13"/>
                                        </p:tgtEl>
                                      </p:cBhvr>
                                    </p:animEffect>
                                    <p:anim calcmode="lin" valueType="num">
                                      <p:cBhvr>
                                        <p:cTn id="56" dur="600" fill="hold"/>
                                        <p:tgtEl>
                                          <p:spTgt spid="13"/>
                                        </p:tgtEl>
                                        <p:attrNameLst>
                                          <p:attrName>ppt_x</p:attrName>
                                        </p:attrNameLst>
                                      </p:cBhvr>
                                      <p:tavLst>
                                        <p:tav tm="0">
                                          <p:val>
                                            <p:strVal val="#ppt_x"/>
                                          </p:val>
                                        </p:tav>
                                        <p:tav tm="100000">
                                          <p:val>
                                            <p:strVal val="#ppt_x"/>
                                          </p:val>
                                        </p:tav>
                                      </p:tavLst>
                                    </p:anim>
                                    <p:anim calcmode="lin" valueType="num">
                                      <p:cBhvr>
                                        <p:cTn id="57" dur="600" decel="100000" fill="hold"/>
                                        <p:tgtEl>
                                          <p:spTgt spid="13"/>
                                        </p:tgtEl>
                                        <p:attrNameLst>
                                          <p:attrName>ppt_y</p:attrName>
                                        </p:attrNameLst>
                                      </p:cBhvr>
                                      <p:tavLst>
                                        <p:tav tm="0">
                                          <p:val>
                                            <p:strVal val="#ppt_y+.05"/>
                                          </p:val>
                                        </p:tav>
                                        <p:tav tm="100000">
                                          <p:val>
                                            <p:strVal val="#ppt_y"/>
                                          </p:val>
                                        </p:tav>
                                      </p:tavLst>
                                    </p:anim>
                                  </p:childTnLst>
                                </p:cTn>
                              </p:par>
                            </p:childTnLst>
                          </p:cTn>
                        </p:par>
                        <p:par>
                          <p:cTn id="58" fill="hold">
                            <p:stCondLst>
                              <p:cond delay="700"/>
                            </p:stCondLst>
                            <p:childTnLst>
                              <p:par>
                                <p:cTn id="59" presetID="42" presetClass="entr" presetSubtype="0" fill="hold" grpId="0" nodeType="withEffect">
                                  <p:stCondLst>
                                    <p:cond delay="0"/>
                                  </p:stCondLst>
                                  <p:childTnLst>
                                    <p:set>
                                      <p:cBhvr>
                                        <p:cTn id="60" dur="1" fill="hold">
                                          <p:stCondLst>
                                            <p:cond delay="0"/>
                                          </p:stCondLst>
                                        </p:cTn>
                                        <p:tgtEl>
                                          <p:spTgt spid="14"/>
                                        </p:tgtEl>
                                        <p:attrNameLst>
                                          <p:attrName>style.visibility</p:attrName>
                                        </p:attrNameLst>
                                      </p:cBhvr>
                                      <p:to>
                                        <p:strVal val="visible"/>
                                      </p:to>
                                    </p:set>
                                    <p:animEffect transition="in" filter="fade">
                                      <p:cBhvr>
                                        <p:cTn id="61" dur="600"/>
                                        <p:tgtEl>
                                          <p:spTgt spid="14"/>
                                        </p:tgtEl>
                                      </p:cBhvr>
                                    </p:animEffect>
                                    <p:anim calcmode="lin" valueType="num">
                                      <p:cBhvr>
                                        <p:cTn id="62" dur="600" fill="hold"/>
                                        <p:tgtEl>
                                          <p:spTgt spid="14"/>
                                        </p:tgtEl>
                                        <p:attrNameLst>
                                          <p:attrName>ppt_x</p:attrName>
                                        </p:attrNameLst>
                                      </p:cBhvr>
                                      <p:tavLst>
                                        <p:tav tm="0">
                                          <p:val>
                                            <p:strVal val="#ppt_x"/>
                                          </p:val>
                                        </p:tav>
                                        <p:tav tm="100000">
                                          <p:val>
                                            <p:strVal val="#ppt_x"/>
                                          </p:val>
                                        </p:tav>
                                      </p:tavLst>
                                    </p:anim>
                                    <p:anim calcmode="lin" valueType="num">
                                      <p:cBhvr>
                                        <p:cTn id="63" dur="600" decel="100000" fill="hold"/>
                                        <p:tgtEl>
                                          <p:spTgt spid="14"/>
                                        </p:tgtEl>
                                        <p:attrNameLst>
                                          <p:attrName>ppt_y</p:attrName>
                                        </p:attrNameLst>
                                      </p:cBhvr>
                                      <p:tavLst>
                                        <p:tav tm="0">
                                          <p:val>
                                            <p:strVal val="#ppt_y+.05"/>
                                          </p:val>
                                        </p:tav>
                                        <p:tav tm="100000">
                                          <p:val>
                                            <p:strVal val="#ppt_y"/>
                                          </p:val>
                                        </p:tav>
                                      </p:tavLst>
                                    </p:anim>
                                  </p:childTnLst>
                                </p:cTn>
                              </p:par>
                            </p:childTnLst>
                          </p:cTn>
                        </p:par>
                        <p:par>
                          <p:cTn id="64" fill="hold">
                            <p:stCondLst>
                              <p:cond delay="1150"/>
                            </p:stCondLst>
                            <p:childTnLst>
                              <p:par>
                                <p:cTn id="65" presetID="42" presetClass="entr" presetSubtype="0" fill="hold" grpId="0" nodeType="withEffect">
                                  <p:stCondLst>
                                    <p:cond delay="0"/>
                                  </p:stCondLst>
                                  <p:childTnLst>
                                    <p:set>
                                      <p:cBhvr>
                                        <p:cTn id="66" dur="1" fill="hold">
                                          <p:stCondLst>
                                            <p:cond delay="0"/>
                                          </p:stCondLst>
                                        </p:cTn>
                                        <p:tgtEl>
                                          <p:spTgt spid="15"/>
                                        </p:tgtEl>
                                        <p:attrNameLst>
                                          <p:attrName>style.visibility</p:attrName>
                                        </p:attrNameLst>
                                      </p:cBhvr>
                                      <p:to>
                                        <p:strVal val="visible"/>
                                      </p:to>
                                    </p:set>
                                    <p:animEffect transition="in" filter="fade">
                                      <p:cBhvr>
                                        <p:cTn id="67" dur="600"/>
                                        <p:tgtEl>
                                          <p:spTgt spid="15"/>
                                        </p:tgtEl>
                                      </p:cBhvr>
                                    </p:animEffect>
                                    <p:anim calcmode="lin" valueType="num">
                                      <p:cBhvr>
                                        <p:cTn id="68" dur="600" fill="hold"/>
                                        <p:tgtEl>
                                          <p:spTgt spid="15"/>
                                        </p:tgtEl>
                                        <p:attrNameLst>
                                          <p:attrName>ppt_x</p:attrName>
                                        </p:attrNameLst>
                                      </p:cBhvr>
                                      <p:tavLst>
                                        <p:tav tm="0">
                                          <p:val>
                                            <p:strVal val="#ppt_x"/>
                                          </p:val>
                                        </p:tav>
                                        <p:tav tm="100000">
                                          <p:val>
                                            <p:strVal val="#ppt_x"/>
                                          </p:val>
                                        </p:tav>
                                      </p:tavLst>
                                    </p:anim>
                                    <p:anim calcmode="lin" valueType="num">
                                      <p:cBhvr>
                                        <p:cTn id="69" dur="600" decel="100000" fill="hold"/>
                                        <p:tgtEl>
                                          <p:spTgt spid="15"/>
                                        </p:tgtEl>
                                        <p:attrNameLst>
                                          <p:attrName>ppt_y</p:attrName>
                                        </p:attrNameLst>
                                      </p:cBhvr>
                                      <p:tavLst>
                                        <p:tav tm="0">
                                          <p:val>
                                            <p:strVal val="#ppt_y+.05"/>
                                          </p:val>
                                        </p:tav>
                                        <p:tav tm="100000">
                                          <p:val>
                                            <p:strVal val="#ppt_y"/>
                                          </p:val>
                                        </p:tav>
                                      </p:tavLst>
                                    </p:anim>
                                  </p:childTnLst>
                                </p:cTn>
                              </p:par>
                            </p:childTnLst>
                          </p:cTn>
                        </p:par>
                        <p:par>
                          <p:cTn id="70" fill="hold">
                            <p:stCondLst>
                              <p:cond delay="1150"/>
                            </p:stCondLst>
                            <p:childTnLst>
                              <p:par>
                                <p:cTn id="71" presetID="42" presetClass="entr" presetSubtype="0" fill="hold" grpId="0" nodeType="withEffect">
                                  <p:stCondLst>
                                    <p:cond delay="0"/>
                                  </p:stCondLst>
                                  <p:childTnLst>
                                    <p:set>
                                      <p:cBhvr>
                                        <p:cTn id="72" dur="1" fill="hold">
                                          <p:stCondLst>
                                            <p:cond delay="0"/>
                                          </p:stCondLst>
                                        </p:cTn>
                                        <p:tgtEl>
                                          <p:spTgt spid="16"/>
                                        </p:tgtEl>
                                        <p:attrNameLst>
                                          <p:attrName>style.visibility</p:attrName>
                                        </p:attrNameLst>
                                      </p:cBhvr>
                                      <p:to>
                                        <p:strVal val="visible"/>
                                      </p:to>
                                    </p:set>
                                    <p:animEffect transition="in" filter="fade">
                                      <p:cBhvr>
                                        <p:cTn id="73" dur="600"/>
                                        <p:tgtEl>
                                          <p:spTgt spid="16"/>
                                        </p:tgtEl>
                                      </p:cBhvr>
                                    </p:animEffect>
                                    <p:anim calcmode="lin" valueType="num">
                                      <p:cBhvr>
                                        <p:cTn id="74" dur="600" fill="hold"/>
                                        <p:tgtEl>
                                          <p:spTgt spid="16"/>
                                        </p:tgtEl>
                                        <p:attrNameLst>
                                          <p:attrName>ppt_x</p:attrName>
                                        </p:attrNameLst>
                                      </p:cBhvr>
                                      <p:tavLst>
                                        <p:tav tm="0">
                                          <p:val>
                                            <p:strVal val="#ppt_x"/>
                                          </p:val>
                                        </p:tav>
                                        <p:tav tm="100000">
                                          <p:val>
                                            <p:strVal val="#ppt_x"/>
                                          </p:val>
                                        </p:tav>
                                      </p:tavLst>
                                    </p:anim>
                                    <p:anim calcmode="lin" valueType="num">
                                      <p:cBhvr>
                                        <p:cTn id="75" dur="600" decel="100000" fill="hold"/>
                                        <p:tgtEl>
                                          <p:spTgt spid="16"/>
                                        </p:tgtEl>
                                        <p:attrNameLst>
                                          <p:attrName>ppt_y</p:attrName>
                                        </p:attrNameLst>
                                      </p:cBhvr>
                                      <p:tavLst>
                                        <p:tav tm="0">
                                          <p:val>
                                            <p:strVal val="#ppt_y+.05"/>
                                          </p:val>
                                        </p:tav>
                                        <p:tav tm="100000">
                                          <p:val>
                                            <p:strVal val="#ppt_y"/>
                                          </p:val>
                                        </p:tav>
                                      </p:tavLst>
                                    </p:anim>
                                  </p:childTnLst>
                                </p:cTn>
                              </p:par>
                            </p:childTnLst>
                          </p:cTn>
                        </p:par>
                        <p:par>
                          <p:cTn id="76" fill="hold">
                            <p:stCondLst>
                              <p:cond delay="1150"/>
                            </p:stCondLst>
                            <p:childTnLst>
                              <p:par>
                                <p:cTn id="77" presetID="42" presetClass="entr" presetSubtype="0" fill="hold" grpId="0" nodeType="withEffect">
                                  <p:stCondLst>
                                    <p:cond delay="0"/>
                                  </p:stCondLst>
                                  <p:childTnLst>
                                    <p:set>
                                      <p:cBhvr>
                                        <p:cTn id="78" dur="1" fill="hold">
                                          <p:stCondLst>
                                            <p:cond delay="0"/>
                                          </p:stCondLst>
                                        </p:cTn>
                                        <p:tgtEl>
                                          <p:spTgt spid="17"/>
                                        </p:tgtEl>
                                        <p:attrNameLst>
                                          <p:attrName>style.visibility</p:attrName>
                                        </p:attrNameLst>
                                      </p:cBhvr>
                                      <p:to>
                                        <p:strVal val="visible"/>
                                      </p:to>
                                    </p:set>
                                    <p:animEffect transition="in" filter="fade">
                                      <p:cBhvr>
                                        <p:cTn id="79" dur="600"/>
                                        <p:tgtEl>
                                          <p:spTgt spid="17"/>
                                        </p:tgtEl>
                                      </p:cBhvr>
                                    </p:animEffect>
                                    <p:anim calcmode="lin" valueType="num">
                                      <p:cBhvr>
                                        <p:cTn id="80" dur="600" fill="hold"/>
                                        <p:tgtEl>
                                          <p:spTgt spid="17"/>
                                        </p:tgtEl>
                                        <p:attrNameLst>
                                          <p:attrName>ppt_x</p:attrName>
                                        </p:attrNameLst>
                                      </p:cBhvr>
                                      <p:tavLst>
                                        <p:tav tm="0">
                                          <p:val>
                                            <p:strVal val="#ppt_x"/>
                                          </p:val>
                                        </p:tav>
                                        <p:tav tm="100000">
                                          <p:val>
                                            <p:strVal val="#ppt_x"/>
                                          </p:val>
                                        </p:tav>
                                      </p:tavLst>
                                    </p:anim>
                                    <p:anim calcmode="lin" valueType="num">
                                      <p:cBhvr>
                                        <p:cTn id="81" dur="600" decel="100000" fill="hold"/>
                                        <p:tgtEl>
                                          <p:spTgt spid="17"/>
                                        </p:tgtEl>
                                        <p:attrNameLst>
                                          <p:attrName>ppt_y</p:attrName>
                                        </p:attrNameLst>
                                      </p:cBhvr>
                                      <p:tavLst>
                                        <p:tav tm="0">
                                          <p:val>
                                            <p:strVal val="#ppt_y+.05"/>
                                          </p:val>
                                        </p:tav>
                                        <p:tav tm="100000">
                                          <p:val>
                                            <p:strVal val="#ppt_y"/>
                                          </p:val>
                                        </p:tav>
                                      </p:tavLst>
                                    </p:anim>
                                  </p:childTnLst>
                                </p:cTn>
                              </p:par>
                            </p:childTnLst>
                          </p:cTn>
                        </p:par>
                        <p:par>
                          <p:cTn id="82" fill="hold">
                            <p:stCondLst>
                              <p:cond delay="1150"/>
                            </p:stCondLst>
                            <p:childTnLst>
                              <p:par>
                                <p:cTn id="83" presetID="42" presetClass="entr" presetSubtype="0" fill="hold" grpId="0" nodeType="withEffect">
                                  <p:stCondLst>
                                    <p:cond delay="0"/>
                                  </p:stCondLst>
                                  <p:childTnLst>
                                    <p:set>
                                      <p:cBhvr>
                                        <p:cTn id="84" dur="1" fill="hold">
                                          <p:stCondLst>
                                            <p:cond delay="0"/>
                                          </p:stCondLst>
                                        </p:cTn>
                                        <p:tgtEl>
                                          <p:spTgt spid="18"/>
                                        </p:tgtEl>
                                        <p:attrNameLst>
                                          <p:attrName>style.visibility</p:attrName>
                                        </p:attrNameLst>
                                      </p:cBhvr>
                                      <p:to>
                                        <p:strVal val="visible"/>
                                      </p:to>
                                    </p:set>
                                    <p:animEffect transition="in" filter="fade">
                                      <p:cBhvr>
                                        <p:cTn id="85" dur="600"/>
                                        <p:tgtEl>
                                          <p:spTgt spid="18"/>
                                        </p:tgtEl>
                                      </p:cBhvr>
                                    </p:animEffect>
                                    <p:anim calcmode="lin" valueType="num">
                                      <p:cBhvr>
                                        <p:cTn id="86" dur="600" fill="hold"/>
                                        <p:tgtEl>
                                          <p:spTgt spid="18"/>
                                        </p:tgtEl>
                                        <p:attrNameLst>
                                          <p:attrName>ppt_x</p:attrName>
                                        </p:attrNameLst>
                                      </p:cBhvr>
                                      <p:tavLst>
                                        <p:tav tm="0">
                                          <p:val>
                                            <p:strVal val="#ppt_x"/>
                                          </p:val>
                                        </p:tav>
                                        <p:tav tm="100000">
                                          <p:val>
                                            <p:strVal val="#ppt_x"/>
                                          </p:val>
                                        </p:tav>
                                      </p:tavLst>
                                    </p:anim>
                                    <p:anim calcmode="lin" valueType="num">
                                      <p:cBhvr>
                                        <p:cTn id="87" dur="600" decel="100000" fill="hold"/>
                                        <p:tgtEl>
                                          <p:spTgt spid="18"/>
                                        </p:tgtEl>
                                        <p:attrNameLst>
                                          <p:attrName>ppt_y</p:attrName>
                                        </p:attrNameLst>
                                      </p:cBhvr>
                                      <p:tavLst>
                                        <p:tav tm="0">
                                          <p:val>
                                            <p:strVal val="#ppt_y+.05"/>
                                          </p:val>
                                        </p:tav>
                                        <p:tav tm="100000">
                                          <p:val>
                                            <p:strVal val="#ppt_y"/>
                                          </p:val>
                                        </p:tav>
                                      </p:tavLst>
                                    </p:anim>
                                  </p:childTnLst>
                                </p:cTn>
                              </p:par>
                            </p:childTnLst>
                          </p:cTn>
                        </p:par>
                        <p:par>
                          <p:cTn id="88" fill="hold">
                            <p:stCondLst>
                              <p:cond delay="1150"/>
                            </p:stCondLst>
                            <p:childTnLst>
                              <p:par>
                                <p:cTn id="89" presetID="42" presetClass="entr" presetSubtype="0" fill="hold" grpId="0" nodeType="withEffect">
                                  <p:stCondLst>
                                    <p:cond delay="0"/>
                                  </p:stCondLst>
                                  <p:childTnLst>
                                    <p:set>
                                      <p:cBhvr>
                                        <p:cTn id="90" dur="1" fill="hold">
                                          <p:stCondLst>
                                            <p:cond delay="0"/>
                                          </p:stCondLst>
                                        </p:cTn>
                                        <p:tgtEl>
                                          <p:spTgt spid="19"/>
                                        </p:tgtEl>
                                        <p:attrNameLst>
                                          <p:attrName>style.visibility</p:attrName>
                                        </p:attrNameLst>
                                      </p:cBhvr>
                                      <p:to>
                                        <p:strVal val="visible"/>
                                      </p:to>
                                    </p:set>
                                    <p:animEffect transition="in" filter="fade">
                                      <p:cBhvr>
                                        <p:cTn id="91" dur="600"/>
                                        <p:tgtEl>
                                          <p:spTgt spid="19"/>
                                        </p:tgtEl>
                                      </p:cBhvr>
                                    </p:animEffect>
                                    <p:anim calcmode="lin" valueType="num">
                                      <p:cBhvr>
                                        <p:cTn id="92" dur="600" fill="hold"/>
                                        <p:tgtEl>
                                          <p:spTgt spid="19"/>
                                        </p:tgtEl>
                                        <p:attrNameLst>
                                          <p:attrName>ppt_x</p:attrName>
                                        </p:attrNameLst>
                                      </p:cBhvr>
                                      <p:tavLst>
                                        <p:tav tm="0">
                                          <p:val>
                                            <p:strVal val="#ppt_x"/>
                                          </p:val>
                                        </p:tav>
                                        <p:tav tm="100000">
                                          <p:val>
                                            <p:strVal val="#ppt_x"/>
                                          </p:val>
                                        </p:tav>
                                      </p:tavLst>
                                    </p:anim>
                                    <p:anim calcmode="lin" valueType="num">
                                      <p:cBhvr>
                                        <p:cTn id="93" dur="600" decel="100000" fill="hold"/>
                                        <p:tgtEl>
                                          <p:spTgt spid="19"/>
                                        </p:tgtEl>
                                        <p:attrNameLst>
                                          <p:attrName>ppt_y</p:attrName>
                                        </p:attrNameLst>
                                      </p:cBhvr>
                                      <p:tavLst>
                                        <p:tav tm="0">
                                          <p:val>
                                            <p:strVal val="#ppt_y+.05"/>
                                          </p:val>
                                        </p:tav>
                                        <p:tav tm="100000">
                                          <p:val>
                                            <p:strVal val="#ppt_y"/>
                                          </p:val>
                                        </p:tav>
                                      </p:tavLst>
                                    </p:anim>
                                  </p:childTnLst>
                                </p:cTn>
                              </p:par>
                            </p:childTnLst>
                          </p:cTn>
                        </p:par>
                        <p:par>
                          <p:cTn id="94" fill="hold">
                            <p:stCondLst>
                              <p:cond delay="1600"/>
                            </p:stCondLst>
                            <p:childTnLst>
                              <p:par>
                                <p:cTn id="95" presetID="42" presetClass="entr" presetSubtype="0" fill="hold" grpId="0" nodeType="withEffect">
                                  <p:stCondLst>
                                    <p:cond delay="0"/>
                                  </p:stCondLst>
                                  <p:childTnLst>
                                    <p:set>
                                      <p:cBhvr>
                                        <p:cTn id="96" dur="1" fill="hold">
                                          <p:stCondLst>
                                            <p:cond delay="0"/>
                                          </p:stCondLst>
                                        </p:cTn>
                                        <p:tgtEl>
                                          <p:spTgt spid="20"/>
                                        </p:tgtEl>
                                        <p:attrNameLst>
                                          <p:attrName>style.visibility</p:attrName>
                                        </p:attrNameLst>
                                      </p:cBhvr>
                                      <p:to>
                                        <p:strVal val="visible"/>
                                      </p:to>
                                    </p:set>
                                    <p:animEffect transition="in" filter="fade">
                                      <p:cBhvr>
                                        <p:cTn id="97" dur="600"/>
                                        <p:tgtEl>
                                          <p:spTgt spid="20"/>
                                        </p:tgtEl>
                                      </p:cBhvr>
                                    </p:animEffect>
                                    <p:anim calcmode="lin" valueType="num">
                                      <p:cBhvr>
                                        <p:cTn id="98" dur="600" fill="hold"/>
                                        <p:tgtEl>
                                          <p:spTgt spid="20"/>
                                        </p:tgtEl>
                                        <p:attrNameLst>
                                          <p:attrName>ppt_x</p:attrName>
                                        </p:attrNameLst>
                                      </p:cBhvr>
                                      <p:tavLst>
                                        <p:tav tm="0">
                                          <p:val>
                                            <p:strVal val="#ppt_x"/>
                                          </p:val>
                                        </p:tav>
                                        <p:tav tm="100000">
                                          <p:val>
                                            <p:strVal val="#ppt_x"/>
                                          </p:val>
                                        </p:tav>
                                      </p:tavLst>
                                    </p:anim>
                                    <p:anim calcmode="lin" valueType="num">
                                      <p:cBhvr>
                                        <p:cTn id="99" dur="600" decel="100000" fill="hold"/>
                                        <p:tgtEl>
                                          <p:spTgt spid="20"/>
                                        </p:tgtEl>
                                        <p:attrNameLst>
                                          <p:attrName>ppt_y</p:attrName>
                                        </p:attrNameLst>
                                      </p:cBhvr>
                                      <p:tavLst>
                                        <p:tav tm="0">
                                          <p:val>
                                            <p:strVal val="#ppt_y+.05"/>
                                          </p:val>
                                        </p:tav>
                                        <p:tav tm="100000">
                                          <p:val>
                                            <p:strVal val="#ppt_y"/>
                                          </p:val>
                                        </p:tav>
                                      </p:tavLst>
                                    </p:anim>
                                  </p:childTnLst>
                                </p:cTn>
                              </p:par>
                            </p:childTnLst>
                          </p:cTn>
                        </p:par>
                        <p:par>
                          <p:cTn id="100" fill="hold">
                            <p:stCondLst>
                              <p:cond delay="1600"/>
                            </p:stCondLst>
                            <p:childTnLst>
                              <p:par>
                                <p:cTn id="101" presetID="42" presetClass="entr" presetSubtype="0" fill="hold" grpId="0" nodeType="withEffect">
                                  <p:stCondLst>
                                    <p:cond delay="0"/>
                                  </p:stCondLst>
                                  <p:childTnLst>
                                    <p:set>
                                      <p:cBhvr>
                                        <p:cTn id="102" dur="1" fill="hold">
                                          <p:stCondLst>
                                            <p:cond delay="0"/>
                                          </p:stCondLst>
                                        </p:cTn>
                                        <p:tgtEl>
                                          <p:spTgt spid="21"/>
                                        </p:tgtEl>
                                        <p:attrNameLst>
                                          <p:attrName>style.visibility</p:attrName>
                                        </p:attrNameLst>
                                      </p:cBhvr>
                                      <p:to>
                                        <p:strVal val="visible"/>
                                      </p:to>
                                    </p:set>
                                    <p:animEffect transition="in" filter="fade">
                                      <p:cBhvr>
                                        <p:cTn id="103" dur="600"/>
                                        <p:tgtEl>
                                          <p:spTgt spid="21"/>
                                        </p:tgtEl>
                                      </p:cBhvr>
                                    </p:animEffect>
                                    <p:anim calcmode="lin" valueType="num">
                                      <p:cBhvr>
                                        <p:cTn id="104" dur="600" fill="hold"/>
                                        <p:tgtEl>
                                          <p:spTgt spid="21"/>
                                        </p:tgtEl>
                                        <p:attrNameLst>
                                          <p:attrName>ppt_x</p:attrName>
                                        </p:attrNameLst>
                                      </p:cBhvr>
                                      <p:tavLst>
                                        <p:tav tm="0">
                                          <p:val>
                                            <p:strVal val="#ppt_x"/>
                                          </p:val>
                                        </p:tav>
                                        <p:tav tm="100000">
                                          <p:val>
                                            <p:strVal val="#ppt_x"/>
                                          </p:val>
                                        </p:tav>
                                      </p:tavLst>
                                    </p:anim>
                                    <p:anim calcmode="lin" valueType="num">
                                      <p:cBhvr>
                                        <p:cTn id="105" dur="600" decel="100000" fill="hold"/>
                                        <p:tgtEl>
                                          <p:spTgt spid="21"/>
                                        </p:tgtEl>
                                        <p:attrNameLst>
                                          <p:attrName>ppt_y</p:attrName>
                                        </p:attrNameLst>
                                      </p:cBhvr>
                                      <p:tavLst>
                                        <p:tav tm="0">
                                          <p:val>
                                            <p:strVal val="#ppt_y+.05"/>
                                          </p:val>
                                        </p:tav>
                                        <p:tav tm="100000">
                                          <p:val>
                                            <p:strVal val="#ppt_y"/>
                                          </p:val>
                                        </p:tav>
                                      </p:tavLst>
                                    </p:anim>
                                  </p:childTnLst>
                                </p:cTn>
                              </p:par>
                            </p:childTnLst>
                          </p:cTn>
                        </p:par>
                        <p:par>
                          <p:cTn id="106" fill="hold">
                            <p:stCondLst>
                              <p:cond delay="2050"/>
                            </p:stCondLst>
                            <p:childTnLst>
                              <p:par>
                                <p:cTn id="107" presetID="42" presetClass="entr" presetSubtype="0" fill="hold" grpId="0" nodeType="withEffect">
                                  <p:stCondLst>
                                    <p:cond delay="0"/>
                                  </p:stCondLst>
                                  <p:childTnLst>
                                    <p:set>
                                      <p:cBhvr>
                                        <p:cTn id="108" dur="1" fill="hold">
                                          <p:stCondLst>
                                            <p:cond delay="0"/>
                                          </p:stCondLst>
                                        </p:cTn>
                                        <p:tgtEl>
                                          <p:spTgt spid="22"/>
                                        </p:tgtEl>
                                        <p:attrNameLst>
                                          <p:attrName>style.visibility</p:attrName>
                                        </p:attrNameLst>
                                      </p:cBhvr>
                                      <p:to>
                                        <p:strVal val="visible"/>
                                      </p:to>
                                    </p:set>
                                    <p:animEffect transition="in" filter="fade">
                                      <p:cBhvr>
                                        <p:cTn id="109" dur="600"/>
                                        <p:tgtEl>
                                          <p:spTgt spid="22"/>
                                        </p:tgtEl>
                                      </p:cBhvr>
                                    </p:animEffect>
                                    <p:anim calcmode="lin" valueType="num">
                                      <p:cBhvr>
                                        <p:cTn id="110" dur="600" fill="hold"/>
                                        <p:tgtEl>
                                          <p:spTgt spid="22"/>
                                        </p:tgtEl>
                                        <p:attrNameLst>
                                          <p:attrName>ppt_x</p:attrName>
                                        </p:attrNameLst>
                                      </p:cBhvr>
                                      <p:tavLst>
                                        <p:tav tm="0">
                                          <p:val>
                                            <p:strVal val="#ppt_x"/>
                                          </p:val>
                                        </p:tav>
                                        <p:tav tm="100000">
                                          <p:val>
                                            <p:strVal val="#ppt_x"/>
                                          </p:val>
                                        </p:tav>
                                      </p:tavLst>
                                    </p:anim>
                                    <p:anim calcmode="lin" valueType="num">
                                      <p:cBhvr>
                                        <p:cTn id="111" dur="600" decel="100000" fill="hold"/>
                                        <p:tgtEl>
                                          <p:spTgt spid="22"/>
                                        </p:tgtEl>
                                        <p:attrNameLst>
                                          <p:attrName>ppt_y</p:attrName>
                                        </p:attrNameLst>
                                      </p:cBhvr>
                                      <p:tavLst>
                                        <p:tav tm="0">
                                          <p:val>
                                            <p:strVal val="#ppt_y+.05"/>
                                          </p:val>
                                        </p:tav>
                                        <p:tav tm="100000">
                                          <p:val>
                                            <p:strVal val="#ppt_y"/>
                                          </p:val>
                                        </p:tav>
                                      </p:tavLst>
                                    </p:anim>
                                  </p:childTnLst>
                                </p:cTn>
                              </p:par>
                            </p:childTnLst>
                          </p:cTn>
                        </p:par>
                        <p:par>
                          <p:cTn id="112" fill="hold">
                            <p:stCondLst>
                              <p:cond delay="2050"/>
                            </p:stCondLst>
                            <p:childTnLst>
                              <p:par>
                                <p:cTn id="113" presetID="42" presetClass="entr" presetSubtype="0" fill="hold" grpId="0" nodeType="withEffect">
                                  <p:stCondLst>
                                    <p:cond delay="0"/>
                                  </p:stCondLst>
                                  <p:childTnLst>
                                    <p:set>
                                      <p:cBhvr>
                                        <p:cTn id="114" dur="1" fill="hold">
                                          <p:stCondLst>
                                            <p:cond delay="0"/>
                                          </p:stCondLst>
                                        </p:cTn>
                                        <p:tgtEl>
                                          <p:spTgt spid="23"/>
                                        </p:tgtEl>
                                        <p:attrNameLst>
                                          <p:attrName>style.visibility</p:attrName>
                                        </p:attrNameLst>
                                      </p:cBhvr>
                                      <p:to>
                                        <p:strVal val="visible"/>
                                      </p:to>
                                    </p:set>
                                    <p:animEffect transition="in" filter="fade">
                                      <p:cBhvr>
                                        <p:cTn id="115" dur="600"/>
                                        <p:tgtEl>
                                          <p:spTgt spid="23"/>
                                        </p:tgtEl>
                                      </p:cBhvr>
                                    </p:animEffect>
                                    <p:anim calcmode="lin" valueType="num">
                                      <p:cBhvr>
                                        <p:cTn id="116" dur="600" fill="hold"/>
                                        <p:tgtEl>
                                          <p:spTgt spid="23"/>
                                        </p:tgtEl>
                                        <p:attrNameLst>
                                          <p:attrName>ppt_x</p:attrName>
                                        </p:attrNameLst>
                                      </p:cBhvr>
                                      <p:tavLst>
                                        <p:tav tm="0">
                                          <p:val>
                                            <p:strVal val="#ppt_x"/>
                                          </p:val>
                                        </p:tav>
                                        <p:tav tm="100000">
                                          <p:val>
                                            <p:strVal val="#ppt_x"/>
                                          </p:val>
                                        </p:tav>
                                      </p:tavLst>
                                    </p:anim>
                                    <p:anim calcmode="lin" valueType="num">
                                      <p:cBhvr>
                                        <p:cTn id="117" dur="600" decel="100000" fill="hold"/>
                                        <p:tgtEl>
                                          <p:spTgt spid="23"/>
                                        </p:tgtEl>
                                        <p:attrNameLst>
                                          <p:attrName>ppt_y</p:attrName>
                                        </p:attrNameLst>
                                      </p:cBhvr>
                                      <p:tavLst>
                                        <p:tav tm="0">
                                          <p:val>
                                            <p:strVal val="#ppt_y+.05"/>
                                          </p:val>
                                        </p:tav>
                                        <p:tav tm="100000">
                                          <p:val>
                                            <p:strVal val="#ppt_y"/>
                                          </p:val>
                                        </p:tav>
                                      </p:tavLst>
                                    </p:anim>
                                  </p:childTnLst>
                                </p:cTn>
                              </p:par>
                            </p:childTnLst>
                          </p:cTn>
                        </p:par>
                        <p:par>
                          <p:cTn id="118" fill="hold">
                            <p:stCondLst>
                              <p:cond delay="2050"/>
                            </p:stCondLst>
                            <p:childTnLst>
                              <p:par>
                                <p:cTn id="119" presetID="42" presetClass="entr" presetSubtype="0" fill="hold" grpId="0" nodeType="withEffect">
                                  <p:stCondLst>
                                    <p:cond delay="0"/>
                                  </p:stCondLst>
                                  <p:childTnLst>
                                    <p:set>
                                      <p:cBhvr>
                                        <p:cTn id="120" dur="1" fill="hold">
                                          <p:stCondLst>
                                            <p:cond delay="0"/>
                                          </p:stCondLst>
                                        </p:cTn>
                                        <p:tgtEl>
                                          <p:spTgt spid="24"/>
                                        </p:tgtEl>
                                        <p:attrNameLst>
                                          <p:attrName>style.visibility</p:attrName>
                                        </p:attrNameLst>
                                      </p:cBhvr>
                                      <p:to>
                                        <p:strVal val="visible"/>
                                      </p:to>
                                    </p:set>
                                    <p:animEffect transition="in" filter="fade">
                                      <p:cBhvr>
                                        <p:cTn id="121" dur="600"/>
                                        <p:tgtEl>
                                          <p:spTgt spid="24"/>
                                        </p:tgtEl>
                                      </p:cBhvr>
                                    </p:animEffect>
                                    <p:anim calcmode="lin" valueType="num">
                                      <p:cBhvr>
                                        <p:cTn id="122" dur="600" fill="hold"/>
                                        <p:tgtEl>
                                          <p:spTgt spid="24"/>
                                        </p:tgtEl>
                                        <p:attrNameLst>
                                          <p:attrName>ppt_x</p:attrName>
                                        </p:attrNameLst>
                                      </p:cBhvr>
                                      <p:tavLst>
                                        <p:tav tm="0">
                                          <p:val>
                                            <p:strVal val="#ppt_x"/>
                                          </p:val>
                                        </p:tav>
                                        <p:tav tm="100000">
                                          <p:val>
                                            <p:strVal val="#ppt_x"/>
                                          </p:val>
                                        </p:tav>
                                      </p:tavLst>
                                    </p:anim>
                                    <p:anim calcmode="lin" valueType="num">
                                      <p:cBhvr>
                                        <p:cTn id="123" dur="600" decel="100000" fill="hold"/>
                                        <p:tgtEl>
                                          <p:spTgt spid="24"/>
                                        </p:tgtEl>
                                        <p:attrNameLst>
                                          <p:attrName>ppt_y</p:attrName>
                                        </p:attrNameLst>
                                      </p:cBhvr>
                                      <p:tavLst>
                                        <p:tav tm="0">
                                          <p:val>
                                            <p:strVal val="#ppt_y+.05"/>
                                          </p:val>
                                        </p:tav>
                                        <p:tav tm="100000">
                                          <p:val>
                                            <p:strVal val="#ppt_y"/>
                                          </p:val>
                                        </p:tav>
                                      </p:tavLst>
                                    </p:anim>
                                  </p:childTnLst>
                                </p:cTn>
                              </p:par>
                            </p:childTnLst>
                          </p:cTn>
                        </p:par>
                        <p:par>
                          <p:cTn id="124" fill="hold">
                            <p:stCondLst>
                              <p:cond delay="2050"/>
                            </p:stCondLst>
                            <p:childTnLst>
                              <p:par>
                                <p:cTn id="125" presetID="42" presetClass="entr" presetSubtype="0" fill="hold" grpId="0" nodeType="withEffect">
                                  <p:stCondLst>
                                    <p:cond delay="0"/>
                                  </p:stCondLst>
                                  <p:childTnLst>
                                    <p:set>
                                      <p:cBhvr>
                                        <p:cTn id="126" dur="1" fill="hold">
                                          <p:stCondLst>
                                            <p:cond delay="0"/>
                                          </p:stCondLst>
                                        </p:cTn>
                                        <p:tgtEl>
                                          <p:spTgt spid="25"/>
                                        </p:tgtEl>
                                        <p:attrNameLst>
                                          <p:attrName>style.visibility</p:attrName>
                                        </p:attrNameLst>
                                      </p:cBhvr>
                                      <p:to>
                                        <p:strVal val="visible"/>
                                      </p:to>
                                    </p:set>
                                    <p:animEffect transition="in" filter="fade">
                                      <p:cBhvr>
                                        <p:cTn id="127" dur="600"/>
                                        <p:tgtEl>
                                          <p:spTgt spid="25"/>
                                        </p:tgtEl>
                                      </p:cBhvr>
                                    </p:animEffect>
                                    <p:anim calcmode="lin" valueType="num">
                                      <p:cBhvr>
                                        <p:cTn id="128" dur="600" fill="hold"/>
                                        <p:tgtEl>
                                          <p:spTgt spid="25"/>
                                        </p:tgtEl>
                                        <p:attrNameLst>
                                          <p:attrName>ppt_x</p:attrName>
                                        </p:attrNameLst>
                                      </p:cBhvr>
                                      <p:tavLst>
                                        <p:tav tm="0">
                                          <p:val>
                                            <p:strVal val="#ppt_x"/>
                                          </p:val>
                                        </p:tav>
                                        <p:tav tm="100000">
                                          <p:val>
                                            <p:strVal val="#ppt_x"/>
                                          </p:val>
                                        </p:tav>
                                      </p:tavLst>
                                    </p:anim>
                                    <p:anim calcmode="lin" valueType="num">
                                      <p:cBhvr>
                                        <p:cTn id="129" dur="600" decel="100000" fill="hold"/>
                                        <p:tgtEl>
                                          <p:spTgt spid="25"/>
                                        </p:tgtEl>
                                        <p:attrNameLst>
                                          <p:attrName>ppt_y</p:attrName>
                                        </p:attrNameLst>
                                      </p:cBhvr>
                                      <p:tavLst>
                                        <p:tav tm="0">
                                          <p:val>
                                            <p:strVal val="#ppt_y+.05"/>
                                          </p:val>
                                        </p:tav>
                                        <p:tav tm="100000">
                                          <p:val>
                                            <p:strVal val="#ppt_y"/>
                                          </p:val>
                                        </p:tav>
                                      </p:tavLst>
                                    </p:anim>
                                  </p:childTnLst>
                                </p:cTn>
                              </p:par>
                            </p:childTnLst>
                          </p:cTn>
                        </p:par>
                        <p:par>
                          <p:cTn id="130" fill="hold">
                            <p:stCondLst>
                              <p:cond delay="2050"/>
                            </p:stCondLst>
                            <p:childTnLst>
                              <p:par>
                                <p:cTn id="131" presetID="42" presetClass="entr" presetSubtype="0" fill="hold" grpId="0" nodeType="withEffect">
                                  <p:stCondLst>
                                    <p:cond delay="0"/>
                                  </p:stCondLst>
                                  <p:childTnLst>
                                    <p:set>
                                      <p:cBhvr>
                                        <p:cTn id="132" dur="1" fill="hold">
                                          <p:stCondLst>
                                            <p:cond delay="0"/>
                                          </p:stCondLst>
                                        </p:cTn>
                                        <p:tgtEl>
                                          <p:spTgt spid="26"/>
                                        </p:tgtEl>
                                        <p:attrNameLst>
                                          <p:attrName>style.visibility</p:attrName>
                                        </p:attrNameLst>
                                      </p:cBhvr>
                                      <p:to>
                                        <p:strVal val="visible"/>
                                      </p:to>
                                    </p:set>
                                    <p:animEffect transition="in" filter="fade">
                                      <p:cBhvr>
                                        <p:cTn id="133" dur="600"/>
                                        <p:tgtEl>
                                          <p:spTgt spid="26"/>
                                        </p:tgtEl>
                                      </p:cBhvr>
                                    </p:animEffect>
                                    <p:anim calcmode="lin" valueType="num">
                                      <p:cBhvr>
                                        <p:cTn id="134" dur="600" fill="hold"/>
                                        <p:tgtEl>
                                          <p:spTgt spid="26"/>
                                        </p:tgtEl>
                                        <p:attrNameLst>
                                          <p:attrName>ppt_x</p:attrName>
                                        </p:attrNameLst>
                                      </p:cBhvr>
                                      <p:tavLst>
                                        <p:tav tm="0">
                                          <p:val>
                                            <p:strVal val="#ppt_x"/>
                                          </p:val>
                                        </p:tav>
                                        <p:tav tm="100000">
                                          <p:val>
                                            <p:strVal val="#ppt_x"/>
                                          </p:val>
                                        </p:tav>
                                      </p:tavLst>
                                    </p:anim>
                                    <p:anim calcmode="lin" valueType="num">
                                      <p:cBhvr>
                                        <p:cTn id="135" dur="600" decel="100000" fill="hold"/>
                                        <p:tgtEl>
                                          <p:spTgt spid="26"/>
                                        </p:tgtEl>
                                        <p:attrNameLst>
                                          <p:attrName>ppt_y</p:attrName>
                                        </p:attrNameLst>
                                      </p:cBhvr>
                                      <p:tavLst>
                                        <p:tav tm="0">
                                          <p:val>
                                            <p:strVal val="#ppt_y+.05"/>
                                          </p:val>
                                        </p:tav>
                                        <p:tav tm="100000">
                                          <p:val>
                                            <p:strVal val="#ppt_y"/>
                                          </p:val>
                                        </p:tav>
                                      </p:tavLst>
                                    </p:anim>
                                  </p:childTnLst>
                                </p:cTn>
                              </p:par>
                            </p:childTnLst>
                          </p:cTn>
                        </p:par>
                        <p:par>
                          <p:cTn id="136" fill="hold">
                            <p:stCondLst>
                              <p:cond delay="2500"/>
                            </p:stCondLst>
                            <p:childTnLst>
                              <p:par>
                                <p:cTn id="137" presetID="42" presetClass="entr" presetSubtype="0" fill="hold" grpId="0" nodeType="withEffect">
                                  <p:stCondLst>
                                    <p:cond delay="0"/>
                                  </p:stCondLst>
                                  <p:childTnLst>
                                    <p:set>
                                      <p:cBhvr>
                                        <p:cTn id="138" dur="1" fill="hold">
                                          <p:stCondLst>
                                            <p:cond delay="0"/>
                                          </p:stCondLst>
                                        </p:cTn>
                                        <p:tgtEl>
                                          <p:spTgt spid="27"/>
                                        </p:tgtEl>
                                        <p:attrNameLst>
                                          <p:attrName>style.visibility</p:attrName>
                                        </p:attrNameLst>
                                      </p:cBhvr>
                                      <p:to>
                                        <p:strVal val="visible"/>
                                      </p:to>
                                    </p:set>
                                    <p:animEffect transition="in" filter="fade">
                                      <p:cBhvr>
                                        <p:cTn id="139" dur="600"/>
                                        <p:tgtEl>
                                          <p:spTgt spid="27"/>
                                        </p:tgtEl>
                                      </p:cBhvr>
                                    </p:animEffect>
                                    <p:anim calcmode="lin" valueType="num">
                                      <p:cBhvr>
                                        <p:cTn id="140" dur="600" fill="hold"/>
                                        <p:tgtEl>
                                          <p:spTgt spid="27"/>
                                        </p:tgtEl>
                                        <p:attrNameLst>
                                          <p:attrName>ppt_x</p:attrName>
                                        </p:attrNameLst>
                                      </p:cBhvr>
                                      <p:tavLst>
                                        <p:tav tm="0">
                                          <p:val>
                                            <p:strVal val="#ppt_x"/>
                                          </p:val>
                                        </p:tav>
                                        <p:tav tm="100000">
                                          <p:val>
                                            <p:strVal val="#ppt_x"/>
                                          </p:val>
                                        </p:tav>
                                      </p:tavLst>
                                    </p:anim>
                                    <p:anim calcmode="lin" valueType="num">
                                      <p:cBhvr>
                                        <p:cTn id="141" dur="600" decel="100000" fill="hold"/>
                                        <p:tgtEl>
                                          <p:spTgt spid="27"/>
                                        </p:tgtEl>
                                        <p:attrNameLst>
                                          <p:attrName>ppt_y</p:attrName>
                                        </p:attrNameLst>
                                      </p:cBhvr>
                                      <p:tavLst>
                                        <p:tav tm="0">
                                          <p:val>
                                            <p:strVal val="#ppt_y+.05"/>
                                          </p:val>
                                        </p:tav>
                                        <p:tav tm="100000">
                                          <p:val>
                                            <p:strVal val="#ppt_y"/>
                                          </p:val>
                                        </p:tav>
                                      </p:tavLst>
                                    </p:anim>
                                  </p:childTnLst>
                                </p:cTn>
                              </p:par>
                            </p:childTnLst>
                          </p:cTn>
                        </p:par>
                        <p:par>
                          <p:cTn id="142" fill="hold">
                            <p:stCondLst>
                              <p:cond delay="2500"/>
                            </p:stCondLst>
                            <p:childTnLst>
                              <p:par>
                                <p:cTn id="143" presetID="42" presetClass="entr" presetSubtype="0" fill="hold" grpId="0" nodeType="withEffect">
                                  <p:stCondLst>
                                    <p:cond delay="0"/>
                                  </p:stCondLst>
                                  <p:childTnLst>
                                    <p:set>
                                      <p:cBhvr>
                                        <p:cTn id="144" dur="1" fill="hold">
                                          <p:stCondLst>
                                            <p:cond delay="0"/>
                                          </p:stCondLst>
                                        </p:cTn>
                                        <p:tgtEl>
                                          <p:spTgt spid="28"/>
                                        </p:tgtEl>
                                        <p:attrNameLst>
                                          <p:attrName>style.visibility</p:attrName>
                                        </p:attrNameLst>
                                      </p:cBhvr>
                                      <p:to>
                                        <p:strVal val="visible"/>
                                      </p:to>
                                    </p:set>
                                    <p:animEffect transition="in" filter="fade">
                                      <p:cBhvr>
                                        <p:cTn id="145" dur="600"/>
                                        <p:tgtEl>
                                          <p:spTgt spid="28"/>
                                        </p:tgtEl>
                                      </p:cBhvr>
                                    </p:animEffect>
                                    <p:anim calcmode="lin" valueType="num">
                                      <p:cBhvr>
                                        <p:cTn id="146" dur="600" fill="hold"/>
                                        <p:tgtEl>
                                          <p:spTgt spid="28"/>
                                        </p:tgtEl>
                                        <p:attrNameLst>
                                          <p:attrName>ppt_x</p:attrName>
                                        </p:attrNameLst>
                                      </p:cBhvr>
                                      <p:tavLst>
                                        <p:tav tm="0">
                                          <p:val>
                                            <p:strVal val="#ppt_x"/>
                                          </p:val>
                                        </p:tav>
                                        <p:tav tm="100000">
                                          <p:val>
                                            <p:strVal val="#ppt_x"/>
                                          </p:val>
                                        </p:tav>
                                      </p:tavLst>
                                    </p:anim>
                                    <p:anim calcmode="lin" valueType="num">
                                      <p:cBhvr>
                                        <p:cTn id="147" dur="600" decel="100000" fill="hold"/>
                                        <p:tgtEl>
                                          <p:spTgt spid="28"/>
                                        </p:tgtEl>
                                        <p:attrNameLst>
                                          <p:attrName>ppt_y</p:attrName>
                                        </p:attrNameLst>
                                      </p:cBhvr>
                                      <p:tavLst>
                                        <p:tav tm="0">
                                          <p:val>
                                            <p:strVal val="#ppt_y+.05"/>
                                          </p:val>
                                        </p:tav>
                                        <p:tav tm="100000">
                                          <p:val>
                                            <p:strVal val="#ppt_y"/>
                                          </p:val>
                                        </p:tav>
                                      </p:tavLst>
                                    </p:anim>
                                  </p:childTnLst>
                                </p:cTn>
                              </p:par>
                            </p:childTnLst>
                          </p:cTn>
                        </p:par>
                        <p:par>
                          <p:cTn id="148" fill="hold">
                            <p:stCondLst>
                              <p:cond delay="2500"/>
                            </p:stCondLst>
                            <p:childTnLst>
                              <p:par>
                                <p:cTn id="149" presetID="42" presetClass="entr" presetSubtype="0" fill="hold" grpId="0" nodeType="withEffect">
                                  <p:stCondLst>
                                    <p:cond delay="0"/>
                                  </p:stCondLst>
                                  <p:childTnLst>
                                    <p:set>
                                      <p:cBhvr>
                                        <p:cTn id="150" dur="1" fill="hold">
                                          <p:stCondLst>
                                            <p:cond delay="0"/>
                                          </p:stCondLst>
                                        </p:cTn>
                                        <p:tgtEl>
                                          <p:spTgt spid="29"/>
                                        </p:tgtEl>
                                        <p:attrNameLst>
                                          <p:attrName>style.visibility</p:attrName>
                                        </p:attrNameLst>
                                      </p:cBhvr>
                                      <p:to>
                                        <p:strVal val="visible"/>
                                      </p:to>
                                    </p:set>
                                    <p:animEffect transition="in" filter="fade">
                                      <p:cBhvr>
                                        <p:cTn id="151" dur="600"/>
                                        <p:tgtEl>
                                          <p:spTgt spid="29"/>
                                        </p:tgtEl>
                                      </p:cBhvr>
                                    </p:animEffect>
                                    <p:anim calcmode="lin" valueType="num">
                                      <p:cBhvr>
                                        <p:cTn id="152" dur="600" fill="hold"/>
                                        <p:tgtEl>
                                          <p:spTgt spid="29"/>
                                        </p:tgtEl>
                                        <p:attrNameLst>
                                          <p:attrName>ppt_x</p:attrName>
                                        </p:attrNameLst>
                                      </p:cBhvr>
                                      <p:tavLst>
                                        <p:tav tm="0">
                                          <p:val>
                                            <p:strVal val="#ppt_x"/>
                                          </p:val>
                                        </p:tav>
                                        <p:tav tm="100000">
                                          <p:val>
                                            <p:strVal val="#ppt_x"/>
                                          </p:val>
                                        </p:tav>
                                      </p:tavLst>
                                    </p:anim>
                                    <p:anim calcmode="lin" valueType="num">
                                      <p:cBhvr>
                                        <p:cTn id="153" dur="600" decel="100000" fill="hold"/>
                                        <p:tgtEl>
                                          <p:spTgt spid="29"/>
                                        </p:tgtEl>
                                        <p:attrNameLst>
                                          <p:attrName>ppt_y</p:attrName>
                                        </p:attrNameLst>
                                      </p:cBhvr>
                                      <p:tavLst>
                                        <p:tav tm="0">
                                          <p:val>
                                            <p:strVal val="#ppt_y+.05"/>
                                          </p:val>
                                        </p:tav>
                                        <p:tav tm="100000">
                                          <p:val>
                                            <p:strVal val="#ppt_y"/>
                                          </p:val>
                                        </p:tav>
                                      </p:tavLst>
                                    </p:anim>
                                  </p:childTnLst>
                                </p:cTn>
                              </p:par>
                            </p:childTnLst>
                          </p:cTn>
                        </p:par>
                        <p:par>
                          <p:cTn id="154" fill="hold">
                            <p:stCondLst>
                              <p:cond delay="2500"/>
                            </p:stCondLst>
                            <p:childTnLst>
                              <p:par>
                                <p:cTn id="155" presetID="42" presetClass="entr" presetSubtype="0" fill="hold" grpId="0" nodeType="withEffect">
                                  <p:stCondLst>
                                    <p:cond delay="0"/>
                                  </p:stCondLst>
                                  <p:childTnLst>
                                    <p:set>
                                      <p:cBhvr>
                                        <p:cTn id="156" dur="1" fill="hold">
                                          <p:stCondLst>
                                            <p:cond delay="0"/>
                                          </p:stCondLst>
                                        </p:cTn>
                                        <p:tgtEl>
                                          <p:spTgt spid="30"/>
                                        </p:tgtEl>
                                        <p:attrNameLst>
                                          <p:attrName>style.visibility</p:attrName>
                                        </p:attrNameLst>
                                      </p:cBhvr>
                                      <p:to>
                                        <p:strVal val="visible"/>
                                      </p:to>
                                    </p:set>
                                    <p:animEffect transition="in" filter="fade">
                                      <p:cBhvr>
                                        <p:cTn id="157" dur="600"/>
                                        <p:tgtEl>
                                          <p:spTgt spid="30"/>
                                        </p:tgtEl>
                                      </p:cBhvr>
                                    </p:animEffect>
                                    <p:anim calcmode="lin" valueType="num">
                                      <p:cBhvr>
                                        <p:cTn id="158" dur="600" fill="hold"/>
                                        <p:tgtEl>
                                          <p:spTgt spid="30"/>
                                        </p:tgtEl>
                                        <p:attrNameLst>
                                          <p:attrName>ppt_x</p:attrName>
                                        </p:attrNameLst>
                                      </p:cBhvr>
                                      <p:tavLst>
                                        <p:tav tm="0">
                                          <p:val>
                                            <p:strVal val="#ppt_x"/>
                                          </p:val>
                                        </p:tav>
                                        <p:tav tm="100000">
                                          <p:val>
                                            <p:strVal val="#ppt_x"/>
                                          </p:val>
                                        </p:tav>
                                      </p:tavLst>
                                    </p:anim>
                                    <p:anim calcmode="lin" valueType="num">
                                      <p:cBhvr>
                                        <p:cTn id="159" dur="600" decel="100000" fill="hold"/>
                                        <p:tgtEl>
                                          <p:spTgt spid="30"/>
                                        </p:tgtEl>
                                        <p:attrNameLst>
                                          <p:attrName>ppt_y</p:attrName>
                                        </p:attrNameLst>
                                      </p:cBhvr>
                                      <p:tavLst>
                                        <p:tav tm="0">
                                          <p:val>
                                            <p:strVal val="#ppt_y+.05"/>
                                          </p:val>
                                        </p:tav>
                                        <p:tav tm="100000">
                                          <p:val>
                                            <p:strVal val="#ppt_y"/>
                                          </p:val>
                                        </p:tav>
                                      </p:tavLst>
                                    </p:anim>
                                  </p:childTnLst>
                                </p:cTn>
                              </p:par>
                            </p:childTnLst>
                          </p:cTn>
                        </p:par>
                        <p:par>
                          <p:cTn id="160" fill="hold">
                            <p:stCondLst>
                              <p:cond delay="2500"/>
                            </p:stCondLst>
                            <p:childTnLst>
                              <p:par>
                                <p:cTn id="161" presetID="42" presetClass="entr" presetSubtype="0" fill="hold" grpId="0" nodeType="withEffect">
                                  <p:stCondLst>
                                    <p:cond delay="0"/>
                                  </p:stCondLst>
                                  <p:childTnLst>
                                    <p:set>
                                      <p:cBhvr>
                                        <p:cTn id="162" dur="1" fill="hold">
                                          <p:stCondLst>
                                            <p:cond delay="0"/>
                                          </p:stCondLst>
                                        </p:cTn>
                                        <p:tgtEl>
                                          <p:spTgt spid="31"/>
                                        </p:tgtEl>
                                        <p:attrNameLst>
                                          <p:attrName>style.visibility</p:attrName>
                                        </p:attrNameLst>
                                      </p:cBhvr>
                                      <p:to>
                                        <p:strVal val="visible"/>
                                      </p:to>
                                    </p:set>
                                    <p:animEffect transition="in" filter="fade">
                                      <p:cBhvr>
                                        <p:cTn id="163" dur="600"/>
                                        <p:tgtEl>
                                          <p:spTgt spid="31"/>
                                        </p:tgtEl>
                                      </p:cBhvr>
                                    </p:animEffect>
                                    <p:anim calcmode="lin" valueType="num">
                                      <p:cBhvr>
                                        <p:cTn id="164" dur="600" fill="hold"/>
                                        <p:tgtEl>
                                          <p:spTgt spid="31"/>
                                        </p:tgtEl>
                                        <p:attrNameLst>
                                          <p:attrName>ppt_x</p:attrName>
                                        </p:attrNameLst>
                                      </p:cBhvr>
                                      <p:tavLst>
                                        <p:tav tm="0">
                                          <p:val>
                                            <p:strVal val="#ppt_x"/>
                                          </p:val>
                                        </p:tav>
                                        <p:tav tm="100000">
                                          <p:val>
                                            <p:strVal val="#ppt_x"/>
                                          </p:val>
                                        </p:tav>
                                      </p:tavLst>
                                    </p:anim>
                                    <p:anim calcmode="lin" valueType="num">
                                      <p:cBhvr>
                                        <p:cTn id="165" dur="600" decel="100000" fill="hold"/>
                                        <p:tgtEl>
                                          <p:spTgt spid="31"/>
                                        </p:tgtEl>
                                        <p:attrNameLst>
                                          <p:attrName>ppt_y</p:attrName>
                                        </p:attrNameLst>
                                      </p:cBhvr>
                                      <p:tavLst>
                                        <p:tav tm="0">
                                          <p:val>
                                            <p:strVal val="#ppt_y+.05"/>
                                          </p:val>
                                        </p:tav>
                                        <p:tav tm="100000">
                                          <p:val>
                                            <p:strVal val="#ppt_y"/>
                                          </p:val>
                                        </p:tav>
                                      </p:tavLst>
                                    </p:anim>
                                  </p:childTnLst>
                                </p:cTn>
                              </p:par>
                            </p:childTnLst>
                          </p:cTn>
                        </p:par>
                        <p:par>
                          <p:cTn id="166" fill="hold">
                            <p:stCondLst>
                              <p:cond delay="2950"/>
                            </p:stCondLst>
                            <p:childTnLst>
                              <p:par>
                                <p:cTn id="167" presetID="42" presetClass="entr" presetSubtype="0" fill="hold" grpId="0" nodeType="withEffect">
                                  <p:stCondLst>
                                    <p:cond delay="0"/>
                                  </p:stCondLst>
                                  <p:childTnLst>
                                    <p:set>
                                      <p:cBhvr>
                                        <p:cTn id="168" dur="1" fill="hold">
                                          <p:stCondLst>
                                            <p:cond delay="0"/>
                                          </p:stCondLst>
                                        </p:cTn>
                                        <p:tgtEl>
                                          <p:spTgt spid="32"/>
                                        </p:tgtEl>
                                        <p:attrNameLst>
                                          <p:attrName>style.visibility</p:attrName>
                                        </p:attrNameLst>
                                      </p:cBhvr>
                                      <p:to>
                                        <p:strVal val="visible"/>
                                      </p:to>
                                    </p:set>
                                    <p:animEffect transition="in" filter="fade">
                                      <p:cBhvr>
                                        <p:cTn id="169" dur="600"/>
                                        <p:tgtEl>
                                          <p:spTgt spid="32"/>
                                        </p:tgtEl>
                                      </p:cBhvr>
                                    </p:animEffect>
                                    <p:anim calcmode="lin" valueType="num">
                                      <p:cBhvr>
                                        <p:cTn id="170" dur="600" fill="hold"/>
                                        <p:tgtEl>
                                          <p:spTgt spid="32"/>
                                        </p:tgtEl>
                                        <p:attrNameLst>
                                          <p:attrName>ppt_x</p:attrName>
                                        </p:attrNameLst>
                                      </p:cBhvr>
                                      <p:tavLst>
                                        <p:tav tm="0">
                                          <p:val>
                                            <p:strVal val="#ppt_x"/>
                                          </p:val>
                                        </p:tav>
                                        <p:tav tm="100000">
                                          <p:val>
                                            <p:strVal val="#ppt_x"/>
                                          </p:val>
                                        </p:tav>
                                      </p:tavLst>
                                    </p:anim>
                                    <p:anim calcmode="lin" valueType="num">
                                      <p:cBhvr>
                                        <p:cTn id="171" dur="600" decel="100000" fill="hold"/>
                                        <p:tgtEl>
                                          <p:spTgt spid="32"/>
                                        </p:tgtEl>
                                        <p:attrNameLst>
                                          <p:attrName>ppt_y</p:attrName>
                                        </p:attrNameLst>
                                      </p:cBhvr>
                                      <p:tavLst>
                                        <p:tav tm="0">
                                          <p:val>
                                            <p:strVal val="#ppt_y+.05"/>
                                          </p:val>
                                        </p:tav>
                                        <p:tav tm="100000">
                                          <p:val>
                                            <p:strVal val="#ppt_y"/>
                                          </p:val>
                                        </p:tav>
                                      </p:tavLst>
                                    </p:anim>
                                  </p:childTnLst>
                                </p:cTn>
                              </p:par>
                            </p:childTnLst>
                          </p:cTn>
                        </p:par>
                        <p:par>
                          <p:cTn id="172" fill="hold">
                            <p:stCondLst>
                              <p:cond delay="2950"/>
                            </p:stCondLst>
                            <p:childTnLst>
                              <p:par>
                                <p:cTn id="173" presetID="42" presetClass="entr" presetSubtype="0" fill="hold" grpId="0" nodeType="withEffect">
                                  <p:stCondLst>
                                    <p:cond delay="0"/>
                                  </p:stCondLst>
                                  <p:childTnLst>
                                    <p:set>
                                      <p:cBhvr>
                                        <p:cTn id="174" dur="1" fill="hold">
                                          <p:stCondLst>
                                            <p:cond delay="0"/>
                                          </p:stCondLst>
                                        </p:cTn>
                                        <p:tgtEl>
                                          <p:spTgt spid="33"/>
                                        </p:tgtEl>
                                        <p:attrNameLst>
                                          <p:attrName>style.visibility</p:attrName>
                                        </p:attrNameLst>
                                      </p:cBhvr>
                                      <p:to>
                                        <p:strVal val="visible"/>
                                      </p:to>
                                    </p:set>
                                    <p:animEffect transition="in" filter="fade">
                                      <p:cBhvr>
                                        <p:cTn id="175" dur="600"/>
                                        <p:tgtEl>
                                          <p:spTgt spid="33"/>
                                        </p:tgtEl>
                                      </p:cBhvr>
                                    </p:animEffect>
                                    <p:anim calcmode="lin" valueType="num">
                                      <p:cBhvr>
                                        <p:cTn id="176" dur="600" fill="hold"/>
                                        <p:tgtEl>
                                          <p:spTgt spid="33"/>
                                        </p:tgtEl>
                                        <p:attrNameLst>
                                          <p:attrName>ppt_x</p:attrName>
                                        </p:attrNameLst>
                                      </p:cBhvr>
                                      <p:tavLst>
                                        <p:tav tm="0">
                                          <p:val>
                                            <p:strVal val="#ppt_x"/>
                                          </p:val>
                                        </p:tav>
                                        <p:tav tm="100000">
                                          <p:val>
                                            <p:strVal val="#ppt_x"/>
                                          </p:val>
                                        </p:tav>
                                      </p:tavLst>
                                    </p:anim>
                                    <p:anim calcmode="lin" valueType="num">
                                      <p:cBhvr>
                                        <p:cTn id="177" dur="600" decel="100000" fill="hold"/>
                                        <p:tgtEl>
                                          <p:spTgt spid="33"/>
                                        </p:tgtEl>
                                        <p:attrNameLst>
                                          <p:attrName>ppt_y</p:attrName>
                                        </p:attrNameLst>
                                      </p:cBhvr>
                                      <p:tavLst>
                                        <p:tav tm="0">
                                          <p:val>
                                            <p:strVal val="#ppt_y+.05"/>
                                          </p:val>
                                        </p:tav>
                                        <p:tav tm="100000">
                                          <p:val>
                                            <p:strVal val="#ppt_y"/>
                                          </p:val>
                                        </p:tav>
                                      </p:tavLst>
                                    </p:anim>
                                  </p:childTnLst>
                                </p:cTn>
                              </p:par>
                            </p:childTnLst>
                          </p:cTn>
                        </p:par>
                        <p:par>
                          <p:cTn id="178" fill="hold">
                            <p:stCondLst>
                              <p:cond delay="2950"/>
                            </p:stCondLst>
                            <p:childTnLst>
                              <p:par>
                                <p:cTn id="179" presetID="42" presetClass="entr" presetSubtype="0" fill="hold" grpId="0" nodeType="withEffect">
                                  <p:stCondLst>
                                    <p:cond delay="0"/>
                                  </p:stCondLst>
                                  <p:childTnLst>
                                    <p:set>
                                      <p:cBhvr>
                                        <p:cTn id="180" dur="1" fill="hold">
                                          <p:stCondLst>
                                            <p:cond delay="0"/>
                                          </p:stCondLst>
                                        </p:cTn>
                                        <p:tgtEl>
                                          <p:spTgt spid="34"/>
                                        </p:tgtEl>
                                        <p:attrNameLst>
                                          <p:attrName>style.visibility</p:attrName>
                                        </p:attrNameLst>
                                      </p:cBhvr>
                                      <p:to>
                                        <p:strVal val="visible"/>
                                      </p:to>
                                    </p:set>
                                    <p:animEffect transition="in" filter="fade">
                                      <p:cBhvr>
                                        <p:cTn id="181" dur="600"/>
                                        <p:tgtEl>
                                          <p:spTgt spid="34"/>
                                        </p:tgtEl>
                                      </p:cBhvr>
                                    </p:animEffect>
                                    <p:anim calcmode="lin" valueType="num">
                                      <p:cBhvr>
                                        <p:cTn id="182" dur="600" fill="hold"/>
                                        <p:tgtEl>
                                          <p:spTgt spid="34"/>
                                        </p:tgtEl>
                                        <p:attrNameLst>
                                          <p:attrName>ppt_x</p:attrName>
                                        </p:attrNameLst>
                                      </p:cBhvr>
                                      <p:tavLst>
                                        <p:tav tm="0">
                                          <p:val>
                                            <p:strVal val="#ppt_x"/>
                                          </p:val>
                                        </p:tav>
                                        <p:tav tm="100000">
                                          <p:val>
                                            <p:strVal val="#ppt_x"/>
                                          </p:val>
                                        </p:tav>
                                      </p:tavLst>
                                    </p:anim>
                                    <p:anim calcmode="lin" valueType="num">
                                      <p:cBhvr>
                                        <p:cTn id="183" dur="600" decel="100000" fill="hold"/>
                                        <p:tgtEl>
                                          <p:spTgt spid="34"/>
                                        </p:tgtEl>
                                        <p:attrNameLst>
                                          <p:attrName>ppt_y</p:attrName>
                                        </p:attrNameLst>
                                      </p:cBhvr>
                                      <p:tavLst>
                                        <p:tav tm="0">
                                          <p:val>
                                            <p:strVal val="#ppt_y+.05"/>
                                          </p:val>
                                        </p:tav>
                                        <p:tav tm="100000">
                                          <p:val>
                                            <p:strVal val="#ppt_y"/>
                                          </p:val>
                                        </p:tav>
                                      </p:tavLst>
                                    </p:anim>
                                  </p:childTnLst>
                                </p:cTn>
                              </p:par>
                            </p:childTnLst>
                          </p:cTn>
                        </p:par>
                        <p:par>
                          <p:cTn id="184" fill="hold">
                            <p:stCondLst>
                              <p:cond delay="2950"/>
                            </p:stCondLst>
                            <p:childTnLst>
                              <p:par>
                                <p:cTn id="185" presetID="42" presetClass="entr" presetSubtype="0" fill="hold" grpId="0" nodeType="withEffect">
                                  <p:stCondLst>
                                    <p:cond delay="0"/>
                                  </p:stCondLst>
                                  <p:childTnLst>
                                    <p:set>
                                      <p:cBhvr>
                                        <p:cTn id="186" dur="1" fill="hold">
                                          <p:stCondLst>
                                            <p:cond delay="0"/>
                                          </p:stCondLst>
                                        </p:cTn>
                                        <p:tgtEl>
                                          <p:spTgt spid="35"/>
                                        </p:tgtEl>
                                        <p:attrNameLst>
                                          <p:attrName>style.visibility</p:attrName>
                                        </p:attrNameLst>
                                      </p:cBhvr>
                                      <p:to>
                                        <p:strVal val="visible"/>
                                      </p:to>
                                    </p:set>
                                    <p:animEffect transition="in" filter="fade">
                                      <p:cBhvr>
                                        <p:cTn id="187" dur="600"/>
                                        <p:tgtEl>
                                          <p:spTgt spid="35"/>
                                        </p:tgtEl>
                                      </p:cBhvr>
                                    </p:animEffect>
                                    <p:anim calcmode="lin" valueType="num">
                                      <p:cBhvr>
                                        <p:cTn id="188" dur="600" fill="hold"/>
                                        <p:tgtEl>
                                          <p:spTgt spid="35"/>
                                        </p:tgtEl>
                                        <p:attrNameLst>
                                          <p:attrName>ppt_x</p:attrName>
                                        </p:attrNameLst>
                                      </p:cBhvr>
                                      <p:tavLst>
                                        <p:tav tm="0">
                                          <p:val>
                                            <p:strVal val="#ppt_x"/>
                                          </p:val>
                                        </p:tav>
                                        <p:tav tm="100000">
                                          <p:val>
                                            <p:strVal val="#ppt_x"/>
                                          </p:val>
                                        </p:tav>
                                      </p:tavLst>
                                    </p:anim>
                                    <p:anim calcmode="lin" valueType="num">
                                      <p:cBhvr>
                                        <p:cTn id="189" dur="600" decel="100000" fill="hold"/>
                                        <p:tgtEl>
                                          <p:spTgt spid="35"/>
                                        </p:tgtEl>
                                        <p:attrNameLst>
                                          <p:attrName>ppt_y</p:attrName>
                                        </p:attrNameLst>
                                      </p:cBhvr>
                                      <p:tavLst>
                                        <p:tav tm="0">
                                          <p:val>
                                            <p:strVal val="#ppt_y+.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animBg="1"/>
      <p:bldP spid="9" grpId="0" animBg="1"/>
      <p:bldP spid="10" grpId="0" animBg="1"/>
      <p:bldP spid="11" grpId="0" animBg="1"/>
      <p:bldP spid="13" grpId="0" animBg="1"/>
      <p:bldP spid="14" grpId="0" animBg="1"/>
      <p:bldP spid="15" grpId="0" animBg="1"/>
      <p:bldP spid="16" grpId="0" animBg="1"/>
      <p:bldP spid="18" grpId="0" animBg="1"/>
      <p:bldP spid="19" grpId="0" animBg="1"/>
      <p:bldP spid="20" grpId="0" animBg="1"/>
      <p:bldP spid="21" grpId="0" animBg="1"/>
      <p:bldP spid="22" grpId="0" animBg="1"/>
      <p:bldP spid="24" grpId="0" animBg="1"/>
      <p:bldP spid="25" grpId="0" animBg="1"/>
      <p:bldP spid="26" grpId="0" animBg="1"/>
      <p:bldP spid="27" grpId="0" animBg="1"/>
      <p:bldP spid="29" grpId="0" animBg="1"/>
      <p:bldP spid="30" grpId="0" animBg="1"/>
      <p:bldP spid="31" grpId="0" animBg="1"/>
      <p:bldP spid="32" grpId="0" animBg="1"/>
      <p:bldP spid="34" grpId="0" animBg="1"/>
      <p:bldP spid="3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0"/>
          <p:cNvSpPr txBox="1"/>
          <p:nvPr/>
        </p:nvSpPr>
        <p:spPr>
          <a:xfrm>
            <a:off x="548640" y="292608"/>
            <a:ext cx="7315200" cy="292608"/>
          </a:xfrm>
          <a:prstGeom prst="rect">
            <a:avLst/>
          </a:prstGeom>
          <a:noFill/>
          <a:ln/>
        </p:spPr>
        <p:txBody>
          <a:bodyPr wrap="square" lIns="0" tIns="0" rIns="0" bIns="0" rtlCol="0" anchor="ctr"/>
          <a:lstStyle/>
          <a:p>
            <a:pPr indent="0" marL="0">
              <a:buNone/>
            </a:pPr>
            <a:r>
              <a:rPr lang="ru-RU" sz="1300" b="1" spc="200" kern="0" dirty="0">
                <a:solidFill>
                  <a:schemeClr val="accent1"/>
                </a:solidFill>
              </a:rPr>
              <a:t>02  ·  ХОЗЯЙСТВЕННЫЕ ОБЩЕСТВА</a:t>
            </a:r>
            <a:endParaRPr lang="ru-RU" sz="1300" dirty="0"/>
          </a:p>
        </p:txBody>
      </p:sp>
      <p:sp>
        <p:nvSpPr>
          <p:cNvPr id="4" name="Text 0"/>
          <p:cNvSpPr/>
          <p:nvPr>
            <p:ph idx="100" type="title" hasCustomPrompt="1"/>
          </p:nvPr>
        </p:nvSpPr>
        <p:spPr>
          <a:xfrm>
            <a:off x="548640" y="566928"/>
            <a:ext cx="11064240" cy="731520"/>
          </a:xfrm>
          <a:prstGeom prst="rect">
            <a:avLst/>
          </a:prstGeom>
          <a:noFill/>
          <a:ln/>
        </p:spPr>
        <p:txBody>
          <a:bodyPr wrap="square" lIns="0" tIns="0" rIns="0" bIns="0" rtlCol="0" anchor="ctr"/>
          <a:lstStyle/>
          <a:p>
            <a:pPr algn="l" indent="0" marL="0">
              <a:buNone/>
            </a:pPr>
            <a:r>
              <a:rPr lang="ru-RU" sz="3400" b="1" dirty="0">
                <a:solidFill>
                  <a:schemeClr val="tx1"/>
                </a:solidFill>
                <a:latin typeface="Georgia" pitchFamily="34" charset="0"/>
                <a:ea typeface="Georgia" pitchFamily="34" charset="-122"/>
                <a:cs typeface="Georgia" pitchFamily="34" charset="-120"/>
              </a:rPr>
              <a:t>Акционерные общества: ПАО и АО</a:t>
            </a:r>
            <a:endParaRPr lang="ru-RU" sz="3400" dirty="0"/>
          </a:p>
        </p:txBody>
      </p:sp>
      <p:sp>
        <p:nvSpPr>
          <p:cNvPr id="5" name="a_01_c0"/>
          <p:cNvSpPr/>
          <p:nvPr/>
        </p:nvSpPr>
        <p:spPr>
          <a:xfrm>
            <a:off x="548640" y="1463040"/>
            <a:ext cx="5440680" cy="3977640"/>
          </a:xfrm>
          <a:prstGeom prst="roundRect">
            <a:avLst>
              <a:gd name="adj" fmla="val 2759"/>
            </a:avLst>
          </a:prstGeom>
          <a:solidFill>
            <a:schemeClr val="bg2"/>
          </a:solidFill>
          <a:ln w="25400">
            <a:solidFill>
              <a:schemeClr val="accent2"/>
            </a:solidFill>
            <a:prstDash val="solid"/>
          </a:ln>
        </p:spPr>
      </p:sp>
      <p:sp>
        <p:nvSpPr>
          <p:cNvPr id="6" name="a_01_h0"/>
          <p:cNvSpPr txBox="1"/>
          <p:nvPr/>
        </p:nvSpPr>
        <p:spPr>
          <a:xfrm>
            <a:off x="868680" y="1645920"/>
            <a:ext cx="2286000" cy="731520"/>
          </a:xfrm>
          <a:prstGeom prst="rect">
            <a:avLst/>
          </a:prstGeom>
          <a:noFill/>
          <a:ln/>
        </p:spPr>
        <p:txBody>
          <a:bodyPr wrap="square" lIns="0" tIns="0" rIns="0" bIns="0" rtlCol="0" anchor="ctr"/>
          <a:lstStyle/>
          <a:p>
            <a:pPr indent="0" marL="0">
              <a:buNone/>
            </a:pPr>
            <a:r>
              <a:rPr lang="ru-RU" sz="4400" b="1" dirty="0">
                <a:solidFill>
                  <a:schemeClr val="accent2"/>
                </a:solidFill>
                <a:latin typeface="Georgia" pitchFamily="34" charset="0"/>
                <a:ea typeface="Georgia" pitchFamily="34" charset="-122"/>
                <a:cs typeface="Georgia" pitchFamily="34" charset="-120"/>
              </a:rPr>
              <a:t>ПАО</a:t>
            </a:r>
            <a:endParaRPr lang="ru-RU" sz="4400" dirty="0"/>
          </a:p>
        </p:txBody>
      </p:sp>
      <p:sp>
        <p:nvSpPr>
          <p:cNvPr id="7" name="a_01_s0"/>
          <p:cNvSpPr txBox="1"/>
          <p:nvPr/>
        </p:nvSpPr>
        <p:spPr>
          <a:xfrm>
            <a:off x="868680" y="2377440"/>
            <a:ext cx="4846320" cy="365760"/>
          </a:xfrm>
          <a:prstGeom prst="rect">
            <a:avLst/>
          </a:prstGeom>
          <a:noFill/>
          <a:ln/>
        </p:spPr>
        <p:txBody>
          <a:bodyPr wrap="square" lIns="0" tIns="0" rIns="0" bIns="0" rtlCol="0" anchor="ctr"/>
          <a:lstStyle/>
          <a:p>
            <a:pPr indent="0" marL="0">
              <a:buNone/>
            </a:pPr>
            <a:r>
              <a:rPr lang="ru-RU" sz="1500" dirty="0">
                <a:solidFill>
                  <a:schemeClr val="tx2"/>
                </a:solidFill>
              </a:rPr>
              <a:t>публичное акционерное общество</a:t>
            </a:r>
            <a:endParaRPr lang="ru-RU" sz="1500" dirty="0"/>
          </a:p>
        </p:txBody>
      </p:sp>
      <p:sp>
        <p:nvSpPr>
          <p:cNvPr id="8" name="a_02_r00_c"/>
          <p:cNvSpPr/>
          <p:nvPr/>
        </p:nvSpPr>
        <p:spPr>
          <a:xfrm>
            <a:off x="868680" y="2926080"/>
            <a:ext cx="548640" cy="548640"/>
          </a:xfrm>
          <a:prstGeom prst="ellipse">
            <a:avLst/>
          </a:prstGeom>
          <a:solidFill>
            <a:schemeClr val="accent2"/>
          </a:solidFill>
          <a:ln w="12700">
            <a:solidFill>
              <a:schemeClr val="accent2"/>
            </a:solidFill>
            <a:prstDash val="solid"/>
          </a:ln>
        </p:spPr>
      </p:sp>
      <p:pic>
        <p:nvPicPr>
          <p:cNvPr id="9" name="a_02_r00_i" descr="/tmp/claude-0/-home-user-musor/c6980a0f-2a52-569f-a1fc-691d09a5d10f/scratchpad/biz/icons/chart_w.png">    </p:cNvPr>
          <p:cNvPicPr>
            <a:picLocks noChangeAspect="1"/>
          </p:cNvPicPr>
          <p:nvPr/>
        </p:nvPicPr>
        <p:blipFill>
          <a:blip r:embed="rId1"/>
          <a:stretch>
            <a:fillRect/>
          </a:stretch>
        </p:blipFill>
        <p:spPr>
          <a:xfrm>
            <a:off x="1011326" y="3068726"/>
            <a:ext cx="263347" cy="263347"/>
          </a:xfrm>
          <a:prstGeom prst="rect">
            <a:avLst/>
          </a:prstGeom>
        </p:spPr>
      </p:pic>
      <p:sp>
        <p:nvSpPr>
          <p:cNvPr id="10" name="a_02_rt00"/>
          <p:cNvSpPr txBox="1"/>
          <p:nvPr/>
        </p:nvSpPr>
        <p:spPr>
          <a:xfrm>
            <a:off x="1600200" y="2880360"/>
            <a:ext cx="4206240" cy="658368"/>
          </a:xfrm>
          <a:prstGeom prst="rect">
            <a:avLst/>
          </a:prstGeom>
          <a:noFill/>
          <a:ln/>
        </p:spPr>
        <p:txBody>
          <a:bodyPr wrap="square" lIns="0" tIns="0" rIns="0" bIns="0" rtlCol="0" anchor="ctr"/>
          <a:lstStyle/>
          <a:p>
            <a:pPr indent="0" marL="0">
              <a:buNone/>
            </a:pPr>
            <a:r>
              <a:rPr lang="ru-RU" sz="1600" dirty="0">
                <a:solidFill>
                  <a:schemeClr val="tx1"/>
                </a:solidFill>
              </a:rPr>
              <a:t>Акции продаются всем желающим, в том числе на бирже</a:t>
            </a:r>
            <a:endParaRPr lang="ru-RU" sz="1600" dirty="0"/>
          </a:p>
        </p:txBody>
      </p:sp>
      <p:sp>
        <p:nvSpPr>
          <p:cNvPr id="11" name="a_02_r01_c"/>
          <p:cNvSpPr/>
          <p:nvPr/>
        </p:nvSpPr>
        <p:spPr>
          <a:xfrm>
            <a:off x="868680" y="3703320"/>
            <a:ext cx="548640" cy="548640"/>
          </a:xfrm>
          <a:prstGeom prst="ellipse">
            <a:avLst/>
          </a:prstGeom>
          <a:solidFill>
            <a:schemeClr val="accent2"/>
          </a:solidFill>
          <a:ln w="12700">
            <a:solidFill>
              <a:schemeClr val="accent2"/>
            </a:solidFill>
            <a:prstDash val="solid"/>
          </a:ln>
        </p:spPr>
      </p:sp>
      <p:pic>
        <p:nvPicPr>
          <p:cNvPr id="12" name="a_02_r01_i" descr="/tmp/claude-0/-home-user-musor/c6980a0f-2a52-569f-a1fc-691d09a5d10f/scratchpad/biz/icons/coins_w.png">    </p:cNvPr>
          <p:cNvPicPr>
            <a:picLocks noChangeAspect="1"/>
          </p:cNvPicPr>
          <p:nvPr/>
        </p:nvPicPr>
        <p:blipFill>
          <a:blip r:embed="rId2"/>
          <a:stretch>
            <a:fillRect/>
          </a:stretch>
        </p:blipFill>
        <p:spPr>
          <a:xfrm>
            <a:off x="1011326" y="3845966"/>
            <a:ext cx="263347" cy="263347"/>
          </a:xfrm>
          <a:prstGeom prst="rect">
            <a:avLst/>
          </a:prstGeom>
        </p:spPr>
      </p:pic>
      <p:sp>
        <p:nvSpPr>
          <p:cNvPr id="13" name="a_02_rt01"/>
          <p:cNvSpPr txBox="1"/>
          <p:nvPr/>
        </p:nvSpPr>
        <p:spPr>
          <a:xfrm>
            <a:off x="1600200" y="3657600"/>
            <a:ext cx="4206240" cy="658368"/>
          </a:xfrm>
          <a:prstGeom prst="rect">
            <a:avLst/>
          </a:prstGeom>
          <a:noFill/>
          <a:ln/>
        </p:spPr>
        <p:txBody>
          <a:bodyPr wrap="square" lIns="0" tIns="0" rIns="0" bIns="0" rtlCol="0" anchor="ctr"/>
          <a:lstStyle/>
          <a:p>
            <a:pPr indent="0" marL="0">
              <a:buNone/>
            </a:pPr>
            <a:r>
              <a:rPr lang="ru-RU" sz="1600" dirty="0">
                <a:solidFill>
                  <a:schemeClr val="tx1"/>
                </a:solidFill>
              </a:rPr>
              <a:t>Уставный капитал — от 100 000 ₽</a:t>
            </a:r>
            <a:endParaRPr lang="ru-RU" sz="1600" dirty="0"/>
          </a:p>
        </p:txBody>
      </p:sp>
      <p:sp>
        <p:nvSpPr>
          <p:cNvPr id="14" name="a_02_r02_c"/>
          <p:cNvSpPr/>
          <p:nvPr/>
        </p:nvSpPr>
        <p:spPr>
          <a:xfrm>
            <a:off x="868680" y="4480560"/>
            <a:ext cx="548640" cy="548640"/>
          </a:xfrm>
          <a:prstGeom prst="ellipse">
            <a:avLst/>
          </a:prstGeom>
          <a:solidFill>
            <a:schemeClr val="accent2"/>
          </a:solidFill>
          <a:ln w="12700">
            <a:solidFill>
              <a:schemeClr val="accent2"/>
            </a:solidFill>
            <a:prstDash val="solid"/>
          </a:ln>
        </p:spPr>
      </p:sp>
      <p:pic>
        <p:nvPicPr>
          <p:cNvPr id="15" name="a_02_r02_i" descr="/tmp/claude-0/-home-user-musor/c6980a0f-2a52-569f-a1fc-691d09a5d10f/scratchpad/biz/icons/building_w.png">    </p:cNvPr>
          <p:cNvPicPr>
            <a:picLocks noChangeAspect="1"/>
          </p:cNvPicPr>
          <p:nvPr/>
        </p:nvPicPr>
        <p:blipFill>
          <a:blip r:embed="rId3"/>
          <a:stretch>
            <a:fillRect/>
          </a:stretch>
        </p:blipFill>
        <p:spPr>
          <a:xfrm>
            <a:off x="1011326" y="4623206"/>
            <a:ext cx="263347" cy="263347"/>
          </a:xfrm>
          <a:prstGeom prst="rect">
            <a:avLst/>
          </a:prstGeom>
        </p:spPr>
      </p:pic>
      <p:sp>
        <p:nvSpPr>
          <p:cNvPr id="16" name="a_02_rt02"/>
          <p:cNvSpPr txBox="1"/>
          <p:nvPr/>
        </p:nvSpPr>
        <p:spPr>
          <a:xfrm>
            <a:off x="1600200" y="4434840"/>
            <a:ext cx="4206240" cy="658368"/>
          </a:xfrm>
          <a:prstGeom prst="rect">
            <a:avLst/>
          </a:prstGeom>
          <a:noFill/>
          <a:ln/>
        </p:spPr>
        <p:txBody>
          <a:bodyPr wrap="square" lIns="0" tIns="0" rIns="0" bIns="0" rtlCol="0" anchor="ctr"/>
          <a:lstStyle/>
          <a:p>
            <a:pPr indent="0" marL="0">
              <a:buNone/>
            </a:pPr>
            <a:r>
              <a:rPr lang="ru-RU" sz="1600" dirty="0">
                <a:solidFill>
                  <a:schemeClr val="tx1"/>
                </a:solidFill>
              </a:rPr>
              <a:t>Примеры: «Сбербанк», «Газпром», «Аэрофлот»</a:t>
            </a:r>
            <a:endParaRPr lang="ru-RU" sz="1600" dirty="0"/>
          </a:p>
        </p:txBody>
      </p:sp>
      <p:sp>
        <p:nvSpPr>
          <p:cNvPr id="17" name="a_03_c1"/>
          <p:cNvSpPr/>
          <p:nvPr/>
        </p:nvSpPr>
        <p:spPr>
          <a:xfrm>
            <a:off x="6172200" y="1463040"/>
            <a:ext cx="5440680" cy="3977640"/>
          </a:xfrm>
          <a:prstGeom prst="roundRect">
            <a:avLst>
              <a:gd name="adj" fmla="val 2759"/>
            </a:avLst>
          </a:prstGeom>
          <a:solidFill>
            <a:schemeClr val="bg2"/>
          </a:solidFill>
          <a:ln w="25400">
            <a:solidFill>
              <a:schemeClr val="accent1"/>
            </a:solidFill>
            <a:prstDash val="solid"/>
          </a:ln>
        </p:spPr>
      </p:sp>
      <p:sp>
        <p:nvSpPr>
          <p:cNvPr id="18" name="a_03_h1"/>
          <p:cNvSpPr txBox="1"/>
          <p:nvPr/>
        </p:nvSpPr>
        <p:spPr>
          <a:xfrm>
            <a:off x="6492240" y="1645920"/>
            <a:ext cx="2286000" cy="731520"/>
          </a:xfrm>
          <a:prstGeom prst="rect">
            <a:avLst/>
          </a:prstGeom>
          <a:noFill/>
          <a:ln/>
        </p:spPr>
        <p:txBody>
          <a:bodyPr wrap="square" lIns="0" tIns="0" rIns="0" bIns="0" rtlCol="0" anchor="ctr"/>
          <a:lstStyle/>
          <a:p>
            <a:pPr indent="0" marL="0">
              <a:buNone/>
            </a:pPr>
            <a:r>
              <a:rPr lang="ru-RU" sz="4400" b="1" dirty="0">
                <a:solidFill>
                  <a:schemeClr val="accent1"/>
                </a:solidFill>
                <a:latin typeface="Georgia" pitchFamily="34" charset="0"/>
                <a:ea typeface="Georgia" pitchFamily="34" charset="-122"/>
                <a:cs typeface="Georgia" pitchFamily="34" charset="-120"/>
              </a:rPr>
              <a:t>АО</a:t>
            </a:r>
            <a:endParaRPr lang="ru-RU" sz="4400" dirty="0"/>
          </a:p>
        </p:txBody>
      </p:sp>
      <p:sp>
        <p:nvSpPr>
          <p:cNvPr id="19" name="a_03_s1"/>
          <p:cNvSpPr txBox="1"/>
          <p:nvPr/>
        </p:nvSpPr>
        <p:spPr>
          <a:xfrm>
            <a:off x="6492240" y="2377440"/>
            <a:ext cx="4846320" cy="365760"/>
          </a:xfrm>
          <a:prstGeom prst="rect">
            <a:avLst/>
          </a:prstGeom>
          <a:noFill/>
          <a:ln/>
        </p:spPr>
        <p:txBody>
          <a:bodyPr wrap="square" lIns="0" tIns="0" rIns="0" bIns="0" rtlCol="0" anchor="ctr"/>
          <a:lstStyle/>
          <a:p>
            <a:pPr indent="0" marL="0">
              <a:buNone/>
            </a:pPr>
            <a:r>
              <a:rPr lang="ru-RU" sz="1500" dirty="0">
                <a:solidFill>
                  <a:schemeClr val="tx2"/>
                </a:solidFill>
              </a:rPr>
              <a:t>непубличное акционерное общество</a:t>
            </a:r>
            <a:endParaRPr lang="ru-RU" sz="1500" dirty="0"/>
          </a:p>
        </p:txBody>
      </p:sp>
      <p:sp>
        <p:nvSpPr>
          <p:cNvPr id="20" name="a_04_r10_c"/>
          <p:cNvSpPr/>
          <p:nvPr/>
        </p:nvSpPr>
        <p:spPr>
          <a:xfrm>
            <a:off x="6492240" y="2926080"/>
            <a:ext cx="548640" cy="548640"/>
          </a:xfrm>
          <a:prstGeom prst="ellipse">
            <a:avLst/>
          </a:prstGeom>
          <a:solidFill>
            <a:schemeClr val="accent1"/>
          </a:solidFill>
          <a:ln w="12700">
            <a:solidFill>
              <a:schemeClr val="accent1"/>
            </a:solidFill>
            <a:prstDash val="solid"/>
          </a:ln>
        </p:spPr>
      </p:sp>
      <p:pic>
        <p:nvPicPr>
          <p:cNvPr id="21" name="a_04_r10_i" descr="/tmp/claude-0/-home-user-musor/c6980a0f-2a52-569f-a1fc-691d09a5d10f/scratchpad/biz/icons/lock_w.png">    </p:cNvPr>
          <p:cNvPicPr>
            <a:picLocks noChangeAspect="1"/>
          </p:cNvPicPr>
          <p:nvPr/>
        </p:nvPicPr>
        <p:blipFill>
          <a:blip r:embed="rId4"/>
          <a:stretch>
            <a:fillRect/>
          </a:stretch>
        </p:blipFill>
        <p:spPr>
          <a:xfrm>
            <a:off x="6634886" y="3068726"/>
            <a:ext cx="263347" cy="263347"/>
          </a:xfrm>
          <a:prstGeom prst="rect">
            <a:avLst/>
          </a:prstGeom>
        </p:spPr>
      </p:pic>
      <p:sp>
        <p:nvSpPr>
          <p:cNvPr id="22" name="a_04_rt10"/>
          <p:cNvSpPr txBox="1"/>
          <p:nvPr/>
        </p:nvSpPr>
        <p:spPr>
          <a:xfrm>
            <a:off x="7223760" y="2880360"/>
            <a:ext cx="4206240" cy="658368"/>
          </a:xfrm>
          <a:prstGeom prst="rect">
            <a:avLst/>
          </a:prstGeom>
          <a:noFill/>
          <a:ln/>
        </p:spPr>
        <p:txBody>
          <a:bodyPr wrap="square" lIns="0" tIns="0" rIns="0" bIns="0" rtlCol="0" anchor="ctr"/>
          <a:lstStyle/>
          <a:p>
            <a:pPr indent="0" marL="0">
              <a:buNone/>
            </a:pPr>
            <a:r>
              <a:rPr lang="ru-RU" sz="1600" dirty="0">
                <a:solidFill>
                  <a:schemeClr val="tx1"/>
                </a:solidFill>
              </a:rPr>
              <a:t>Акции не торгуются на бирже, круг владельцев ограничен</a:t>
            </a:r>
            <a:endParaRPr lang="ru-RU" sz="1600" dirty="0"/>
          </a:p>
        </p:txBody>
      </p:sp>
      <p:sp>
        <p:nvSpPr>
          <p:cNvPr id="23" name="a_04_r11_c"/>
          <p:cNvSpPr/>
          <p:nvPr/>
        </p:nvSpPr>
        <p:spPr>
          <a:xfrm>
            <a:off x="6492240" y="3703320"/>
            <a:ext cx="548640" cy="548640"/>
          </a:xfrm>
          <a:prstGeom prst="ellipse">
            <a:avLst/>
          </a:prstGeom>
          <a:solidFill>
            <a:schemeClr val="accent1"/>
          </a:solidFill>
          <a:ln w="12700">
            <a:solidFill>
              <a:schemeClr val="accent1"/>
            </a:solidFill>
            <a:prstDash val="solid"/>
          </a:ln>
        </p:spPr>
      </p:sp>
      <p:pic>
        <p:nvPicPr>
          <p:cNvPr id="24" name="a_04_r11_i" descr="/tmp/claude-0/-home-user-musor/c6980a0f-2a52-569f-a1fc-691d09a5d10f/scratchpad/biz/icons/coins_w.png">    </p:cNvPr>
          <p:cNvPicPr>
            <a:picLocks noChangeAspect="1"/>
          </p:cNvPicPr>
          <p:nvPr/>
        </p:nvPicPr>
        <p:blipFill>
          <a:blip r:embed="rId5"/>
          <a:stretch>
            <a:fillRect/>
          </a:stretch>
        </p:blipFill>
        <p:spPr>
          <a:xfrm>
            <a:off x="6634886" y="3845966"/>
            <a:ext cx="263347" cy="263347"/>
          </a:xfrm>
          <a:prstGeom prst="rect">
            <a:avLst/>
          </a:prstGeom>
        </p:spPr>
      </p:pic>
      <p:sp>
        <p:nvSpPr>
          <p:cNvPr id="25" name="a_04_rt11"/>
          <p:cNvSpPr txBox="1"/>
          <p:nvPr/>
        </p:nvSpPr>
        <p:spPr>
          <a:xfrm>
            <a:off x="7223760" y="3657600"/>
            <a:ext cx="4206240" cy="658368"/>
          </a:xfrm>
          <a:prstGeom prst="rect">
            <a:avLst/>
          </a:prstGeom>
          <a:noFill/>
          <a:ln/>
        </p:spPr>
        <p:txBody>
          <a:bodyPr wrap="square" lIns="0" tIns="0" rIns="0" bIns="0" rtlCol="0" anchor="ctr"/>
          <a:lstStyle/>
          <a:p>
            <a:pPr indent="0" marL="0">
              <a:buNone/>
            </a:pPr>
            <a:r>
              <a:rPr lang="ru-RU" sz="1600" dirty="0">
                <a:solidFill>
                  <a:schemeClr val="tx1"/>
                </a:solidFill>
              </a:rPr>
              <a:t>Уставный капитал — от 10 000 ₽</a:t>
            </a:r>
            <a:endParaRPr lang="ru-RU" sz="1600" dirty="0"/>
          </a:p>
        </p:txBody>
      </p:sp>
      <p:sp>
        <p:nvSpPr>
          <p:cNvPr id="26" name="a_04_r12_c"/>
          <p:cNvSpPr/>
          <p:nvPr/>
        </p:nvSpPr>
        <p:spPr>
          <a:xfrm>
            <a:off x="6492240" y="4480560"/>
            <a:ext cx="548640" cy="548640"/>
          </a:xfrm>
          <a:prstGeom prst="ellipse">
            <a:avLst/>
          </a:prstGeom>
          <a:solidFill>
            <a:schemeClr val="accent1"/>
          </a:solidFill>
          <a:ln w="12700">
            <a:solidFill>
              <a:schemeClr val="accent1"/>
            </a:solidFill>
            <a:prstDash val="solid"/>
          </a:ln>
        </p:spPr>
      </p:sp>
      <p:pic>
        <p:nvPicPr>
          <p:cNvPr id="27" name="a_04_r12_i" descr="/tmp/claude-0/-home-user-musor/c6980a0f-2a52-569f-a1fc-691d09a5d10f/scratchpad/biz/icons/briefcase_w.png">    </p:cNvPr>
          <p:cNvPicPr>
            <a:picLocks noChangeAspect="1"/>
          </p:cNvPicPr>
          <p:nvPr/>
        </p:nvPicPr>
        <p:blipFill>
          <a:blip r:embed="rId6"/>
          <a:stretch>
            <a:fillRect/>
          </a:stretch>
        </p:blipFill>
        <p:spPr>
          <a:xfrm>
            <a:off x="6634886" y="4623206"/>
            <a:ext cx="263347" cy="263347"/>
          </a:xfrm>
          <a:prstGeom prst="rect">
            <a:avLst/>
          </a:prstGeom>
        </p:spPr>
      </p:pic>
      <p:sp>
        <p:nvSpPr>
          <p:cNvPr id="28" name="a_04_rt12"/>
          <p:cNvSpPr txBox="1"/>
          <p:nvPr/>
        </p:nvSpPr>
        <p:spPr>
          <a:xfrm>
            <a:off x="7223760" y="4434840"/>
            <a:ext cx="4206240" cy="658368"/>
          </a:xfrm>
          <a:prstGeom prst="rect">
            <a:avLst/>
          </a:prstGeom>
          <a:noFill/>
          <a:ln/>
        </p:spPr>
        <p:txBody>
          <a:bodyPr wrap="square" lIns="0" tIns="0" rIns="0" bIns="0" rtlCol="0" anchor="ctr"/>
          <a:lstStyle/>
          <a:p>
            <a:pPr indent="0" marL="0">
              <a:buNone/>
            </a:pPr>
            <a:r>
              <a:rPr lang="ru-RU" sz="1600" dirty="0">
                <a:solidFill>
                  <a:schemeClr val="tx1"/>
                </a:solidFill>
              </a:rPr>
              <a:t>Примеры: дочерние и семейные компании</a:t>
            </a:r>
            <a:endParaRPr lang="ru-RU" sz="1600" dirty="0"/>
          </a:p>
        </p:txBody>
      </p:sp>
      <p:sp>
        <p:nvSpPr>
          <p:cNvPr id="29" name="a_05_rib"/>
          <p:cNvSpPr/>
          <p:nvPr/>
        </p:nvSpPr>
        <p:spPr>
          <a:xfrm>
            <a:off x="548640" y="5623560"/>
            <a:ext cx="11064240" cy="548640"/>
          </a:xfrm>
          <a:prstGeom prst="roundRect">
            <a:avLst>
              <a:gd name="adj" fmla="val 20000"/>
            </a:avLst>
          </a:prstGeom>
          <a:solidFill>
            <a:schemeClr val="accent3"/>
          </a:solidFill>
          <a:ln w="9525">
            <a:solidFill>
              <a:schemeClr val="accent3"/>
            </a:solidFill>
            <a:prstDash val="solid"/>
          </a:ln>
        </p:spPr>
      </p:sp>
      <p:sp>
        <p:nvSpPr>
          <p:cNvPr id="30" name="a_05_ribt"/>
          <p:cNvSpPr txBox="1"/>
          <p:nvPr/>
        </p:nvSpPr>
        <p:spPr>
          <a:xfrm>
            <a:off x="822960" y="5623560"/>
            <a:ext cx="10607040" cy="548640"/>
          </a:xfrm>
          <a:prstGeom prst="rect">
            <a:avLst/>
          </a:prstGeom>
          <a:noFill/>
          <a:ln/>
        </p:spPr>
        <p:txBody>
          <a:bodyPr wrap="square" lIns="0" tIns="0" rIns="0" bIns="0" rtlCol="0" anchor="ctr"/>
          <a:lstStyle/>
          <a:p>
            <a:pPr indent="0" marL="0">
              <a:buNone/>
            </a:pPr>
            <a:r>
              <a:rPr lang="ru-RU" sz="1500" b="1" dirty="0">
                <a:solidFill>
                  <a:schemeClr val="tx1"/>
                </a:solidFill>
              </a:rPr>
              <a:t>С 1 сентября 2014 года вместо ОАО и ЗАО — ПАО и АО. Акционеры рискуют только стоимостью своих акций</a:t>
            </a:r>
            <a:endParaRPr lang="ru-RU"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ru-RU"/>
              <a:t>4</a:t>
            </a:fld>
            <a:endParaRPr lang="ru-RU"/>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25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00"/>
                                        <p:tgtEl>
                                          <p:spTgt spid="5"/>
                                        </p:tgtEl>
                                      </p:cBhvr>
                                    </p:animEffect>
                                    <p:anim calcmode="lin" valueType="num">
                                      <p:cBhvr>
                                        <p:cTn id="8" dur="600" fill="hold"/>
                                        <p:tgtEl>
                                          <p:spTgt spid="5"/>
                                        </p:tgtEl>
                                        <p:attrNameLst>
                                          <p:attrName>ppt_x</p:attrName>
                                        </p:attrNameLst>
                                      </p:cBhvr>
                                      <p:tavLst>
                                        <p:tav tm="0">
                                          <p:val>
                                            <p:strVal val="#ppt_x"/>
                                          </p:val>
                                        </p:tav>
                                        <p:tav tm="100000">
                                          <p:val>
                                            <p:strVal val="#ppt_x"/>
                                          </p:val>
                                        </p:tav>
                                      </p:tavLst>
                                    </p:anim>
                                    <p:anim calcmode="lin" valueType="num">
                                      <p:cBhvr>
                                        <p:cTn id="9" dur="600" decel="100000" fill="hold"/>
                                        <p:tgtEl>
                                          <p:spTgt spid="5"/>
                                        </p:tgtEl>
                                        <p:attrNameLst>
                                          <p:attrName>ppt_y</p:attrName>
                                        </p:attrNameLst>
                                      </p:cBhvr>
                                      <p:tavLst>
                                        <p:tav tm="0">
                                          <p:val>
                                            <p:strVal val="#ppt_y+.05"/>
                                          </p:val>
                                        </p:tav>
                                        <p:tav tm="100000">
                                          <p:val>
                                            <p:strVal val="#ppt_y"/>
                                          </p:val>
                                        </p:tav>
                                      </p:tavLst>
                                    </p:anim>
                                  </p:childTnLst>
                                </p:cTn>
                              </p:par>
                            </p:childTnLst>
                          </p:cTn>
                        </p:par>
                        <p:par>
                          <p:cTn id="10" fill="hold">
                            <p:stCondLst>
                              <p:cond delay="250"/>
                            </p:stCondLst>
                            <p:childTnLst>
                              <p:par>
                                <p:cTn id="11" presetID="42"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600"/>
                                        <p:tgtEl>
                                          <p:spTgt spid="6"/>
                                        </p:tgtEl>
                                      </p:cBhvr>
                                    </p:animEffect>
                                    <p:anim calcmode="lin" valueType="num">
                                      <p:cBhvr>
                                        <p:cTn id="14" dur="600" fill="hold"/>
                                        <p:tgtEl>
                                          <p:spTgt spid="6"/>
                                        </p:tgtEl>
                                        <p:attrNameLst>
                                          <p:attrName>ppt_x</p:attrName>
                                        </p:attrNameLst>
                                      </p:cBhvr>
                                      <p:tavLst>
                                        <p:tav tm="0">
                                          <p:val>
                                            <p:strVal val="#ppt_x"/>
                                          </p:val>
                                        </p:tav>
                                        <p:tav tm="100000">
                                          <p:val>
                                            <p:strVal val="#ppt_x"/>
                                          </p:val>
                                        </p:tav>
                                      </p:tavLst>
                                    </p:anim>
                                    <p:anim calcmode="lin" valueType="num">
                                      <p:cBhvr>
                                        <p:cTn id="15" dur="600" decel="100000" fill="hold"/>
                                        <p:tgtEl>
                                          <p:spTgt spid="6"/>
                                        </p:tgtEl>
                                        <p:attrNameLst>
                                          <p:attrName>ppt_y</p:attrName>
                                        </p:attrNameLst>
                                      </p:cBhvr>
                                      <p:tavLst>
                                        <p:tav tm="0">
                                          <p:val>
                                            <p:strVal val="#ppt_y+.05"/>
                                          </p:val>
                                        </p:tav>
                                        <p:tav tm="100000">
                                          <p:val>
                                            <p:strVal val="#ppt_y"/>
                                          </p:val>
                                        </p:tav>
                                      </p:tavLst>
                                    </p:anim>
                                  </p:childTnLst>
                                </p:cTn>
                              </p:par>
                            </p:childTnLst>
                          </p:cTn>
                        </p:par>
                        <p:par>
                          <p:cTn id="16" fill="hold">
                            <p:stCondLst>
                              <p:cond delay="250"/>
                            </p:stCondLst>
                            <p:childTnLst>
                              <p:par>
                                <p:cTn id="17" presetID="42"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600"/>
                                        <p:tgtEl>
                                          <p:spTgt spid="7"/>
                                        </p:tgtEl>
                                      </p:cBhvr>
                                    </p:animEffect>
                                    <p:anim calcmode="lin" valueType="num">
                                      <p:cBhvr>
                                        <p:cTn id="20" dur="600" fill="hold"/>
                                        <p:tgtEl>
                                          <p:spTgt spid="7"/>
                                        </p:tgtEl>
                                        <p:attrNameLst>
                                          <p:attrName>ppt_x</p:attrName>
                                        </p:attrNameLst>
                                      </p:cBhvr>
                                      <p:tavLst>
                                        <p:tav tm="0">
                                          <p:val>
                                            <p:strVal val="#ppt_x"/>
                                          </p:val>
                                        </p:tav>
                                        <p:tav tm="100000">
                                          <p:val>
                                            <p:strVal val="#ppt_x"/>
                                          </p:val>
                                        </p:tav>
                                      </p:tavLst>
                                    </p:anim>
                                    <p:anim calcmode="lin" valueType="num">
                                      <p:cBhvr>
                                        <p:cTn id="21" dur="600" decel="100000" fill="hold"/>
                                        <p:tgtEl>
                                          <p:spTgt spid="7"/>
                                        </p:tgtEl>
                                        <p:attrNameLst>
                                          <p:attrName>ppt_y</p:attrName>
                                        </p:attrNameLst>
                                      </p:cBhvr>
                                      <p:tavLst>
                                        <p:tav tm="0">
                                          <p:val>
                                            <p:strVal val="#ppt_y+.05"/>
                                          </p:val>
                                        </p:tav>
                                        <p:tav tm="100000">
                                          <p:val>
                                            <p:strVal val="#ppt_y"/>
                                          </p:val>
                                        </p:tav>
                                      </p:tavLst>
                                    </p:anim>
                                  </p:childTnLst>
                                </p:cTn>
                              </p:par>
                            </p:childTnLst>
                          </p:cTn>
                        </p:par>
                        <p:par>
                          <p:cTn id="22" fill="hold">
                            <p:stCondLst>
                              <p:cond delay="700"/>
                            </p:stCondLst>
                            <p:childTnLst>
                              <p:par>
                                <p:cTn id="23" presetID="42" presetClass="entr" presetSubtype="0"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600"/>
                                        <p:tgtEl>
                                          <p:spTgt spid="8"/>
                                        </p:tgtEl>
                                      </p:cBhvr>
                                    </p:animEffect>
                                    <p:anim calcmode="lin" valueType="num">
                                      <p:cBhvr>
                                        <p:cTn id="26" dur="600" fill="hold"/>
                                        <p:tgtEl>
                                          <p:spTgt spid="8"/>
                                        </p:tgtEl>
                                        <p:attrNameLst>
                                          <p:attrName>ppt_x</p:attrName>
                                        </p:attrNameLst>
                                      </p:cBhvr>
                                      <p:tavLst>
                                        <p:tav tm="0">
                                          <p:val>
                                            <p:strVal val="#ppt_x"/>
                                          </p:val>
                                        </p:tav>
                                        <p:tav tm="100000">
                                          <p:val>
                                            <p:strVal val="#ppt_x"/>
                                          </p:val>
                                        </p:tav>
                                      </p:tavLst>
                                    </p:anim>
                                    <p:anim calcmode="lin" valueType="num">
                                      <p:cBhvr>
                                        <p:cTn id="27" dur="600" decel="100000" fill="hold"/>
                                        <p:tgtEl>
                                          <p:spTgt spid="8"/>
                                        </p:tgtEl>
                                        <p:attrNameLst>
                                          <p:attrName>ppt_y</p:attrName>
                                        </p:attrNameLst>
                                      </p:cBhvr>
                                      <p:tavLst>
                                        <p:tav tm="0">
                                          <p:val>
                                            <p:strVal val="#ppt_y+.05"/>
                                          </p:val>
                                        </p:tav>
                                        <p:tav tm="100000">
                                          <p:val>
                                            <p:strVal val="#ppt_y"/>
                                          </p:val>
                                        </p:tav>
                                      </p:tavLst>
                                    </p:anim>
                                  </p:childTnLst>
                                </p:cTn>
                              </p:par>
                            </p:childTnLst>
                          </p:cTn>
                        </p:par>
                        <p:par>
                          <p:cTn id="28" fill="hold">
                            <p:stCondLst>
                              <p:cond delay="700"/>
                            </p:stCondLst>
                            <p:childTnLst>
                              <p:par>
                                <p:cTn id="29" presetID="42" presetClass="entr" presetSubtype="0" fill="hold" grpId="0" nodeType="with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fade">
                                      <p:cBhvr>
                                        <p:cTn id="31" dur="600"/>
                                        <p:tgtEl>
                                          <p:spTgt spid="9"/>
                                        </p:tgtEl>
                                      </p:cBhvr>
                                    </p:animEffect>
                                    <p:anim calcmode="lin" valueType="num">
                                      <p:cBhvr>
                                        <p:cTn id="32" dur="600" fill="hold"/>
                                        <p:tgtEl>
                                          <p:spTgt spid="9"/>
                                        </p:tgtEl>
                                        <p:attrNameLst>
                                          <p:attrName>ppt_x</p:attrName>
                                        </p:attrNameLst>
                                      </p:cBhvr>
                                      <p:tavLst>
                                        <p:tav tm="0">
                                          <p:val>
                                            <p:strVal val="#ppt_x"/>
                                          </p:val>
                                        </p:tav>
                                        <p:tav tm="100000">
                                          <p:val>
                                            <p:strVal val="#ppt_x"/>
                                          </p:val>
                                        </p:tav>
                                      </p:tavLst>
                                    </p:anim>
                                    <p:anim calcmode="lin" valueType="num">
                                      <p:cBhvr>
                                        <p:cTn id="33" dur="600" decel="100000" fill="hold"/>
                                        <p:tgtEl>
                                          <p:spTgt spid="9"/>
                                        </p:tgtEl>
                                        <p:attrNameLst>
                                          <p:attrName>ppt_y</p:attrName>
                                        </p:attrNameLst>
                                      </p:cBhvr>
                                      <p:tavLst>
                                        <p:tav tm="0">
                                          <p:val>
                                            <p:strVal val="#ppt_y+.05"/>
                                          </p:val>
                                        </p:tav>
                                        <p:tav tm="100000">
                                          <p:val>
                                            <p:strVal val="#ppt_y"/>
                                          </p:val>
                                        </p:tav>
                                      </p:tavLst>
                                    </p:anim>
                                  </p:childTnLst>
                                </p:cTn>
                              </p:par>
                            </p:childTnLst>
                          </p:cTn>
                        </p:par>
                        <p:par>
                          <p:cTn id="34" fill="hold">
                            <p:stCondLst>
                              <p:cond delay="700"/>
                            </p:stCondLst>
                            <p:childTnLst>
                              <p:par>
                                <p:cTn id="35" presetID="42" presetClass="entr" presetSubtype="0" fill="hold" grpId="0" nodeType="with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600"/>
                                        <p:tgtEl>
                                          <p:spTgt spid="10"/>
                                        </p:tgtEl>
                                      </p:cBhvr>
                                    </p:animEffect>
                                    <p:anim calcmode="lin" valueType="num">
                                      <p:cBhvr>
                                        <p:cTn id="38" dur="600" fill="hold"/>
                                        <p:tgtEl>
                                          <p:spTgt spid="10"/>
                                        </p:tgtEl>
                                        <p:attrNameLst>
                                          <p:attrName>ppt_x</p:attrName>
                                        </p:attrNameLst>
                                      </p:cBhvr>
                                      <p:tavLst>
                                        <p:tav tm="0">
                                          <p:val>
                                            <p:strVal val="#ppt_x"/>
                                          </p:val>
                                        </p:tav>
                                        <p:tav tm="100000">
                                          <p:val>
                                            <p:strVal val="#ppt_x"/>
                                          </p:val>
                                        </p:tav>
                                      </p:tavLst>
                                    </p:anim>
                                    <p:anim calcmode="lin" valueType="num">
                                      <p:cBhvr>
                                        <p:cTn id="39" dur="600" decel="100000" fill="hold"/>
                                        <p:tgtEl>
                                          <p:spTgt spid="10"/>
                                        </p:tgtEl>
                                        <p:attrNameLst>
                                          <p:attrName>ppt_y</p:attrName>
                                        </p:attrNameLst>
                                      </p:cBhvr>
                                      <p:tavLst>
                                        <p:tav tm="0">
                                          <p:val>
                                            <p:strVal val="#ppt_y+.05"/>
                                          </p:val>
                                        </p:tav>
                                        <p:tav tm="100000">
                                          <p:val>
                                            <p:strVal val="#ppt_y"/>
                                          </p:val>
                                        </p:tav>
                                      </p:tavLst>
                                    </p:anim>
                                  </p:childTnLst>
                                </p:cTn>
                              </p:par>
                            </p:childTnLst>
                          </p:cTn>
                        </p:par>
                        <p:par>
                          <p:cTn id="40" fill="hold">
                            <p:stCondLst>
                              <p:cond delay="700"/>
                            </p:stCondLst>
                            <p:childTnLst>
                              <p:par>
                                <p:cTn id="41" presetID="42" presetClass="entr" presetSubtype="0" fill="hold" grpId="0" nodeType="withEffect">
                                  <p:stCondLst>
                                    <p:cond delay="0"/>
                                  </p:stCondLst>
                                  <p:childTnLst>
                                    <p:set>
                                      <p:cBhvr>
                                        <p:cTn id="42" dur="1" fill="hold">
                                          <p:stCondLst>
                                            <p:cond delay="0"/>
                                          </p:stCondLst>
                                        </p:cTn>
                                        <p:tgtEl>
                                          <p:spTgt spid="11"/>
                                        </p:tgtEl>
                                        <p:attrNameLst>
                                          <p:attrName>style.visibility</p:attrName>
                                        </p:attrNameLst>
                                      </p:cBhvr>
                                      <p:to>
                                        <p:strVal val="visible"/>
                                      </p:to>
                                    </p:set>
                                    <p:animEffect transition="in" filter="fade">
                                      <p:cBhvr>
                                        <p:cTn id="43" dur="600"/>
                                        <p:tgtEl>
                                          <p:spTgt spid="11"/>
                                        </p:tgtEl>
                                      </p:cBhvr>
                                    </p:animEffect>
                                    <p:anim calcmode="lin" valueType="num">
                                      <p:cBhvr>
                                        <p:cTn id="44" dur="600" fill="hold"/>
                                        <p:tgtEl>
                                          <p:spTgt spid="11"/>
                                        </p:tgtEl>
                                        <p:attrNameLst>
                                          <p:attrName>ppt_x</p:attrName>
                                        </p:attrNameLst>
                                      </p:cBhvr>
                                      <p:tavLst>
                                        <p:tav tm="0">
                                          <p:val>
                                            <p:strVal val="#ppt_x"/>
                                          </p:val>
                                        </p:tav>
                                        <p:tav tm="100000">
                                          <p:val>
                                            <p:strVal val="#ppt_x"/>
                                          </p:val>
                                        </p:tav>
                                      </p:tavLst>
                                    </p:anim>
                                    <p:anim calcmode="lin" valueType="num">
                                      <p:cBhvr>
                                        <p:cTn id="45" dur="600" decel="100000" fill="hold"/>
                                        <p:tgtEl>
                                          <p:spTgt spid="11"/>
                                        </p:tgtEl>
                                        <p:attrNameLst>
                                          <p:attrName>ppt_y</p:attrName>
                                        </p:attrNameLst>
                                      </p:cBhvr>
                                      <p:tavLst>
                                        <p:tav tm="0">
                                          <p:val>
                                            <p:strVal val="#ppt_y+.05"/>
                                          </p:val>
                                        </p:tav>
                                        <p:tav tm="100000">
                                          <p:val>
                                            <p:strVal val="#ppt_y"/>
                                          </p:val>
                                        </p:tav>
                                      </p:tavLst>
                                    </p:anim>
                                  </p:childTnLst>
                                </p:cTn>
                              </p:par>
                            </p:childTnLst>
                          </p:cTn>
                        </p:par>
                        <p:par>
                          <p:cTn id="46" fill="hold">
                            <p:stCondLst>
                              <p:cond delay="700"/>
                            </p:stCondLst>
                            <p:childTnLst>
                              <p:par>
                                <p:cTn id="47" presetID="42" presetClass="entr" presetSubtype="0" fill="hold" grpId="0" nodeType="withEffect">
                                  <p:stCondLst>
                                    <p:cond delay="0"/>
                                  </p:stCondLst>
                                  <p:childTnLst>
                                    <p:set>
                                      <p:cBhvr>
                                        <p:cTn id="48" dur="1" fill="hold">
                                          <p:stCondLst>
                                            <p:cond delay="0"/>
                                          </p:stCondLst>
                                        </p:cTn>
                                        <p:tgtEl>
                                          <p:spTgt spid="12"/>
                                        </p:tgtEl>
                                        <p:attrNameLst>
                                          <p:attrName>style.visibility</p:attrName>
                                        </p:attrNameLst>
                                      </p:cBhvr>
                                      <p:to>
                                        <p:strVal val="visible"/>
                                      </p:to>
                                    </p:set>
                                    <p:animEffect transition="in" filter="fade">
                                      <p:cBhvr>
                                        <p:cTn id="49" dur="600"/>
                                        <p:tgtEl>
                                          <p:spTgt spid="12"/>
                                        </p:tgtEl>
                                      </p:cBhvr>
                                    </p:animEffect>
                                    <p:anim calcmode="lin" valueType="num">
                                      <p:cBhvr>
                                        <p:cTn id="50" dur="600" fill="hold"/>
                                        <p:tgtEl>
                                          <p:spTgt spid="12"/>
                                        </p:tgtEl>
                                        <p:attrNameLst>
                                          <p:attrName>ppt_x</p:attrName>
                                        </p:attrNameLst>
                                      </p:cBhvr>
                                      <p:tavLst>
                                        <p:tav tm="0">
                                          <p:val>
                                            <p:strVal val="#ppt_x"/>
                                          </p:val>
                                        </p:tav>
                                        <p:tav tm="100000">
                                          <p:val>
                                            <p:strVal val="#ppt_x"/>
                                          </p:val>
                                        </p:tav>
                                      </p:tavLst>
                                    </p:anim>
                                    <p:anim calcmode="lin" valueType="num">
                                      <p:cBhvr>
                                        <p:cTn id="51" dur="600" decel="100000" fill="hold"/>
                                        <p:tgtEl>
                                          <p:spTgt spid="12"/>
                                        </p:tgtEl>
                                        <p:attrNameLst>
                                          <p:attrName>ppt_y</p:attrName>
                                        </p:attrNameLst>
                                      </p:cBhvr>
                                      <p:tavLst>
                                        <p:tav tm="0">
                                          <p:val>
                                            <p:strVal val="#ppt_y+.05"/>
                                          </p:val>
                                        </p:tav>
                                        <p:tav tm="100000">
                                          <p:val>
                                            <p:strVal val="#ppt_y"/>
                                          </p:val>
                                        </p:tav>
                                      </p:tavLst>
                                    </p:anim>
                                  </p:childTnLst>
                                </p:cTn>
                              </p:par>
                            </p:childTnLst>
                          </p:cTn>
                        </p:par>
                        <p:par>
                          <p:cTn id="52" fill="hold">
                            <p:stCondLst>
                              <p:cond delay="700"/>
                            </p:stCondLst>
                            <p:childTnLst>
                              <p:par>
                                <p:cTn id="53" presetID="42" presetClass="entr" presetSubtype="0" fill="hold" grpId="0" nodeType="withEffect">
                                  <p:stCondLst>
                                    <p:cond delay="0"/>
                                  </p:stCondLst>
                                  <p:childTnLst>
                                    <p:set>
                                      <p:cBhvr>
                                        <p:cTn id="54" dur="1" fill="hold">
                                          <p:stCondLst>
                                            <p:cond delay="0"/>
                                          </p:stCondLst>
                                        </p:cTn>
                                        <p:tgtEl>
                                          <p:spTgt spid="13"/>
                                        </p:tgtEl>
                                        <p:attrNameLst>
                                          <p:attrName>style.visibility</p:attrName>
                                        </p:attrNameLst>
                                      </p:cBhvr>
                                      <p:to>
                                        <p:strVal val="visible"/>
                                      </p:to>
                                    </p:set>
                                    <p:animEffect transition="in" filter="fade">
                                      <p:cBhvr>
                                        <p:cTn id="55" dur="600"/>
                                        <p:tgtEl>
                                          <p:spTgt spid="13"/>
                                        </p:tgtEl>
                                      </p:cBhvr>
                                    </p:animEffect>
                                    <p:anim calcmode="lin" valueType="num">
                                      <p:cBhvr>
                                        <p:cTn id="56" dur="600" fill="hold"/>
                                        <p:tgtEl>
                                          <p:spTgt spid="13"/>
                                        </p:tgtEl>
                                        <p:attrNameLst>
                                          <p:attrName>ppt_x</p:attrName>
                                        </p:attrNameLst>
                                      </p:cBhvr>
                                      <p:tavLst>
                                        <p:tav tm="0">
                                          <p:val>
                                            <p:strVal val="#ppt_x"/>
                                          </p:val>
                                        </p:tav>
                                        <p:tav tm="100000">
                                          <p:val>
                                            <p:strVal val="#ppt_x"/>
                                          </p:val>
                                        </p:tav>
                                      </p:tavLst>
                                    </p:anim>
                                    <p:anim calcmode="lin" valueType="num">
                                      <p:cBhvr>
                                        <p:cTn id="57" dur="600" decel="100000" fill="hold"/>
                                        <p:tgtEl>
                                          <p:spTgt spid="13"/>
                                        </p:tgtEl>
                                        <p:attrNameLst>
                                          <p:attrName>ppt_y</p:attrName>
                                        </p:attrNameLst>
                                      </p:cBhvr>
                                      <p:tavLst>
                                        <p:tav tm="0">
                                          <p:val>
                                            <p:strVal val="#ppt_y+.05"/>
                                          </p:val>
                                        </p:tav>
                                        <p:tav tm="100000">
                                          <p:val>
                                            <p:strVal val="#ppt_y"/>
                                          </p:val>
                                        </p:tav>
                                      </p:tavLst>
                                    </p:anim>
                                  </p:childTnLst>
                                </p:cTn>
                              </p:par>
                            </p:childTnLst>
                          </p:cTn>
                        </p:par>
                        <p:par>
                          <p:cTn id="58" fill="hold">
                            <p:stCondLst>
                              <p:cond delay="700"/>
                            </p:stCondLst>
                            <p:childTnLst>
                              <p:par>
                                <p:cTn id="59" presetID="42" presetClass="entr" presetSubtype="0" fill="hold" grpId="0" nodeType="withEffect">
                                  <p:stCondLst>
                                    <p:cond delay="0"/>
                                  </p:stCondLst>
                                  <p:childTnLst>
                                    <p:set>
                                      <p:cBhvr>
                                        <p:cTn id="60" dur="1" fill="hold">
                                          <p:stCondLst>
                                            <p:cond delay="0"/>
                                          </p:stCondLst>
                                        </p:cTn>
                                        <p:tgtEl>
                                          <p:spTgt spid="14"/>
                                        </p:tgtEl>
                                        <p:attrNameLst>
                                          <p:attrName>style.visibility</p:attrName>
                                        </p:attrNameLst>
                                      </p:cBhvr>
                                      <p:to>
                                        <p:strVal val="visible"/>
                                      </p:to>
                                    </p:set>
                                    <p:animEffect transition="in" filter="fade">
                                      <p:cBhvr>
                                        <p:cTn id="61" dur="600"/>
                                        <p:tgtEl>
                                          <p:spTgt spid="14"/>
                                        </p:tgtEl>
                                      </p:cBhvr>
                                    </p:animEffect>
                                    <p:anim calcmode="lin" valueType="num">
                                      <p:cBhvr>
                                        <p:cTn id="62" dur="600" fill="hold"/>
                                        <p:tgtEl>
                                          <p:spTgt spid="14"/>
                                        </p:tgtEl>
                                        <p:attrNameLst>
                                          <p:attrName>ppt_x</p:attrName>
                                        </p:attrNameLst>
                                      </p:cBhvr>
                                      <p:tavLst>
                                        <p:tav tm="0">
                                          <p:val>
                                            <p:strVal val="#ppt_x"/>
                                          </p:val>
                                        </p:tav>
                                        <p:tav tm="100000">
                                          <p:val>
                                            <p:strVal val="#ppt_x"/>
                                          </p:val>
                                        </p:tav>
                                      </p:tavLst>
                                    </p:anim>
                                    <p:anim calcmode="lin" valueType="num">
                                      <p:cBhvr>
                                        <p:cTn id="63" dur="600" decel="100000" fill="hold"/>
                                        <p:tgtEl>
                                          <p:spTgt spid="14"/>
                                        </p:tgtEl>
                                        <p:attrNameLst>
                                          <p:attrName>ppt_y</p:attrName>
                                        </p:attrNameLst>
                                      </p:cBhvr>
                                      <p:tavLst>
                                        <p:tav tm="0">
                                          <p:val>
                                            <p:strVal val="#ppt_y+.05"/>
                                          </p:val>
                                        </p:tav>
                                        <p:tav tm="100000">
                                          <p:val>
                                            <p:strVal val="#ppt_y"/>
                                          </p:val>
                                        </p:tav>
                                      </p:tavLst>
                                    </p:anim>
                                  </p:childTnLst>
                                </p:cTn>
                              </p:par>
                            </p:childTnLst>
                          </p:cTn>
                        </p:par>
                        <p:par>
                          <p:cTn id="64" fill="hold">
                            <p:stCondLst>
                              <p:cond delay="700"/>
                            </p:stCondLst>
                            <p:childTnLst>
                              <p:par>
                                <p:cTn id="65" presetID="42" presetClass="entr" presetSubtype="0" fill="hold" grpId="0" nodeType="withEffect">
                                  <p:stCondLst>
                                    <p:cond delay="0"/>
                                  </p:stCondLst>
                                  <p:childTnLst>
                                    <p:set>
                                      <p:cBhvr>
                                        <p:cTn id="66" dur="1" fill="hold">
                                          <p:stCondLst>
                                            <p:cond delay="0"/>
                                          </p:stCondLst>
                                        </p:cTn>
                                        <p:tgtEl>
                                          <p:spTgt spid="15"/>
                                        </p:tgtEl>
                                        <p:attrNameLst>
                                          <p:attrName>style.visibility</p:attrName>
                                        </p:attrNameLst>
                                      </p:cBhvr>
                                      <p:to>
                                        <p:strVal val="visible"/>
                                      </p:to>
                                    </p:set>
                                    <p:animEffect transition="in" filter="fade">
                                      <p:cBhvr>
                                        <p:cTn id="67" dur="600"/>
                                        <p:tgtEl>
                                          <p:spTgt spid="15"/>
                                        </p:tgtEl>
                                      </p:cBhvr>
                                    </p:animEffect>
                                    <p:anim calcmode="lin" valueType="num">
                                      <p:cBhvr>
                                        <p:cTn id="68" dur="600" fill="hold"/>
                                        <p:tgtEl>
                                          <p:spTgt spid="15"/>
                                        </p:tgtEl>
                                        <p:attrNameLst>
                                          <p:attrName>ppt_x</p:attrName>
                                        </p:attrNameLst>
                                      </p:cBhvr>
                                      <p:tavLst>
                                        <p:tav tm="0">
                                          <p:val>
                                            <p:strVal val="#ppt_x"/>
                                          </p:val>
                                        </p:tav>
                                        <p:tav tm="100000">
                                          <p:val>
                                            <p:strVal val="#ppt_x"/>
                                          </p:val>
                                        </p:tav>
                                      </p:tavLst>
                                    </p:anim>
                                    <p:anim calcmode="lin" valueType="num">
                                      <p:cBhvr>
                                        <p:cTn id="69" dur="600" decel="100000" fill="hold"/>
                                        <p:tgtEl>
                                          <p:spTgt spid="15"/>
                                        </p:tgtEl>
                                        <p:attrNameLst>
                                          <p:attrName>ppt_y</p:attrName>
                                        </p:attrNameLst>
                                      </p:cBhvr>
                                      <p:tavLst>
                                        <p:tav tm="0">
                                          <p:val>
                                            <p:strVal val="#ppt_y+.05"/>
                                          </p:val>
                                        </p:tav>
                                        <p:tav tm="100000">
                                          <p:val>
                                            <p:strVal val="#ppt_y"/>
                                          </p:val>
                                        </p:tav>
                                      </p:tavLst>
                                    </p:anim>
                                  </p:childTnLst>
                                </p:cTn>
                              </p:par>
                            </p:childTnLst>
                          </p:cTn>
                        </p:par>
                        <p:par>
                          <p:cTn id="70" fill="hold">
                            <p:stCondLst>
                              <p:cond delay="700"/>
                            </p:stCondLst>
                            <p:childTnLst>
                              <p:par>
                                <p:cTn id="71" presetID="42" presetClass="entr" presetSubtype="0" fill="hold" grpId="0" nodeType="withEffect">
                                  <p:stCondLst>
                                    <p:cond delay="0"/>
                                  </p:stCondLst>
                                  <p:childTnLst>
                                    <p:set>
                                      <p:cBhvr>
                                        <p:cTn id="72" dur="1" fill="hold">
                                          <p:stCondLst>
                                            <p:cond delay="0"/>
                                          </p:stCondLst>
                                        </p:cTn>
                                        <p:tgtEl>
                                          <p:spTgt spid="16"/>
                                        </p:tgtEl>
                                        <p:attrNameLst>
                                          <p:attrName>style.visibility</p:attrName>
                                        </p:attrNameLst>
                                      </p:cBhvr>
                                      <p:to>
                                        <p:strVal val="visible"/>
                                      </p:to>
                                    </p:set>
                                    <p:animEffect transition="in" filter="fade">
                                      <p:cBhvr>
                                        <p:cTn id="73" dur="600"/>
                                        <p:tgtEl>
                                          <p:spTgt spid="16"/>
                                        </p:tgtEl>
                                      </p:cBhvr>
                                    </p:animEffect>
                                    <p:anim calcmode="lin" valueType="num">
                                      <p:cBhvr>
                                        <p:cTn id="74" dur="600" fill="hold"/>
                                        <p:tgtEl>
                                          <p:spTgt spid="16"/>
                                        </p:tgtEl>
                                        <p:attrNameLst>
                                          <p:attrName>ppt_x</p:attrName>
                                        </p:attrNameLst>
                                      </p:cBhvr>
                                      <p:tavLst>
                                        <p:tav tm="0">
                                          <p:val>
                                            <p:strVal val="#ppt_x"/>
                                          </p:val>
                                        </p:tav>
                                        <p:tav tm="100000">
                                          <p:val>
                                            <p:strVal val="#ppt_x"/>
                                          </p:val>
                                        </p:tav>
                                      </p:tavLst>
                                    </p:anim>
                                    <p:anim calcmode="lin" valueType="num">
                                      <p:cBhvr>
                                        <p:cTn id="75" dur="600" decel="100000" fill="hold"/>
                                        <p:tgtEl>
                                          <p:spTgt spid="16"/>
                                        </p:tgtEl>
                                        <p:attrNameLst>
                                          <p:attrName>ppt_y</p:attrName>
                                        </p:attrNameLst>
                                      </p:cBhvr>
                                      <p:tavLst>
                                        <p:tav tm="0">
                                          <p:val>
                                            <p:strVal val="#ppt_y+.05"/>
                                          </p:val>
                                        </p:tav>
                                        <p:tav tm="100000">
                                          <p:val>
                                            <p:strVal val="#ppt_y"/>
                                          </p:val>
                                        </p:tav>
                                      </p:tavLst>
                                    </p:anim>
                                  </p:childTnLst>
                                </p:cTn>
                              </p:par>
                            </p:childTnLst>
                          </p:cTn>
                        </p:par>
                        <p:par>
                          <p:cTn id="76" fill="hold">
                            <p:stCondLst>
                              <p:cond delay="1150"/>
                            </p:stCondLst>
                            <p:childTnLst>
                              <p:par>
                                <p:cTn id="77" presetID="42" presetClass="entr" presetSubtype="0" fill="hold" grpId="0" nodeType="withEffect">
                                  <p:stCondLst>
                                    <p:cond delay="0"/>
                                  </p:stCondLst>
                                  <p:childTnLst>
                                    <p:set>
                                      <p:cBhvr>
                                        <p:cTn id="78" dur="1" fill="hold">
                                          <p:stCondLst>
                                            <p:cond delay="0"/>
                                          </p:stCondLst>
                                        </p:cTn>
                                        <p:tgtEl>
                                          <p:spTgt spid="17"/>
                                        </p:tgtEl>
                                        <p:attrNameLst>
                                          <p:attrName>style.visibility</p:attrName>
                                        </p:attrNameLst>
                                      </p:cBhvr>
                                      <p:to>
                                        <p:strVal val="visible"/>
                                      </p:to>
                                    </p:set>
                                    <p:animEffect transition="in" filter="fade">
                                      <p:cBhvr>
                                        <p:cTn id="79" dur="600"/>
                                        <p:tgtEl>
                                          <p:spTgt spid="17"/>
                                        </p:tgtEl>
                                      </p:cBhvr>
                                    </p:animEffect>
                                    <p:anim calcmode="lin" valueType="num">
                                      <p:cBhvr>
                                        <p:cTn id="80" dur="600" fill="hold"/>
                                        <p:tgtEl>
                                          <p:spTgt spid="17"/>
                                        </p:tgtEl>
                                        <p:attrNameLst>
                                          <p:attrName>ppt_x</p:attrName>
                                        </p:attrNameLst>
                                      </p:cBhvr>
                                      <p:tavLst>
                                        <p:tav tm="0">
                                          <p:val>
                                            <p:strVal val="#ppt_x"/>
                                          </p:val>
                                        </p:tav>
                                        <p:tav tm="100000">
                                          <p:val>
                                            <p:strVal val="#ppt_x"/>
                                          </p:val>
                                        </p:tav>
                                      </p:tavLst>
                                    </p:anim>
                                    <p:anim calcmode="lin" valueType="num">
                                      <p:cBhvr>
                                        <p:cTn id="81" dur="600" decel="100000" fill="hold"/>
                                        <p:tgtEl>
                                          <p:spTgt spid="17"/>
                                        </p:tgtEl>
                                        <p:attrNameLst>
                                          <p:attrName>ppt_y</p:attrName>
                                        </p:attrNameLst>
                                      </p:cBhvr>
                                      <p:tavLst>
                                        <p:tav tm="0">
                                          <p:val>
                                            <p:strVal val="#ppt_y+.05"/>
                                          </p:val>
                                        </p:tav>
                                        <p:tav tm="100000">
                                          <p:val>
                                            <p:strVal val="#ppt_y"/>
                                          </p:val>
                                        </p:tav>
                                      </p:tavLst>
                                    </p:anim>
                                  </p:childTnLst>
                                </p:cTn>
                              </p:par>
                            </p:childTnLst>
                          </p:cTn>
                        </p:par>
                        <p:par>
                          <p:cTn id="82" fill="hold">
                            <p:stCondLst>
                              <p:cond delay="1150"/>
                            </p:stCondLst>
                            <p:childTnLst>
                              <p:par>
                                <p:cTn id="83" presetID="42" presetClass="entr" presetSubtype="0" fill="hold" grpId="0" nodeType="withEffect">
                                  <p:stCondLst>
                                    <p:cond delay="0"/>
                                  </p:stCondLst>
                                  <p:childTnLst>
                                    <p:set>
                                      <p:cBhvr>
                                        <p:cTn id="84" dur="1" fill="hold">
                                          <p:stCondLst>
                                            <p:cond delay="0"/>
                                          </p:stCondLst>
                                        </p:cTn>
                                        <p:tgtEl>
                                          <p:spTgt spid="18"/>
                                        </p:tgtEl>
                                        <p:attrNameLst>
                                          <p:attrName>style.visibility</p:attrName>
                                        </p:attrNameLst>
                                      </p:cBhvr>
                                      <p:to>
                                        <p:strVal val="visible"/>
                                      </p:to>
                                    </p:set>
                                    <p:animEffect transition="in" filter="fade">
                                      <p:cBhvr>
                                        <p:cTn id="85" dur="600"/>
                                        <p:tgtEl>
                                          <p:spTgt spid="18"/>
                                        </p:tgtEl>
                                      </p:cBhvr>
                                    </p:animEffect>
                                    <p:anim calcmode="lin" valueType="num">
                                      <p:cBhvr>
                                        <p:cTn id="86" dur="600" fill="hold"/>
                                        <p:tgtEl>
                                          <p:spTgt spid="18"/>
                                        </p:tgtEl>
                                        <p:attrNameLst>
                                          <p:attrName>ppt_x</p:attrName>
                                        </p:attrNameLst>
                                      </p:cBhvr>
                                      <p:tavLst>
                                        <p:tav tm="0">
                                          <p:val>
                                            <p:strVal val="#ppt_x"/>
                                          </p:val>
                                        </p:tav>
                                        <p:tav tm="100000">
                                          <p:val>
                                            <p:strVal val="#ppt_x"/>
                                          </p:val>
                                        </p:tav>
                                      </p:tavLst>
                                    </p:anim>
                                    <p:anim calcmode="lin" valueType="num">
                                      <p:cBhvr>
                                        <p:cTn id="87" dur="600" decel="100000" fill="hold"/>
                                        <p:tgtEl>
                                          <p:spTgt spid="18"/>
                                        </p:tgtEl>
                                        <p:attrNameLst>
                                          <p:attrName>ppt_y</p:attrName>
                                        </p:attrNameLst>
                                      </p:cBhvr>
                                      <p:tavLst>
                                        <p:tav tm="0">
                                          <p:val>
                                            <p:strVal val="#ppt_y+.05"/>
                                          </p:val>
                                        </p:tav>
                                        <p:tav tm="100000">
                                          <p:val>
                                            <p:strVal val="#ppt_y"/>
                                          </p:val>
                                        </p:tav>
                                      </p:tavLst>
                                    </p:anim>
                                  </p:childTnLst>
                                </p:cTn>
                              </p:par>
                            </p:childTnLst>
                          </p:cTn>
                        </p:par>
                        <p:par>
                          <p:cTn id="88" fill="hold">
                            <p:stCondLst>
                              <p:cond delay="1150"/>
                            </p:stCondLst>
                            <p:childTnLst>
                              <p:par>
                                <p:cTn id="89" presetID="42" presetClass="entr" presetSubtype="0" fill="hold" grpId="0" nodeType="withEffect">
                                  <p:stCondLst>
                                    <p:cond delay="0"/>
                                  </p:stCondLst>
                                  <p:childTnLst>
                                    <p:set>
                                      <p:cBhvr>
                                        <p:cTn id="90" dur="1" fill="hold">
                                          <p:stCondLst>
                                            <p:cond delay="0"/>
                                          </p:stCondLst>
                                        </p:cTn>
                                        <p:tgtEl>
                                          <p:spTgt spid="19"/>
                                        </p:tgtEl>
                                        <p:attrNameLst>
                                          <p:attrName>style.visibility</p:attrName>
                                        </p:attrNameLst>
                                      </p:cBhvr>
                                      <p:to>
                                        <p:strVal val="visible"/>
                                      </p:to>
                                    </p:set>
                                    <p:animEffect transition="in" filter="fade">
                                      <p:cBhvr>
                                        <p:cTn id="91" dur="600"/>
                                        <p:tgtEl>
                                          <p:spTgt spid="19"/>
                                        </p:tgtEl>
                                      </p:cBhvr>
                                    </p:animEffect>
                                    <p:anim calcmode="lin" valueType="num">
                                      <p:cBhvr>
                                        <p:cTn id="92" dur="600" fill="hold"/>
                                        <p:tgtEl>
                                          <p:spTgt spid="19"/>
                                        </p:tgtEl>
                                        <p:attrNameLst>
                                          <p:attrName>ppt_x</p:attrName>
                                        </p:attrNameLst>
                                      </p:cBhvr>
                                      <p:tavLst>
                                        <p:tav tm="0">
                                          <p:val>
                                            <p:strVal val="#ppt_x"/>
                                          </p:val>
                                        </p:tav>
                                        <p:tav tm="100000">
                                          <p:val>
                                            <p:strVal val="#ppt_x"/>
                                          </p:val>
                                        </p:tav>
                                      </p:tavLst>
                                    </p:anim>
                                    <p:anim calcmode="lin" valueType="num">
                                      <p:cBhvr>
                                        <p:cTn id="93" dur="600" decel="100000" fill="hold"/>
                                        <p:tgtEl>
                                          <p:spTgt spid="19"/>
                                        </p:tgtEl>
                                        <p:attrNameLst>
                                          <p:attrName>ppt_y</p:attrName>
                                        </p:attrNameLst>
                                      </p:cBhvr>
                                      <p:tavLst>
                                        <p:tav tm="0">
                                          <p:val>
                                            <p:strVal val="#ppt_y+.05"/>
                                          </p:val>
                                        </p:tav>
                                        <p:tav tm="100000">
                                          <p:val>
                                            <p:strVal val="#ppt_y"/>
                                          </p:val>
                                        </p:tav>
                                      </p:tavLst>
                                    </p:anim>
                                  </p:childTnLst>
                                </p:cTn>
                              </p:par>
                            </p:childTnLst>
                          </p:cTn>
                        </p:par>
                        <p:par>
                          <p:cTn id="94" fill="hold">
                            <p:stCondLst>
                              <p:cond delay="1600"/>
                            </p:stCondLst>
                            <p:childTnLst>
                              <p:par>
                                <p:cTn id="95" presetID="42" presetClass="entr" presetSubtype="0" fill="hold" grpId="0" nodeType="withEffect">
                                  <p:stCondLst>
                                    <p:cond delay="0"/>
                                  </p:stCondLst>
                                  <p:childTnLst>
                                    <p:set>
                                      <p:cBhvr>
                                        <p:cTn id="96" dur="1" fill="hold">
                                          <p:stCondLst>
                                            <p:cond delay="0"/>
                                          </p:stCondLst>
                                        </p:cTn>
                                        <p:tgtEl>
                                          <p:spTgt spid="20"/>
                                        </p:tgtEl>
                                        <p:attrNameLst>
                                          <p:attrName>style.visibility</p:attrName>
                                        </p:attrNameLst>
                                      </p:cBhvr>
                                      <p:to>
                                        <p:strVal val="visible"/>
                                      </p:to>
                                    </p:set>
                                    <p:animEffect transition="in" filter="fade">
                                      <p:cBhvr>
                                        <p:cTn id="97" dur="600"/>
                                        <p:tgtEl>
                                          <p:spTgt spid="20"/>
                                        </p:tgtEl>
                                      </p:cBhvr>
                                    </p:animEffect>
                                    <p:anim calcmode="lin" valueType="num">
                                      <p:cBhvr>
                                        <p:cTn id="98" dur="600" fill="hold"/>
                                        <p:tgtEl>
                                          <p:spTgt spid="20"/>
                                        </p:tgtEl>
                                        <p:attrNameLst>
                                          <p:attrName>ppt_x</p:attrName>
                                        </p:attrNameLst>
                                      </p:cBhvr>
                                      <p:tavLst>
                                        <p:tav tm="0">
                                          <p:val>
                                            <p:strVal val="#ppt_x"/>
                                          </p:val>
                                        </p:tav>
                                        <p:tav tm="100000">
                                          <p:val>
                                            <p:strVal val="#ppt_x"/>
                                          </p:val>
                                        </p:tav>
                                      </p:tavLst>
                                    </p:anim>
                                    <p:anim calcmode="lin" valueType="num">
                                      <p:cBhvr>
                                        <p:cTn id="99" dur="600" decel="100000" fill="hold"/>
                                        <p:tgtEl>
                                          <p:spTgt spid="20"/>
                                        </p:tgtEl>
                                        <p:attrNameLst>
                                          <p:attrName>ppt_y</p:attrName>
                                        </p:attrNameLst>
                                      </p:cBhvr>
                                      <p:tavLst>
                                        <p:tav tm="0">
                                          <p:val>
                                            <p:strVal val="#ppt_y+.05"/>
                                          </p:val>
                                        </p:tav>
                                        <p:tav tm="100000">
                                          <p:val>
                                            <p:strVal val="#ppt_y"/>
                                          </p:val>
                                        </p:tav>
                                      </p:tavLst>
                                    </p:anim>
                                  </p:childTnLst>
                                </p:cTn>
                              </p:par>
                            </p:childTnLst>
                          </p:cTn>
                        </p:par>
                        <p:par>
                          <p:cTn id="100" fill="hold">
                            <p:stCondLst>
                              <p:cond delay="1600"/>
                            </p:stCondLst>
                            <p:childTnLst>
                              <p:par>
                                <p:cTn id="101" presetID="42" presetClass="entr" presetSubtype="0" fill="hold" grpId="0" nodeType="withEffect">
                                  <p:stCondLst>
                                    <p:cond delay="0"/>
                                  </p:stCondLst>
                                  <p:childTnLst>
                                    <p:set>
                                      <p:cBhvr>
                                        <p:cTn id="102" dur="1" fill="hold">
                                          <p:stCondLst>
                                            <p:cond delay="0"/>
                                          </p:stCondLst>
                                        </p:cTn>
                                        <p:tgtEl>
                                          <p:spTgt spid="21"/>
                                        </p:tgtEl>
                                        <p:attrNameLst>
                                          <p:attrName>style.visibility</p:attrName>
                                        </p:attrNameLst>
                                      </p:cBhvr>
                                      <p:to>
                                        <p:strVal val="visible"/>
                                      </p:to>
                                    </p:set>
                                    <p:animEffect transition="in" filter="fade">
                                      <p:cBhvr>
                                        <p:cTn id="103" dur="600"/>
                                        <p:tgtEl>
                                          <p:spTgt spid="21"/>
                                        </p:tgtEl>
                                      </p:cBhvr>
                                    </p:animEffect>
                                    <p:anim calcmode="lin" valueType="num">
                                      <p:cBhvr>
                                        <p:cTn id="104" dur="600" fill="hold"/>
                                        <p:tgtEl>
                                          <p:spTgt spid="21"/>
                                        </p:tgtEl>
                                        <p:attrNameLst>
                                          <p:attrName>ppt_x</p:attrName>
                                        </p:attrNameLst>
                                      </p:cBhvr>
                                      <p:tavLst>
                                        <p:tav tm="0">
                                          <p:val>
                                            <p:strVal val="#ppt_x"/>
                                          </p:val>
                                        </p:tav>
                                        <p:tav tm="100000">
                                          <p:val>
                                            <p:strVal val="#ppt_x"/>
                                          </p:val>
                                        </p:tav>
                                      </p:tavLst>
                                    </p:anim>
                                    <p:anim calcmode="lin" valueType="num">
                                      <p:cBhvr>
                                        <p:cTn id="105" dur="600" decel="100000" fill="hold"/>
                                        <p:tgtEl>
                                          <p:spTgt spid="21"/>
                                        </p:tgtEl>
                                        <p:attrNameLst>
                                          <p:attrName>ppt_y</p:attrName>
                                        </p:attrNameLst>
                                      </p:cBhvr>
                                      <p:tavLst>
                                        <p:tav tm="0">
                                          <p:val>
                                            <p:strVal val="#ppt_y+.05"/>
                                          </p:val>
                                        </p:tav>
                                        <p:tav tm="100000">
                                          <p:val>
                                            <p:strVal val="#ppt_y"/>
                                          </p:val>
                                        </p:tav>
                                      </p:tavLst>
                                    </p:anim>
                                  </p:childTnLst>
                                </p:cTn>
                              </p:par>
                            </p:childTnLst>
                          </p:cTn>
                        </p:par>
                        <p:par>
                          <p:cTn id="106" fill="hold">
                            <p:stCondLst>
                              <p:cond delay="1600"/>
                            </p:stCondLst>
                            <p:childTnLst>
                              <p:par>
                                <p:cTn id="107" presetID="42" presetClass="entr" presetSubtype="0" fill="hold" grpId="0" nodeType="withEffect">
                                  <p:stCondLst>
                                    <p:cond delay="0"/>
                                  </p:stCondLst>
                                  <p:childTnLst>
                                    <p:set>
                                      <p:cBhvr>
                                        <p:cTn id="108" dur="1" fill="hold">
                                          <p:stCondLst>
                                            <p:cond delay="0"/>
                                          </p:stCondLst>
                                        </p:cTn>
                                        <p:tgtEl>
                                          <p:spTgt spid="22"/>
                                        </p:tgtEl>
                                        <p:attrNameLst>
                                          <p:attrName>style.visibility</p:attrName>
                                        </p:attrNameLst>
                                      </p:cBhvr>
                                      <p:to>
                                        <p:strVal val="visible"/>
                                      </p:to>
                                    </p:set>
                                    <p:animEffect transition="in" filter="fade">
                                      <p:cBhvr>
                                        <p:cTn id="109" dur="600"/>
                                        <p:tgtEl>
                                          <p:spTgt spid="22"/>
                                        </p:tgtEl>
                                      </p:cBhvr>
                                    </p:animEffect>
                                    <p:anim calcmode="lin" valueType="num">
                                      <p:cBhvr>
                                        <p:cTn id="110" dur="600" fill="hold"/>
                                        <p:tgtEl>
                                          <p:spTgt spid="22"/>
                                        </p:tgtEl>
                                        <p:attrNameLst>
                                          <p:attrName>ppt_x</p:attrName>
                                        </p:attrNameLst>
                                      </p:cBhvr>
                                      <p:tavLst>
                                        <p:tav tm="0">
                                          <p:val>
                                            <p:strVal val="#ppt_x"/>
                                          </p:val>
                                        </p:tav>
                                        <p:tav tm="100000">
                                          <p:val>
                                            <p:strVal val="#ppt_x"/>
                                          </p:val>
                                        </p:tav>
                                      </p:tavLst>
                                    </p:anim>
                                    <p:anim calcmode="lin" valueType="num">
                                      <p:cBhvr>
                                        <p:cTn id="111" dur="600" decel="100000" fill="hold"/>
                                        <p:tgtEl>
                                          <p:spTgt spid="22"/>
                                        </p:tgtEl>
                                        <p:attrNameLst>
                                          <p:attrName>ppt_y</p:attrName>
                                        </p:attrNameLst>
                                      </p:cBhvr>
                                      <p:tavLst>
                                        <p:tav tm="0">
                                          <p:val>
                                            <p:strVal val="#ppt_y+.05"/>
                                          </p:val>
                                        </p:tav>
                                        <p:tav tm="100000">
                                          <p:val>
                                            <p:strVal val="#ppt_y"/>
                                          </p:val>
                                        </p:tav>
                                      </p:tavLst>
                                    </p:anim>
                                  </p:childTnLst>
                                </p:cTn>
                              </p:par>
                            </p:childTnLst>
                          </p:cTn>
                        </p:par>
                        <p:par>
                          <p:cTn id="112" fill="hold">
                            <p:stCondLst>
                              <p:cond delay="1600"/>
                            </p:stCondLst>
                            <p:childTnLst>
                              <p:par>
                                <p:cTn id="113" presetID="42" presetClass="entr" presetSubtype="0" fill="hold" grpId="0" nodeType="withEffect">
                                  <p:stCondLst>
                                    <p:cond delay="0"/>
                                  </p:stCondLst>
                                  <p:childTnLst>
                                    <p:set>
                                      <p:cBhvr>
                                        <p:cTn id="114" dur="1" fill="hold">
                                          <p:stCondLst>
                                            <p:cond delay="0"/>
                                          </p:stCondLst>
                                        </p:cTn>
                                        <p:tgtEl>
                                          <p:spTgt spid="23"/>
                                        </p:tgtEl>
                                        <p:attrNameLst>
                                          <p:attrName>style.visibility</p:attrName>
                                        </p:attrNameLst>
                                      </p:cBhvr>
                                      <p:to>
                                        <p:strVal val="visible"/>
                                      </p:to>
                                    </p:set>
                                    <p:animEffect transition="in" filter="fade">
                                      <p:cBhvr>
                                        <p:cTn id="115" dur="600"/>
                                        <p:tgtEl>
                                          <p:spTgt spid="23"/>
                                        </p:tgtEl>
                                      </p:cBhvr>
                                    </p:animEffect>
                                    <p:anim calcmode="lin" valueType="num">
                                      <p:cBhvr>
                                        <p:cTn id="116" dur="600" fill="hold"/>
                                        <p:tgtEl>
                                          <p:spTgt spid="23"/>
                                        </p:tgtEl>
                                        <p:attrNameLst>
                                          <p:attrName>ppt_x</p:attrName>
                                        </p:attrNameLst>
                                      </p:cBhvr>
                                      <p:tavLst>
                                        <p:tav tm="0">
                                          <p:val>
                                            <p:strVal val="#ppt_x"/>
                                          </p:val>
                                        </p:tav>
                                        <p:tav tm="100000">
                                          <p:val>
                                            <p:strVal val="#ppt_x"/>
                                          </p:val>
                                        </p:tav>
                                      </p:tavLst>
                                    </p:anim>
                                    <p:anim calcmode="lin" valueType="num">
                                      <p:cBhvr>
                                        <p:cTn id="117" dur="600" decel="100000" fill="hold"/>
                                        <p:tgtEl>
                                          <p:spTgt spid="23"/>
                                        </p:tgtEl>
                                        <p:attrNameLst>
                                          <p:attrName>ppt_y</p:attrName>
                                        </p:attrNameLst>
                                      </p:cBhvr>
                                      <p:tavLst>
                                        <p:tav tm="0">
                                          <p:val>
                                            <p:strVal val="#ppt_y+.05"/>
                                          </p:val>
                                        </p:tav>
                                        <p:tav tm="100000">
                                          <p:val>
                                            <p:strVal val="#ppt_y"/>
                                          </p:val>
                                        </p:tav>
                                      </p:tavLst>
                                    </p:anim>
                                  </p:childTnLst>
                                </p:cTn>
                              </p:par>
                            </p:childTnLst>
                          </p:cTn>
                        </p:par>
                        <p:par>
                          <p:cTn id="118" fill="hold">
                            <p:stCondLst>
                              <p:cond delay="1600"/>
                            </p:stCondLst>
                            <p:childTnLst>
                              <p:par>
                                <p:cTn id="119" presetID="42" presetClass="entr" presetSubtype="0" fill="hold" grpId="0" nodeType="withEffect">
                                  <p:stCondLst>
                                    <p:cond delay="0"/>
                                  </p:stCondLst>
                                  <p:childTnLst>
                                    <p:set>
                                      <p:cBhvr>
                                        <p:cTn id="120" dur="1" fill="hold">
                                          <p:stCondLst>
                                            <p:cond delay="0"/>
                                          </p:stCondLst>
                                        </p:cTn>
                                        <p:tgtEl>
                                          <p:spTgt spid="24"/>
                                        </p:tgtEl>
                                        <p:attrNameLst>
                                          <p:attrName>style.visibility</p:attrName>
                                        </p:attrNameLst>
                                      </p:cBhvr>
                                      <p:to>
                                        <p:strVal val="visible"/>
                                      </p:to>
                                    </p:set>
                                    <p:animEffect transition="in" filter="fade">
                                      <p:cBhvr>
                                        <p:cTn id="121" dur="600"/>
                                        <p:tgtEl>
                                          <p:spTgt spid="24"/>
                                        </p:tgtEl>
                                      </p:cBhvr>
                                    </p:animEffect>
                                    <p:anim calcmode="lin" valueType="num">
                                      <p:cBhvr>
                                        <p:cTn id="122" dur="600" fill="hold"/>
                                        <p:tgtEl>
                                          <p:spTgt spid="24"/>
                                        </p:tgtEl>
                                        <p:attrNameLst>
                                          <p:attrName>ppt_x</p:attrName>
                                        </p:attrNameLst>
                                      </p:cBhvr>
                                      <p:tavLst>
                                        <p:tav tm="0">
                                          <p:val>
                                            <p:strVal val="#ppt_x"/>
                                          </p:val>
                                        </p:tav>
                                        <p:tav tm="100000">
                                          <p:val>
                                            <p:strVal val="#ppt_x"/>
                                          </p:val>
                                        </p:tav>
                                      </p:tavLst>
                                    </p:anim>
                                    <p:anim calcmode="lin" valueType="num">
                                      <p:cBhvr>
                                        <p:cTn id="123" dur="600" decel="100000" fill="hold"/>
                                        <p:tgtEl>
                                          <p:spTgt spid="24"/>
                                        </p:tgtEl>
                                        <p:attrNameLst>
                                          <p:attrName>ppt_y</p:attrName>
                                        </p:attrNameLst>
                                      </p:cBhvr>
                                      <p:tavLst>
                                        <p:tav tm="0">
                                          <p:val>
                                            <p:strVal val="#ppt_y+.05"/>
                                          </p:val>
                                        </p:tav>
                                        <p:tav tm="100000">
                                          <p:val>
                                            <p:strVal val="#ppt_y"/>
                                          </p:val>
                                        </p:tav>
                                      </p:tavLst>
                                    </p:anim>
                                  </p:childTnLst>
                                </p:cTn>
                              </p:par>
                            </p:childTnLst>
                          </p:cTn>
                        </p:par>
                        <p:par>
                          <p:cTn id="124" fill="hold">
                            <p:stCondLst>
                              <p:cond delay="1600"/>
                            </p:stCondLst>
                            <p:childTnLst>
                              <p:par>
                                <p:cTn id="125" presetID="42" presetClass="entr" presetSubtype="0" fill="hold" grpId="0" nodeType="withEffect">
                                  <p:stCondLst>
                                    <p:cond delay="0"/>
                                  </p:stCondLst>
                                  <p:childTnLst>
                                    <p:set>
                                      <p:cBhvr>
                                        <p:cTn id="126" dur="1" fill="hold">
                                          <p:stCondLst>
                                            <p:cond delay="0"/>
                                          </p:stCondLst>
                                        </p:cTn>
                                        <p:tgtEl>
                                          <p:spTgt spid="25"/>
                                        </p:tgtEl>
                                        <p:attrNameLst>
                                          <p:attrName>style.visibility</p:attrName>
                                        </p:attrNameLst>
                                      </p:cBhvr>
                                      <p:to>
                                        <p:strVal val="visible"/>
                                      </p:to>
                                    </p:set>
                                    <p:animEffect transition="in" filter="fade">
                                      <p:cBhvr>
                                        <p:cTn id="127" dur="600"/>
                                        <p:tgtEl>
                                          <p:spTgt spid="25"/>
                                        </p:tgtEl>
                                      </p:cBhvr>
                                    </p:animEffect>
                                    <p:anim calcmode="lin" valueType="num">
                                      <p:cBhvr>
                                        <p:cTn id="128" dur="600" fill="hold"/>
                                        <p:tgtEl>
                                          <p:spTgt spid="25"/>
                                        </p:tgtEl>
                                        <p:attrNameLst>
                                          <p:attrName>ppt_x</p:attrName>
                                        </p:attrNameLst>
                                      </p:cBhvr>
                                      <p:tavLst>
                                        <p:tav tm="0">
                                          <p:val>
                                            <p:strVal val="#ppt_x"/>
                                          </p:val>
                                        </p:tav>
                                        <p:tav tm="100000">
                                          <p:val>
                                            <p:strVal val="#ppt_x"/>
                                          </p:val>
                                        </p:tav>
                                      </p:tavLst>
                                    </p:anim>
                                    <p:anim calcmode="lin" valueType="num">
                                      <p:cBhvr>
                                        <p:cTn id="129" dur="600" decel="100000" fill="hold"/>
                                        <p:tgtEl>
                                          <p:spTgt spid="25"/>
                                        </p:tgtEl>
                                        <p:attrNameLst>
                                          <p:attrName>ppt_y</p:attrName>
                                        </p:attrNameLst>
                                      </p:cBhvr>
                                      <p:tavLst>
                                        <p:tav tm="0">
                                          <p:val>
                                            <p:strVal val="#ppt_y+.05"/>
                                          </p:val>
                                        </p:tav>
                                        <p:tav tm="100000">
                                          <p:val>
                                            <p:strVal val="#ppt_y"/>
                                          </p:val>
                                        </p:tav>
                                      </p:tavLst>
                                    </p:anim>
                                  </p:childTnLst>
                                </p:cTn>
                              </p:par>
                            </p:childTnLst>
                          </p:cTn>
                        </p:par>
                        <p:par>
                          <p:cTn id="130" fill="hold">
                            <p:stCondLst>
                              <p:cond delay="1600"/>
                            </p:stCondLst>
                            <p:childTnLst>
                              <p:par>
                                <p:cTn id="131" presetID="42" presetClass="entr" presetSubtype="0" fill="hold" grpId="0" nodeType="withEffect">
                                  <p:stCondLst>
                                    <p:cond delay="0"/>
                                  </p:stCondLst>
                                  <p:childTnLst>
                                    <p:set>
                                      <p:cBhvr>
                                        <p:cTn id="132" dur="1" fill="hold">
                                          <p:stCondLst>
                                            <p:cond delay="0"/>
                                          </p:stCondLst>
                                        </p:cTn>
                                        <p:tgtEl>
                                          <p:spTgt spid="26"/>
                                        </p:tgtEl>
                                        <p:attrNameLst>
                                          <p:attrName>style.visibility</p:attrName>
                                        </p:attrNameLst>
                                      </p:cBhvr>
                                      <p:to>
                                        <p:strVal val="visible"/>
                                      </p:to>
                                    </p:set>
                                    <p:animEffect transition="in" filter="fade">
                                      <p:cBhvr>
                                        <p:cTn id="133" dur="600"/>
                                        <p:tgtEl>
                                          <p:spTgt spid="26"/>
                                        </p:tgtEl>
                                      </p:cBhvr>
                                    </p:animEffect>
                                    <p:anim calcmode="lin" valueType="num">
                                      <p:cBhvr>
                                        <p:cTn id="134" dur="600" fill="hold"/>
                                        <p:tgtEl>
                                          <p:spTgt spid="26"/>
                                        </p:tgtEl>
                                        <p:attrNameLst>
                                          <p:attrName>ppt_x</p:attrName>
                                        </p:attrNameLst>
                                      </p:cBhvr>
                                      <p:tavLst>
                                        <p:tav tm="0">
                                          <p:val>
                                            <p:strVal val="#ppt_x"/>
                                          </p:val>
                                        </p:tav>
                                        <p:tav tm="100000">
                                          <p:val>
                                            <p:strVal val="#ppt_x"/>
                                          </p:val>
                                        </p:tav>
                                      </p:tavLst>
                                    </p:anim>
                                    <p:anim calcmode="lin" valueType="num">
                                      <p:cBhvr>
                                        <p:cTn id="135" dur="600" decel="100000" fill="hold"/>
                                        <p:tgtEl>
                                          <p:spTgt spid="26"/>
                                        </p:tgtEl>
                                        <p:attrNameLst>
                                          <p:attrName>ppt_y</p:attrName>
                                        </p:attrNameLst>
                                      </p:cBhvr>
                                      <p:tavLst>
                                        <p:tav tm="0">
                                          <p:val>
                                            <p:strVal val="#ppt_y+.05"/>
                                          </p:val>
                                        </p:tav>
                                        <p:tav tm="100000">
                                          <p:val>
                                            <p:strVal val="#ppt_y"/>
                                          </p:val>
                                        </p:tav>
                                      </p:tavLst>
                                    </p:anim>
                                  </p:childTnLst>
                                </p:cTn>
                              </p:par>
                            </p:childTnLst>
                          </p:cTn>
                        </p:par>
                        <p:par>
                          <p:cTn id="136" fill="hold">
                            <p:stCondLst>
                              <p:cond delay="1600"/>
                            </p:stCondLst>
                            <p:childTnLst>
                              <p:par>
                                <p:cTn id="137" presetID="42" presetClass="entr" presetSubtype="0" fill="hold" grpId="0" nodeType="withEffect">
                                  <p:stCondLst>
                                    <p:cond delay="0"/>
                                  </p:stCondLst>
                                  <p:childTnLst>
                                    <p:set>
                                      <p:cBhvr>
                                        <p:cTn id="138" dur="1" fill="hold">
                                          <p:stCondLst>
                                            <p:cond delay="0"/>
                                          </p:stCondLst>
                                        </p:cTn>
                                        <p:tgtEl>
                                          <p:spTgt spid="27"/>
                                        </p:tgtEl>
                                        <p:attrNameLst>
                                          <p:attrName>style.visibility</p:attrName>
                                        </p:attrNameLst>
                                      </p:cBhvr>
                                      <p:to>
                                        <p:strVal val="visible"/>
                                      </p:to>
                                    </p:set>
                                    <p:animEffect transition="in" filter="fade">
                                      <p:cBhvr>
                                        <p:cTn id="139" dur="600"/>
                                        <p:tgtEl>
                                          <p:spTgt spid="27"/>
                                        </p:tgtEl>
                                      </p:cBhvr>
                                    </p:animEffect>
                                    <p:anim calcmode="lin" valueType="num">
                                      <p:cBhvr>
                                        <p:cTn id="140" dur="600" fill="hold"/>
                                        <p:tgtEl>
                                          <p:spTgt spid="27"/>
                                        </p:tgtEl>
                                        <p:attrNameLst>
                                          <p:attrName>ppt_x</p:attrName>
                                        </p:attrNameLst>
                                      </p:cBhvr>
                                      <p:tavLst>
                                        <p:tav tm="0">
                                          <p:val>
                                            <p:strVal val="#ppt_x"/>
                                          </p:val>
                                        </p:tav>
                                        <p:tav tm="100000">
                                          <p:val>
                                            <p:strVal val="#ppt_x"/>
                                          </p:val>
                                        </p:tav>
                                      </p:tavLst>
                                    </p:anim>
                                    <p:anim calcmode="lin" valueType="num">
                                      <p:cBhvr>
                                        <p:cTn id="141" dur="600" decel="100000" fill="hold"/>
                                        <p:tgtEl>
                                          <p:spTgt spid="27"/>
                                        </p:tgtEl>
                                        <p:attrNameLst>
                                          <p:attrName>ppt_y</p:attrName>
                                        </p:attrNameLst>
                                      </p:cBhvr>
                                      <p:tavLst>
                                        <p:tav tm="0">
                                          <p:val>
                                            <p:strVal val="#ppt_y+.05"/>
                                          </p:val>
                                        </p:tav>
                                        <p:tav tm="100000">
                                          <p:val>
                                            <p:strVal val="#ppt_y"/>
                                          </p:val>
                                        </p:tav>
                                      </p:tavLst>
                                    </p:anim>
                                  </p:childTnLst>
                                </p:cTn>
                              </p:par>
                            </p:childTnLst>
                          </p:cTn>
                        </p:par>
                        <p:par>
                          <p:cTn id="142" fill="hold">
                            <p:stCondLst>
                              <p:cond delay="1600"/>
                            </p:stCondLst>
                            <p:childTnLst>
                              <p:par>
                                <p:cTn id="143" presetID="42" presetClass="entr" presetSubtype="0" fill="hold" grpId="0" nodeType="withEffect">
                                  <p:stCondLst>
                                    <p:cond delay="0"/>
                                  </p:stCondLst>
                                  <p:childTnLst>
                                    <p:set>
                                      <p:cBhvr>
                                        <p:cTn id="144" dur="1" fill="hold">
                                          <p:stCondLst>
                                            <p:cond delay="0"/>
                                          </p:stCondLst>
                                        </p:cTn>
                                        <p:tgtEl>
                                          <p:spTgt spid="28"/>
                                        </p:tgtEl>
                                        <p:attrNameLst>
                                          <p:attrName>style.visibility</p:attrName>
                                        </p:attrNameLst>
                                      </p:cBhvr>
                                      <p:to>
                                        <p:strVal val="visible"/>
                                      </p:to>
                                    </p:set>
                                    <p:animEffect transition="in" filter="fade">
                                      <p:cBhvr>
                                        <p:cTn id="145" dur="600"/>
                                        <p:tgtEl>
                                          <p:spTgt spid="28"/>
                                        </p:tgtEl>
                                      </p:cBhvr>
                                    </p:animEffect>
                                    <p:anim calcmode="lin" valueType="num">
                                      <p:cBhvr>
                                        <p:cTn id="146" dur="600" fill="hold"/>
                                        <p:tgtEl>
                                          <p:spTgt spid="28"/>
                                        </p:tgtEl>
                                        <p:attrNameLst>
                                          <p:attrName>ppt_x</p:attrName>
                                        </p:attrNameLst>
                                      </p:cBhvr>
                                      <p:tavLst>
                                        <p:tav tm="0">
                                          <p:val>
                                            <p:strVal val="#ppt_x"/>
                                          </p:val>
                                        </p:tav>
                                        <p:tav tm="100000">
                                          <p:val>
                                            <p:strVal val="#ppt_x"/>
                                          </p:val>
                                        </p:tav>
                                      </p:tavLst>
                                    </p:anim>
                                    <p:anim calcmode="lin" valueType="num">
                                      <p:cBhvr>
                                        <p:cTn id="147" dur="600" decel="100000" fill="hold"/>
                                        <p:tgtEl>
                                          <p:spTgt spid="28"/>
                                        </p:tgtEl>
                                        <p:attrNameLst>
                                          <p:attrName>ppt_y</p:attrName>
                                        </p:attrNameLst>
                                      </p:cBhvr>
                                      <p:tavLst>
                                        <p:tav tm="0">
                                          <p:val>
                                            <p:strVal val="#ppt_y+.05"/>
                                          </p:val>
                                        </p:tav>
                                        <p:tav tm="100000">
                                          <p:val>
                                            <p:strVal val="#ppt_y"/>
                                          </p:val>
                                        </p:tav>
                                      </p:tavLst>
                                    </p:anim>
                                  </p:childTnLst>
                                </p:cTn>
                              </p:par>
                            </p:childTnLst>
                          </p:cTn>
                        </p:par>
                        <p:par>
                          <p:cTn id="148" fill="hold">
                            <p:stCondLst>
                              <p:cond delay="2050"/>
                            </p:stCondLst>
                            <p:childTnLst>
                              <p:par>
                                <p:cTn id="149" presetID="42" presetClass="entr" presetSubtype="0" fill="hold" grpId="0" nodeType="withEffect">
                                  <p:stCondLst>
                                    <p:cond delay="0"/>
                                  </p:stCondLst>
                                  <p:childTnLst>
                                    <p:set>
                                      <p:cBhvr>
                                        <p:cTn id="150" dur="1" fill="hold">
                                          <p:stCondLst>
                                            <p:cond delay="0"/>
                                          </p:stCondLst>
                                        </p:cTn>
                                        <p:tgtEl>
                                          <p:spTgt spid="29"/>
                                        </p:tgtEl>
                                        <p:attrNameLst>
                                          <p:attrName>style.visibility</p:attrName>
                                        </p:attrNameLst>
                                      </p:cBhvr>
                                      <p:to>
                                        <p:strVal val="visible"/>
                                      </p:to>
                                    </p:set>
                                    <p:animEffect transition="in" filter="fade">
                                      <p:cBhvr>
                                        <p:cTn id="151" dur="600"/>
                                        <p:tgtEl>
                                          <p:spTgt spid="29"/>
                                        </p:tgtEl>
                                      </p:cBhvr>
                                    </p:animEffect>
                                    <p:anim calcmode="lin" valueType="num">
                                      <p:cBhvr>
                                        <p:cTn id="152" dur="600" fill="hold"/>
                                        <p:tgtEl>
                                          <p:spTgt spid="29"/>
                                        </p:tgtEl>
                                        <p:attrNameLst>
                                          <p:attrName>ppt_x</p:attrName>
                                        </p:attrNameLst>
                                      </p:cBhvr>
                                      <p:tavLst>
                                        <p:tav tm="0">
                                          <p:val>
                                            <p:strVal val="#ppt_x"/>
                                          </p:val>
                                        </p:tav>
                                        <p:tav tm="100000">
                                          <p:val>
                                            <p:strVal val="#ppt_x"/>
                                          </p:val>
                                        </p:tav>
                                      </p:tavLst>
                                    </p:anim>
                                    <p:anim calcmode="lin" valueType="num">
                                      <p:cBhvr>
                                        <p:cTn id="153" dur="600" decel="100000" fill="hold"/>
                                        <p:tgtEl>
                                          <p:spTgt spid="29"/>
                                        </p:tgtEl>
                                        <p:attrNameLst>
                                          <p:attrName>ppt_y</p:attrName>
                                        </p:attrNameLst>
                                      </p:cBhvr>
                                      <p:tavLst>
                                        <p:tav tm="0">
                                          <p:val>
                                            <p:strVal val="#ppt_y+.05"/>
                                          </p:val>
                                        </p:tav>
                                        <p:tav tm="100000">
                                          <p:val>
                                            <p:strVal val="#ppt_y"/>
                                          </p:val>
                                        </p:tav>
                                      </p:tavLst>
                                    </p:anim>
                                  </p:childTnLst>
                                </p:cTn>
                              </p:par>
                            </p:childTnLst>
                          </p:cTn>
                        </p:par>
                        <p:par>
                          <p:cTn id="154" fill="hold">
                            <p:stCondLst>
                              <p:cond delay="2050"/>
                            </p:stCondLst>
                            <p:childTnLst>
                              <p:par>
                                <p:cTn id="155" presetID="42" presetClass="entr" presetSubtype="0" fill="hold" grpId="0" nodeType="withEffect">
                                  <p:stCondLst>
                                    <p:cond delay="0"/>
                                  </p:stCondLst>
                                  <p:childTnLst>
                                    <p:set>
                                      <p:cBhvr>
                                        <p:cTn id="156" dur="1" fill="hold">
                                          <p:stCondLst>
                                            <p:cond delay="0"/>
                                          </p:stCondLst>
                                        </p:cTn>
                                        <p:tgtEl>
                                          <p:spTgt spid="30"/>
                                        </p:tgtEl>
                                        <p:attrNameLst>
                                          <p:attrName>style.visibility</p:attrName>
                                        </p:attrNameLst>
                                      </p:cBhvr>
                                      <p:to>
                                        <p:strVal val="visible"/>
                                      </p:to>
                                    </p:set>
                                    <p:animEffect transition="in" filter="fade">
                                      <p:cBhvr>
                                        <p:cTn id="157" dur="600"/>
                                        <p:tgtEl>
                                          <p:spTgt spid="30"/>
                                        </p:tgtEl>
                                      </p:cBhvr>
                                    </p:animEffect>
                                    <p:anim calcmode="lin" valueType="num">
                                      <p:cBhvr>
                                        <p:cTn id="158" dur="600" fill="hold"/>
                                        <p:tgtEl>
                                          <p:spTgt spid="30"/>
                                        </p:tgtEl>
                                        <p:attrNameLst>
                                          <p:attrName>ppt_x</p:attrName>
                                        </p:attrNameLst>
                                      </p:cBhvr>
                                      <p:tavLst>
                                        <p:tav tm="0">
                                          <p:val>
                                            <p:strVal val="#ppt_x"/>
                                          </p:val>
                                        </p:tav>
                                        <p:tav tm="100000">
                                          <p:val>
                                            <p:strVal val="#ppt_x"/>
                                          </p:val>
                                        </p:tav>
                                      </p:tavLst>
                                    </p:anim>
                                    <p:anim calcmode="lin" valueType="num">
                                      <p:cBhvr>
                                        <p:cTn id="159" dur="600" decel="100000" fill="hold"/>
                                        <p:tgtEl>
                                          <p:spTgt spid="30"/>
                                        </p:tgtEl>
                                        <p:attrNameLst>
                                          <p:attrName>ppt_y</p:attrName>
                                        </p:attrNameLst>
                                      </p:cBhvr>
                                      <p:tavLst>
                                        <p:tav tm="0">
                                          <p:val>
                                            <p:strVal val="#ppt_y+.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10" grpId="0" animBg="1"/>
      <p:bldP spid="11" grpId="0" animBg="1"/>
      <p:bldP spid="13" grpId="0" animBg="1"/>
      <p:bldP spid="14" grpId="0" animBg="1"/>
      <p:bldP spid="16" grpId="0" animBg="1"/>
      <p:bldP spid="17" grpId="0" animBg="1"/>
      <p:bldP spid="18" grpId="0" animBg="1"/>
      <p:bldP spid="19" grpId="0" animBg="1"/>
      <p:bldP spid="20" grpId="0" animBg="1"/>
      <p:bldP spid="22" grpId="0" animBg="1"/>
      <p:bldP spid="23" grpId="0" animBg="1"/>
      <p:bldP spid="25" grpId="0" animBg="1"/>
      <p:bldP spid="26" grpId="0" animBg="1"/>
      <p:bldP spid="28" grpId="0" animBg="1"/>
      <p:bldP spid="29" grpId="0" animBg="1"/>
      <p:bldP spid="30"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0"/>
          <p:cNvSpPr txBox="1"/>
          <p:nvPr/>
        </p:nvSpPr>
        <p:spPr>
          <a:xfrm>
            <a:off x="548640" y="292608"/>
            <a:ext cx="7315200" cy="292608"/>
          </a:xfrm>
          <a:prstGeom prst="rect">
            <a:avLst/>
          </a:prstGeom>
          <a:noFill/>
          <a:ln/>
        </p:spPr>
        <p:txBody>
          <a:bodyPr wrap="square" lIns="0" tIns="0" rIns="0" bIns="0" rtlCol="0" anchor="ctr"/>
          <a:lstStyle/>
          <a:p>
            <a:pPr indent="0" marL="0">
              <a:buNone/>
            </a:pPr>
            <a:r>
              <a:rPr lang="ru-RU" sz="1300" b="1" spc="200" kern="0" dirty="0">
                <a:solidFill>
                  <a:schemeClr val="accent1"/>
                </a:solidFill>
              </a:rPr>
              <a:t>03  ·  ХОЗЯЙСТВЕННЫЕ ТОВАРИЩЕСТВА</a:t>
            </a:r>
            <a:endParaRPr lang="ru-RU" sz="1300" dirty="0"/>
          </a:p>
        </p:txBody>
      </p:sp>
      <p:sp>
        <p:nvSpPr>
          <p:cNvPr id="4" name="Text 0"/>
          <p:cNvSpPr/>
          <p:nvPr>
            <p:ph idx="100" type="title" hasCustomPrompt="1"/>
          </p:nvPr>
        </p:nvSpPr>
        <p:spPr>
          <a:xfrm>
            <a:off x="548640" y="566928"/>
            <a:ext cx="11064240" cy="731520"/>
          </a:xfrm>
          <a:prstGeom prst="rect">
            <a:avLst/>
          </a:prstGeom>
          <a:noFill/>
          <a:ln/>
        </p:spPr>
        <p:txBody>
          <a:bodyPr wrap="square" lIns="0" tIns="0" rIns="0" bIns="0" rtlCol="0" anchor="ctr"/>
          <a:lstStyle/>
          <a:p>
            <a:pPr algn="l" indent="0" marL="0">
              <a:buNone/>
            </a:pPr>
            <a:r>
              <a:rPr lang="ru-RU" sz="3400" b="1" dirty="0">
                <a:solidFill>
                  <a:schemeClr val="tx1"/>
                </a:solidFill>
                <a:latin typeface="Georgia" pitchFamily="34" charset="0"/>
                <a:ea typeface="Georgia" pitchFamily="34" charset="-122"/>
                <a:cs typeface="Georgia" pitchFamily="34" charset="-120"/>
              </a:rPr>
              <a:t>Товарищества: кто рискует всем</a:t>
            </a:r>
            <a:endParaRPr lang="ru-RU" sz="3400" dirty="0"/>
          </a:p>
        </p:txBody>
      </p:sp>
      <p:sp>
        <p:nvSpPr>
          <p:cNvPr id="5" name="a_01_c0"/>
          <p:cNvSpPr/>
          <p:nvPr/>
        </p:nvSpPr>
        <p:spPr>
          <a:xfrm>
            <a:off x="548640" y="1463040"/>
            <a:ext cx="5440680" cy="3657600"/>
          </a:xfrm>
          <a:prstGeom prst="roundRect">
            <a:avLst>
              <a:gd name="adj" fmla="val 3000"/>
            </a:avLst>
          </a:prstGeom>
          <a:solidFill>
            <a:schemeClr val="bg2"/>
          </a:solidFill>
          <a:ln w="9525">
            <a:solidFill>
              <a:schemeClr val="bg2"/>
            </a:solidFill>
            <a:prstDash val="solid"/>
          </a:ln>
        </p:spPr>
      </p:sp>
      <p:sp>
        <p:nvSpPr>
          <p:cNvPr id="6" name="a_01_h0"/>
          <p:cNvSpPr txBox="1"/>
          <p:nvPr/>
        </p:nvSpPr>
        <p:spPr>
          <a:xfrm>
            <a:off x="868680" y="1645920"/>
            <a:ext cx="4846320" cy="457200"/>
          </a:xfrm>
          <a:prstGeom prst="rect">
            <a:avLst/>
          </a:prstGeom>
          <a:noFill/>
          <a:ln/>
        </p:spPr>
        <p:txBody>
          <a:bodyPr wrap="square" lIns="0" tIns="0" rIns="0" bIns="0" rtlCol="0" anchor="ctr"/>
          <a:lstStyle/>
          <a:p>
            <a:pPr indent="0" marL="0">
              <a:buNone/>
            </a:pPr>
            <a:r>
              <a:rPr lang="ru-RU" sz="2400" b="1" dirty="0">
                <a:solidFill>
                  <a:schemeClr val="tx1"/>
                </a:solidFill>
                <a:latin typeface="Georgia" pitchFamily="34" charset="0"/>
                <a:ea typeface="Georgia" pitchFamily="34" charset="-122"/>
                <a:cs typeface="Georgia" pitchFamily="34" charset="-120"/>
              </a:rPr>
              <a:t>Полное товарищество</a:t>
            </a:r>
            <a:endParaRPr lang="ru-RU" sz="2400" dirty="0"/>
          </a:p>
        </p:txBody>
      </p:sp>
      <p:sp>
        <p:nvSpPr>
          <p:cNvPr id="7" name="a_01_s0"/>
          <p:cNvSpPr txBox="1"/>
          <p:nvPr/>
        </p:nvSpPr>
        <p:spPr>
          <a:xfrm>
            <a:off x="868680" y="2103120"/>
            <a:ext cx="4846320" cy="365760"/>
          </a:xfrm>
          <a:prstGeom prst="rect">
            <a:avLst/>
          </a:prstGeom>
          <a:noFill/>
          <a:ln/>
        </p:spPr>
        <p:txBody>
          <a:bodyPr wrap="square" lIns="0" tIns="0" rIns="0" bIns="0" rtlCol="0" anchor="ctr"/>
          <a:lstStyle/>
          <a:p>
            <a:pPr indent="0" marL="0">
              <a:buNone/>
            </a:pPr>
            <a:r>
              <a:rPr lang="ru-RU" sz="1500" dirty="0">
                <a:solidFill>
                  <a:schemeClr val="tx2"/>
                </a:solidFill>
              </a:rPr>
              <a:t>все участники ведут дело сами</a:t>
            </a:r>
            <a:endParaRPr lang="ru-RU" sz="1500" dirty="0"/>
          </a:p>
        </p:txBody>
      </p:sp>
      <p:sp>
        <p:nvSpPr>
          <p:cNvPr id="8" name="a_01_lg0"/>
          <p:cNvSpPr txBox="1"/>
          <p:nvPr/>
        </p:nvSpPr>
        <p:spPr>
          <a:xfrm>
            <a:off x="2788920" y="2606040"/>
            <a:ext cx="2743200" cy="274320"/>
          </a:xfrm>
          <a:prstGeom prst="rect">
            <a:avLst/>
          </a:prstGeom>
          <a:noFill/>
          <a:ln/>
        </p:spPr>
        <p:txBody>
          <a:bodyPr wrap="square" lIns="0" tIns="0" rIns="0" bIns="0" rtlCol="0" anchor="ctr"/>
          <a:lstStyle/>
          <a:p>
            <a:pPr indent="0" marL="0">
              <a:buNone/>
            </a:pPr>
            <a:r>
              <a:rPr lang="ru-RU" sz="1100" b="1" spc="200" kern="0" dirty="0">
                <a:solidFill>
                  <a:schemeClr val="tx2"/>
                </a:solidFill>
              </a:rPr>
              <a:t>РИСК ПО ДОЛГАМ</a:t>
            </a:r>
            <a:endParaRPr lang="ru-RU" sz="1100" dirty="0"/>
          </a:p>
        </p:txBody>
      </p:sp>
      <p:sp>
        <p:nvSpPr>
          <p:cNvPr id="9" name="a_02_p00_c"/>
          <p:cNvSpPr/>
          <p:nvPr/>
        </p:nvSpPr>
        <p:spPr>
          <a:xfrm>
            <a:off x="868680" y="2971800"/>
            <a:ext cx="640080" cy="640080"/>
          </a:xfrm>
          <a:prstGeom prst="ellipse">
            <a:avLst/>
          </a:prstGeom>
          <a:solidFill>
            <a:schemeClr val="accent4"/>
          </a:solidFill>
          <a:ln w="12700">
            <a:solidFill>
              <a:schemeClr val="accent4"/>
            </a:solidFill>
            <a:prstDash val="solid"/>
          </a:ln>
        </p:spPr>
      </p:sp>
      <p:pic>
        <p:nvPicPr>
          <p:cNvPr id="10" name="a_02_p00_i" descr="/tmp/claude-0/-home-user-musor/c6980a0f-2a52-569f-a1fc-691d09a5d10f/scratchpad/biz/icons/user_w.png">    </p:cNvPr>
          <p:cNvPicPr>
            <a:picLocks noChangeAspect="1"/>
          </p:cNvPicPr>
          <p:nvPr/>
        </p:nvPicPr>
        <p:blipFill>
          <a:blip r:embed="rId1"/>
          <a:stretch>
            <a:fillRect/>
          </a:stretch>
        </p:blipFill>
        <p:spPr>
          <a:xfrm>
            <a:off x="1035101" y="3138221"/>
            <a:ext cx="307238" cy="307238"/>
          </a:xfrm>
          <a:prstGeom prst="rect">
            <a:avLst/>
          </a:prstGeom>
        </p:spPr>
      </p:pic>
      <p:sp>
        <p:nvSpPr>
          <p:cNvPr id="11" name="a_02_w00"/>
          <p:cNvSpPr txBox="1"/>
          <p:nvPr/>
        </p:nvSpPr>
        <p:spPr>
          <a:xfrm>
            <a:off x="1645920" y="3063240"/>
            <a:ext cx="1188720" cy="457200"/>
          </a:xfrm>
          <a:prstGeom prst="rect">
            <a:avLst/>
          </a:prstGeom>
          <a:noFill/>
          <a:ln/>
        </p:spPr>
        <p:txBody>
          <a:bodyPr wrap="square" lIns="0" tIns="0" rIns="0" bIns="0" rtlCol="0" anchor="ctr"/>
          <a:lstStyle/>
          <a:p>
            <a:pPr indent="0" marL="0">
              <a:buNone/>
            </a:pPr>
            <a:r>
              <a:rPr lang="ru-RU" sz="1500" b="1" dirty="0">
                <a:solidFill>
                  <a:schemeClr val="tx1"/>
                </a:solidFill>
              </a:rPr>
              <a:t>Полный товарищ</a:t>
            </a:r>
            <a:endParaRPr lang="ru-RU" sz="1500" dirty="0"/>
          </a:p>
        </p:txBody>
      </p:sp>
      <p:sp>
        <p:nvSpPr>
          <p:cNvPr id="12" name="a_02_bt00"/>
          <p:cNvSpPr/>
          <p:nvPr/>
        </p:nvSpPr>
        <p:spPr>
          <a:xfrm>
            <a:off x="2788920" y="3081528"/>
            <a:ext cx="2834640" cy="384048"/>
          </a:xfrm>
          <a:prstGeom prst="roundRect">
            <a:avLst>
              <a:gd name="adj" fmla="val 50000"/>
            </a:avLst>
          </a:prstGeom>
          <a:solidFill>
            <a:schemeClr val="accent6"/>
          </a:solidFill>
          <a:ln w="12700">
            <a:solidFill>
              <a:schemeClr val="accent6"/>
            </a:solidFill>
            <a:prstDash val="solid"/>
          </a:ln>
        </p:spPr>
      </p:sp>
      <p:sp>
        <p:nvSpPr>
          <p:cNvPr id="13" name="a_02_bf00"/>
          <p:cNvSpPr/>
          <p:nvPr/>
        </p:nvSpPr>
        <p:spPr>
          <a:xfrm>
            <a:off x="2788920" y="3081528"/>
            <a:ext cx="2834640" cy="384048"/>
          </a:xfrm>
          <a:prstGeom prst="roundRect">
            <a:avLst>
              <a:gd name="adj" fmla="val 50000"/>
            </a:avLst>
          </a:prstGeom>
          <a:solidFill>
            <a:schemeClr val="accent4"/>
          </a:solidFill>
          <a:ln w="12700">
            <a:solidFill>
              <a:schemeClr val="accent4"/>
            </a:solidFill>
            <a:prstDash val="solid"/>
          </a:ln>
        </p:spPr>
      </p:sp>
      <p:sp>
        <p:nvSpPr>
          <p:cNvPr id="14" name="a_02_bl00"/>
          <p:cNvSpPr txBox="1"/>
          <p:nvPr/>
        </p:nvSpPr>
        <p:spPr>
          <a:xfrm>
            <a:off x="2788920" y="3502152"/>
            <a:ext cx="2834640" cy="274320"/>
          </a:xfrm>
          <a:prstGeom prst="rect">
            <a:avLst/>
          </a:prstGeom>
          <a:noFill/>
          <a:ln/>
        </p:spPr>
        <p:txBody>
          <a:bodyPr wrap="square" lIns="0" tIns="0" rIns="0" bIns="0" rtlCol="0" anchor="ctr"/>
          <a:lstStyle/>
          <a:p>
            <a:pPr indent="0" marL="0">
              <a:buNone/>
            </a:pPr>
            <a:r>
              <a:rPr lang="ru-RU" sz="1300" dirty="0">
                <a:solidFill>
                  <a:schemeClr val="tx2"/>
                </a:solidFill>
              </a:rPr>
              <a:t>всем имуществом</a:t>
            </a:r>
            <a:endParaRPr lang="ru-RU" sz="1300" dirty="0"/>
          </a:p>
        </p:txBody>
      </p:sp>
      <p:sp>
        <p:nvSpPr>
          <p:cNvPr id="15" name="a_03_p01_c"/>
          <p:cNvSpPr/>
          <p:nvPr/>
        </p:nvSpPr>
        <p:spPr>
          <a:xfrm>
            <a:off x="868680" y="3977640"/>
            <a:ext cx="640080" cy="640080"/>
          </a:xfrm>
          <a:prstGeom prst="ellipse">
            <a:avLst/>
          </a:prstGeom>
          <a:solidFill>
            <a:schemeClr val="accent4"/>
          </a:solidFill>
          <a:ln w="12700">
            <a:solidFill>
              <a:schemeClr val="accent4"/>
            </a:solidFill>
            <a:prstDash val="solid"/>
          </a:ln>
        </p:spPr>
      </p:sp>
      <p:pic>
        <p:nvPicPr>
          <p:cNvPr id="16" name="a_03_p01_i" descr="/tmp/claude-0/-home-user-musor/c6980a0f-2a52-569f-a1fc-691d09a5d10f/scratchpad/biz/icons/user_w.png">    </p:cNvPr>
          <p:cNvPicPr>
            <a:picLocks noChangeAspect="1"/>
          </p:cNvPicPr>
          <p:nvPr/>
        </p:nvPicPr>
        <p:blipFill>
          <a:blip r:embed="rId2"/>
          <a:stretch>
            <a:fillRect/>
          </a:stretch>
        </p:blipFill>
        <p:spPr>
          <a:xfrm>
            <a:off x="1035101" y="4144061"/>
            <a:ext cx="307238" cy="307238"/>
          </a:xfrm>
          <a:prstGeom prst="rect">
            <a:avLst/>
          </a:prstGeom>
        </p:spPr>
      </p:pic>
      <p:sp>
        <p:nvSpPr>
          <p:cNvPr id="17" name="a_03_w01"/>
          <p:cNvSpPr txBox="1"/>
          <p:nvPr/>
        </p:nvSpPr>
        <p:spPr>
          <a:xfrm>
            <a:off x="1645920" y="4069080"/>
            <a:ext cx="1188720" cy="457200"/>
          </a:xfrm>
          <a:prstGeom prst="rect">
            <a:avLst/>
          </a:prstGeom>
          <a:noFill/>
          <a:ln/>
        </p:spPr>
        <p:txBody>
          <a:bodyPr wrap="square" lIns="0" tIns="0" rIns="0" bIns="0" rtlCol="0" anchor="ctr"/>
          <a:lstStyle/>
          <a:p>
            <a:pPr indent="0" marL="0">
              <a:buNone/>
            </a:pPr>
            <a:r>
              <a:rPr lang="ru-RU" sz="1500" b="1" dirty="0">
                <a:solidFill>
                  <a:schemeClr val="tx1"/>
                </a:solidFill>
              </a:rPr>
              <a:t>Полный товарищ</a:t>
            </a:r>
            <a:endParaRPr lang="ru-RU" sz="1500" dirty="0"/>
          </a:p>
        </p:txBody>
      </p:sp>
      <p:sp>
        <p:nvSpPr>
          <p:cNvPr id="18" name="a_03_bt01"/>
          <p:cNvSpPr/>
          <p:nvPr/>
        </p:nvSpPr>
        <p:spPr>
          <a:xfrm>
            <a:off x="2788920" y="4087368"/>
            <a:ext cx="2834640" cy="384048"/>
          </a:xfrm>
          <a:prstGeom prst="roundRect">
            <a:avLst>
              <a:gd name="adj" fmla="val 50000"/>
            </a:avLst>
          </a:prstGeom>
          <a:solidFill>
            <a:schemeClr val="accent6"/>
          </a:solidFill>
          <a:ln w="12700">
            <a:solidFill>
              <a:schemeClr val="accent6"/>
            </a:solidFill>
            <a:prstDash val="solid"/>
          </a:ln>
        </p:spPr>
      </p:sp>
      <p:sp>
        <p:nvSpPr>
          <p:cNvPr id="19" name="a_03_bf01"/>
          <p:cNvSpPr/>
          <p:nvPr/>
        </p:nvSpPr>
        <p:spPr>
          <a:xfrm>
            <a:off x="2788920" y="4087368"/>
            <a:ext cx="2834640" cy="384048"/>
          </a:xfrm>
          <a:prstGeom prst="roundRect">
            <a:avLst>
              <a:gd name="adj" fmla="val 50000"/>
            </a:avLst>
          </a:prstGeom>
          <a:solidFill>
            <a:schemeClr val="accent4"/>
          </a:solidFill>
          <a:ln w="12700">
            <a:solidFill>
              <a:schemeClr val="accent4"/>
            </a:solidFill>
            <a:prstDash val="solid"/>
          </a:ln>
        </p:spPr>
      </p:sp>
      <p:sp>
        <p:nvSpPr>
          <p:cNvPr id="20" name="a_03_bl01"/>
          <p:cNvSpPr txBox="1"/>
          <p:nvPr/>
        </p:nvSpPr>
        <p:spPr>
          <a:xfrm>
            <a:off x="2788920" y="4507992"/>
            <a:ext cx="2834640" cy="274320"/>
          </a:xfrm>
          <a:prstGeom prst="rect">
            <a:avLst/>
          </a:prstGeom>
          <a:noFill/>
          <a:ln/>
        </p:spPr>
        <p:txBody>
          <a:bodyPr wrap="square" lIns="0" tIns="0" rIns="0" bIns="0" rtlCol="0" anchor="ctr"/>
          <a:lstStyle/>
          <a:p>
            <a:pPr indent="0" marL="0">
              <a:buNone/>
            </a:pPr>
            <a:r>
              <a:rPr lang="ru-RU" sz="1300" dirty="0">
                <a:solidFill>
                  <a:schemeClr val="tx2"/>
                </a:solidFill>
              </a:rPr>
              <a:t>всем имуществом</a:t>
            </a:r>
            <a:endParaRPr lang="ru-RU" sz="1300" dirty="0"/>
          </a:p>
        </p:txBody>
      </p:sp>
      <p:sp>
        <p:nvSpPr>
          <p:cNvPr id="21" name="a_04_c1"/>
          <p:cNvSpPr/>
          <p:nvPr/>
        </p:nvSpPr>
        <p:spPr>
          <a:xfrm>
            <a:off x="6172200" y="1463040"/>
            <a:ext cx="5440680" cy="3657600"/>
          </a:xfrm>
          <a:prstGeom prst="roundRect">
            <a:avLst>
              <a:gd name="adj" fmla="val 3000"/>
            </a:avLst>
          </a:prstGeom>
          <a:solidFill>
            <a:schemeClr val="bg2"/>
          </a:solidFill>
          <a:ln w="9525">
            <a:solidFill>
              <a:schemeClr val="bg2"/>
            </a:solidFill>
            <a:prstDash val="solid"/>
          </a:ln>
        </p:spPr>
      </p:sp>
      <p:sp>
        <p:nvSpPr>
          <p:cNvPr id="22" name="a_04_h1"/>
          <p:cNvSpPr txBox="1"/>
          <p:nvPr/>
        </p:nvSpPr>
        <p:spPr>
          <a:xfrm>
            <a:off x="6492240" y="1645920"/>
            <a:ext cx="4846320" cy="457200"/>
          </a:xfrm>
          <a:prstGeom prst="rect">
            <a:avLst/>
          </a:prstGeom>
          <a:noFill/>
          <a:ln/>
        </p:spPr>
        <p:txBody>
          <a:bodyPr wrap="square" lIns="0" tIns="0" rIns="0" bIns="0" rtlCol="0" anchor="ctr"/>
          <a:lstStyle/>
          <a:p>
            <a:pPr indent="0" marL="0">
              <a:buNone/>
            </a:pPr>
            <a:r>
              <a:rPr lang="ru-RU" sz="2400" b="1" dirty="0">
                <a:solidFill>
                  <a:schemeClr val="tx1"/>
                </a:solidFill>
                <a:latin typeface="Georgia" pitchFamily="34" charset="0"/>
                <a:ea typeface="Georgia" pitchFamily="34" charset="-122"/>
                <a:cs typeface="Georgia" pitchFamily="34" charset="-120"/>
              </a:rPr>
              <a:t>Товарищество на вере</a:t>
            </a:r>
            <a:endParaRPr lang="ru-RU" sz="2400" dirty="0"/>
          </a:p>
        </p:txBody>
      </p:sp>
      <p:sp>
        <p:nvSpPr>
          <p:cNvPr id="23" name="a_04_s1"/>
          <p:cNvSpPr txBox="1"/>
          <p:nvPr/>
        </p:nvSpPr>
        <p:spPr>
          <a:xfrm>
            <a:off x="6492240" y="2103120"/>
            <a:ext cx="4846320" cy="365760"/>
          </a:xfrm>
          <a:prstGeom prst="rect">
            <a:avLst/>
          </a:prstGeom>
          <a:noFill/>
          <a:ln/>
        </p:spPr>
        <p:txBody>
          <a:bodyPr wrap="square" lIns="0" tIns="0" rIns="0" bIns="0" rtlCol="0" anchor="ctr"/>
          <a:lstStyle/>
          <a:p>
            <a:pPr indent="0" marL="0">
              <a:buNone/>
            </a:pPr>
            <a:r>
              <a:rPr lang="ru-RU" sz="1500" dirty="0">
                <a:solidFill>
                  <a:schemeClr val="tx2"/>
                </a:solidFill>
              </a:rPr>
              <a:t>коммандитное товарищество</a:t>
            </a:r>
            <a:endParaRPr lang="ru-RU" sz="1500" dirty="0"/>
          </a:p>
        </p:txBody>
      </p:sp>
      <p:sp>
        <p:nvSpPr>
          <p:cNvPr id="24" name="a_04_lg1"/>
          <p:cNvSpPr txBox="1"/>
          <p:nvPr/>
        </p:nvSpPr>
        <p:spPr>
          <a:xfrm>
            <a:off x="8412480" y="2606040"/>
            <a:ext cx="2743200" cy="274320"/>
          </a:xfrm>
          <a:prstGeom prst="rect">
            <a:avLst/>
          </a:prstGeom>
          <a:noFill/>
          <a:ln/>
        </p:spPr>
        <p:txBody>
          <a:bodyPr wrap="square" lIns="0" tIns="0" rIns="0" bIns="0" rtlCol="0" anchor="ctr"/>
          <a:lstStyle/>
          <a:p>
            <a:pPr indent="0" marL="0">
              <a:buNone/>
            </a:pPr>
            <a:r>
              <a:rPr lang="ru-RU" sz="1100" b="1" spc="200" kern="0" dirty="0">
                <a:solidFill>
                  <a:schemeClr val="tx2"/>
                </a:solidFill>
              </a:rPr>
              <a:t>РИСК ПО ДОЛГАМ</a:t>
            </a:r>
            <a:endParaRPr lang="ru-RU" sz="1100" dirty="0"/>
          </a:p>
        </p:txBody>
      </p:sp>
      <p:sp>
        <p:nvSpPr>
          <p:cNvPr id="25" name="a_05_p10_c"/>
          <p:cNvSpPr/>
          <p:nvPr/>
        </p:nvSpPr>
        <p:spPr>
          <a:xfrm>
            <a:off x="6492240" y="2971800"/>
            <a:ext cx="640080" cy="640080"/>
          </a:xfrm>
          <a:prstGeom prst="ellipse">
            <a:avLst/>
          </a:prstGeom>
          <a:solidFill>
            <a:schemeClr val="accent4"/>
          </a:solidFill>
          <a:ln w="12700">
            <a:solidFill>
              <a:schemeClr val="accent4"/>
            </a:solidFill>
            <a:prstDash val="solid"/>
          </a:ln>
        </p:spPr>
      </p:sp>
      <p:pic>
        <p:nvPicPr>
          <p:cNvPr id="26" name="a_05_p10_i" descr="/tmp/claude-0/-home-user-musor/c6980a0f-2a52-569f-a1fc-691d09a5d10f/scratchpad/biz/icons/user_w.png">    </p:cNvPr>
          <p:cNvPicPr>
            <a:picLocks noChangeAspect="1"/>
          </p:cNvPicPr>
          <p:nvPr/>
        </p:nvPicPr>
        <p:blipFill>
          <a:blip r:embed="rId3"/>
          <a:stretch>
            <a:fillRect/>
          </a:stretch>
        </p:blipFill>
        <p:spPr>
          <a:xfrm>
            <a:off x="6658661" y="3138221"/>
            <a:ext cx="307238" cy="307238"/>
          </a:xfrm>
          <a:prstGeom prst="rect">
            <a:avLst/>
          </a:prstGeom>
        </p:spPr>
      </p:pic>
      <p:sp>
        <p:nvSpPr>
          <p:cNvPr id="27" name="a_05_w10"/>
          <p:cNvSpPr txBox="1"/>
          <p:nvPr/>
        </p:nvSpPr>
        <p:spPr>
          <a:xfrm>
            <a:off x="7269480" y="3063240"/>
            <a:ext cx="1188720" cy="457200"/>
          </a:xfrm>
          <a:prstGeom prst="rect">
            <a:avLst/>
          </a:prstGeom>
          <a:noFill/>
          <a:ln/>
        </p:spPr>
        <p:txBody>
          <a:bodyPr wrap="square" lIns="0" tIns="0" rIns="0" bIns="0" rtlCol="0" anchor="ctr"/>
          <a:lstStyle/>
          <a:p>
            <a:pPr indent="0" marL="0">
              <a:buNone/>
            </a:pPr>
            <a:r>
              <a:rPr lang="ru-RU" sz="1500" b="1" dirty="0">
                <a:solidFill>
                  <a:schemeClr val="tx1"/>
                </a:solidFill>
              </a:rPr>
              <a:t>Полный товарищ</a:t>
            </a:r>
            <a:endParaRPr lang="ru-RU" sz="1500" dirty="0"/>
          </a:p>
        </p:txBody>
      </p:sp>
      <p:sp>
        <p:nvSpPr>
          <p:cNvPr id="28" name="a_05_bt10"/>
          <p:cNvSpPr/>
          <p:nvPr/>
        </p:nvSpPr>
        <p:spPr>
          <a:xfrm>
            <a:off x="8412480" y="3081528"/>
            <a:ext cx="2834640" cy="384048"/>
          </a:xfrm>
          <a:prstGeom prst="roundRect">
            <a:avLst>
              <a:gd name="adj" fmla="val 50000"/>
            </a:avLst>
          </a:prstGeom>
          <a:solidFill>
            <a:schemeClr val="accent6"/>
          </a:solidFill>
          <a:ln w="12700">
            <a:solidFill>
              <a:schemeClr val="accent6"/>
            </a:solidFill>
            <a:prstDash val="solid"/>
          </a:ln>
        </p:spPr>
      </p:sp>
      <p:sp>
        <p:nvSpPr>
          <p:cNvPr id="29" name="a_05_bf10"/>
          <p:cNvSpPr/>
          <p:nvPr/>
        </p:nvSpPr>
        <p:spPr>
          <a:xfrm>
            <a:off x="8412480" y="3081528"/>
            <a:ext cx="2834640" cy="384048"/>
          </a:xfrm>
          <a:prstGeom prst="roundRect">
            <a:avLst>
              <a:gd name="adj" fmla="val 50000"/>
            </a:avLst>
          </a:prstGeom>
          <a:solidFill>
            <a:schemeClr val="accent4"/>
          </a:solidFill>
          <a:ln w="12700">
            <a:solidFill>
              <a:schemeClr val="accent4"/>
            </a:solidFill>
            <a:prstDash val="solid"/>
          </a:ln>
        </p:spPr>
      </p:sp>
      <p:sp>
        <p:nvSpPr>
          <p:cNvPr id="30" name="a_05_bl10"/>
          <p:cNvSpPr txBox="1"/>
          <p:nvPr/>
        </p:nvSpPr>
        <p:spPr>
          <a:xfrm>
            <a:off x="8412480" y="3502152"/>
            <a:ext cx="2834640" cy="274320"/>
          </a:xfrm>
          <a:prstGeom prst="rect">
            <a:avLst/>
          </a:prstGeom>
          <a:noFill/>
          <a:ln/>
        </p:spPr>
        <p:txBody>
          <a:bodyPr wrap="square" lIns="0" tIns="0" rIns="0" bIns="0" rtlCol="0" anchor="ctr"/>
          <a:lstStyle/>
          <a:p>
            <a:pPr indent="0" marL="0">
              <a:buNone/>
            </a:pPr>
            <a:r>
              <a:rPr lang="ru-RU" sz="1300" dirty="0">
                <a:solidFill>
                  <a:schemeClr val="tx2"/>
                </a:solidFill>
              </a:rPr>
              <a:t>всем имуществом</a:t>
            </a:r>
            <a:endParaRPr lang="ru-RU" sz="1300" dirty="0"/>
          </a:p>
        </p:txBody>
      </p:sp>
      <p:sp>
        <p:nvSpPr>
          <p:cNvPr id="31" name="a_06_p11_c"/>
          <p:cNvSpPr/>
          <p:nvPr/>
        </p:nvSpPr>
        <p:spPr>
          <a:xfrm>
            <a:off x="6492240" y="3977640"/>
            <a:ext cx="640080" cy="640080"/>
          </a:xfrm>
          <a:prstGeom prst="ellipse">
            <a:avLst/>
          </a:prstGeom>
          <a:solidFill>
            <a:schemeClr val="accent1"/>
          </a:solidFill>
          <a:ln w="12700">
            <a:solidFill>
              <a:schemeClr val="accent1"/>
            </a:solidFill>
            <a:prstDash val="solid"/>
          </a:ln>
        </p:spPr>
      </p:sp>
      <p:pic>
        <p:nvPicPr>
          <p:cNvPr id="32" name="a_06_p11_i" descr="/tmp/claude-0/-home-user-musor/c6980a0f-2a52-569f-a1fc-691d09a5d10f/scratchpad/biz/icons/piggy_w.png">    </p:cNvPr>
          <p:cNvPicPr>
            <a:picLocks noChangeAspect="1"/>
          </p:cNvPicPr>
          <p:nvPr/>
        </p:nvPicPr>
        <p:blipFill>
          <a:blip r:embed="rId4"/>
          <a:stretch>
            <a:fillRect/>
          </a:stretch>
        </p:blipFill>
        <p:spPr>
          <a:xfrm>
            <a:off x="6658661" y="4144061"/>
            <a:ext cx="307238" cy="307238"/>
          </a:xfrm>
          <a:prstGeom prst="rect">
            <a:avLst/>
          </a:prstGeom>
        </p:spPr>
      </p:pic>
      <p:sp>
        <p:nvSpPr>
          <p:cNvPr id="33" name="a_06_w11"/>
          <p:cNvSpPr txBox="1"/>
          <p:nvPr/>
        </p:nvSpPr>
        <p:spPr>
          <a:xfrm>
            <a:off x="7269480" y="4069080"/>
            <a:ext cx="1188720" cy="457200"/>
          </a:xfrm>
          <a:prstGeom prst="rect">
            <a:avLst/>
          </a:prstGeom>
          <a:noFill/>
          <a:ln/>
        </p:spPr>
        <p:txBody>
          <a:bodyPr wrap="square" lIns="0" tIns="0" rIns="0" bIns="0" rtlCol="0" anchor="ctr"/>
          <a:lstStyle/>
          <a:p>
            <a:pPr indent="0" marL="0">
              <a:buNone/>
            </a:pPr>
            <a:r>
              <a:rPr lang="ru-RU" sz="1500" b="1" dirty="0">
                <a:solidFill>
                  <a:schemeClr val="tx1"/>
                </a:solidFill>
              </a:rPr>
              <a:t>Вкладчик</a:t>
            </a:r>
            <a:endParaRPr lang="ru-RU" sz="1500" dirty="0"/>
          </a:p>
        </p:txBody>
      </p:sp>
      <p:sp>
        <p:nvSpPr>
          <p:cNvPr id="34" name="a_06_bt11"/>
          <p:cNvSpPr/>
          <p:nvPr/>
        </p:nvSpPr>
        <p:spPr>
          <a:xfrm>
            <a:off x="8412480" y="4087368"/>
            <a:ext cx="2834640" cy="384048"/>
          </a:xfrm>
          <a:prstGeom prst="roundRect">
            <a:avLst>
              <a:gd name="adj" fmla="val 50000"/>
            </a:avLst>
          </a:prstGeom>
          <a:solidFill>
            <a:schemeClr val="accent6"/>
          </a:solidFill>
          <a:ln w="12700">
            <a:solidFill>
              <a:schemeClr val="accent6"/>
            </a:solidFill>
            <a:prstDash val="solid"/>
          </a:ln>
        </p:spPr>
      </p:sp>
      <p:sp>
        <p:nvSpPr>
          <p:cNvPr id="35" name="a_06_bf11"/>
          <p:cNvSpPr/>
          <p:nvPr/>
        </p:nvSpPr>
        <p:spPr>
          <a:xfrm>
            <a:off x="8412480" y="4087368"/>
            <a:ext cx="623621" cy="384048"/>
          </a:xfrm>
          <a:prstGeom prst="roundRect">
            <a:avLst>
              <a:gd name="adj" fmla="val 50000"/>
            </a:avLst>
          </a:prstGeom>
          <a:solidFill>
            <a:schemeClr val="accent1"/>
          </a:solidFill>
          <a:ln w="12700">
            <a:solidFill>
              <a:schemeClr val="accent1"/>
            </a:solidFill>
            <a:prstDash val="solid"/>
          </a:ln>
        </p:spPr>
      </p:sp>
      <p:sp>
        <p:nvSpPr>
          <p:cNvPr id="36" name="a_06_bl11"/>
          <p:cNvSpPr txBox="1"/>
          <p:nvPr/>
        </p:nvSpPr>
        <p:spPr>
          <a:xfrm>
            <a:off x="8412480" y="4507992"/>
            <a:ext cx="2834640" cy="274320"/>
          </a:xfrm>
          <a:prstGeom prst="rect">
            <a:avLst/>
          </a:prstGeom>
          <a:noFill/>
          <a:ln/>
        </p:spPr>
        <p:txBody>
          <a:bodyPr wrap="square" lIns="0" tIns="0" rIns="0" bIns="0" rtlCol="0" anchor="ctr"/>
          <a:lstStyle/>
          <a:p>
            <a:pPr indent="0" marL="0">
              <a:buNone/>
            </a:pPr>
            <a:r>
              <a:rPr lang="ru-RU" sz="1300" dirty="0">
                <a:solidFill>
                  <a:schemeClr val="tx2"/>
                </a:solidFill>
              </a:rPr>
              <a:t>только вкладом</a:t>
            </a:r>
            <a:endParaRPr lang="ru-RU" sz="1300" dirty="0"/>
          </a:p>
        </p:txBody>
      </p:sp>
      <p:sp>
        <p:nvSpPr>
          <p:cNvPr id="37" name="a_07_rib"/>
          <p:cNvSpPr/>
          <p:nvPr/>
        </p:nvSpPr>
        <p:spPr>
          <a:xfrm>
            <a:off x="548640" y="5349240"/>
            <a:ext cx="11064240" cy="777240"/>
          </a:xfrm>
          <a:prstGeom prst="roundRect">
            <a:avLst>
              <a:gd name="adj" fmla="val 14118"/>
            </a:avLst>
          </a:prstGeom>
          <a:solidFill>
            <a:schemeClr val="tx1"/>
          </a:solidFill>
          <a:ln w="9525">
            <a:solidFill>
              <a:schemeClr val="tx1"/>
            </a:solidFill>
            <a:prstDash val="solid"/>
          </a:ln>
        </p:spPr>
      </p:sp>
      <p:sp>
        <p:nvSpPr>
          <p:cNvPr id="38" name="a_07_ribt"/>
          <p:cNvSpPr txBox="1"/>
          <p:nvPr/>
        </p:nvSpPr>
        <p:spPr>
          <a:xfrm>
            <a:off x="822960" y="5349240"/>
            <a:ext cx="10607040" cy="777240"/>
          </a:xfrm>
          <a:prstGeom prst="rect">
            <a:avLst/>
          </a:prstGeom>
          <a:noFill/>
          <a:ln/>
        </p:spPr>
        <p:txBody>
          <a:bodyPr wrap="square" lIns="0" tIns="0" rIns="0" bIns="0" rtlCol="0" anchor="ctr"/>
          <a:lstStyle/>
          <a:p>
            <a:pPr indent="0" marL="0">
              <a:buNone/>
            </a:pPr>
            <a:r>
              <a:rPr lang="ru-RU" sz="1500" dirty="0">
                <a:solidFill>
                  <a:schemeClr val="bg1"/>
                </a:solidFill>
              </a:rPr>
              <a:t>Полные товарищи отвечают солидарно: кредитор может потребовать весь долг с любого из них. Поэтому товарищества встречаются редко</a:t>
            </a:r>
            <a:endParaRPr lang="ru-RU"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ru-RU"/>
              <a:t>5</a:t>
            </a:fld>
            <a:endParaRPr lang="ru-RU"/>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25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00"/>
                                        <p:tgtEl>
                                          <p:spTgt spid="5"/>
                                        </p:tgtEl>
                                      </p:cBhvr>
                                    </p:animEffect>
                                    <p:anim calcmode="lin" valueType="num">
                                      <p:cBhvr>
                                        <p:cTn id="8" dur="600" fill="hold"/>
                                        <p:tgtEl>
                                          <p:spTgt spid="5"/>
                                        </p:tgtEl>
                                        <p:attrNameLst>
                                          <p:attrName>ppt_x</p:attrName>
                                        </p:attrNameLst>
                                      </p:cBhvr>
                                      <p:tavLst>
                                        <p:tav tm="0">
                                          <p:val>
                                            <p:strVal val="#ppt_x"/>
                                          </p:val>
                                        </p:tav>
                                        <p:tav tm="100000">
                                          <p:val>
                                            <p:strVal val="#ppt_x"/>
                                          </p:val>
                                        </p:tav>
                                      </p:tavLst>
                                    </p:anim>
                                    <p:anim calcmode="lin" valueType="num">
                                      <p:cBhvr>
                                        <p:cTn id="9" dur="600" decel="100000" fill="hold"/>
                                        <p:tgtEl>
                                          <p:spTgt spid="5"/>
                                        </p:tgtEl>
                                        <p:attrNameLst>
                                          <p:attrName>ppt_y</p:attrName>
                                        </p:attrNameLst>
                                      </p:cBhvr>
                                      <p:tavLst>
                                        <p:tav tm="0">
                                          <p:val>
                                            <p:strVal val="#ppt_y+.05"/>
                                          </p:val>
                                        </p:tav>
                                        <p:tav tm="100000">
                                          <p:val>
                                            <p:strVal val="#ppt_y"/>
                                          </p:val>
                                        </p:tav>
                                      </p:tavLst>
                                    </p:anim>
                                  </p:childTnLst>
                                </p:cTn>
                              </p:par>
                            </p:childTnLst>
                          </p:cTn>
                        </p:par>
                        <p:par>
                          <p:cTn id="10" fill="hold">
                            <p:stCondLst>
                              <p:cond delay="250"/>
                            </p:stCondLst>
                            <p:childTnLst>
                              <p:par>
                                <p:cTn id="11" presetID="42"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600"/>
                                        <p:tgtEl>
                                          <p:spTgt spid="6"/>
                                        </p:tgtEl>
                                      </p:cBhvr>
                                    </p:animEffect>
                                    <p:anim calcmode="lin" valueType="num">
                                      <p:cBhvr>
                                        <p:cTn id="14" dur="600" fill="hold"/>
                                        <p:tgtEl>
                                          <p:spTgt spid="6"/>
                                        </p:tgtEl>
                                        <p:attrNameLst>
                                          <p:attrName>ppt_x</p:attrName>
                                        </p:attrNameLst>
                                      </p:cBhvr>
                                      <p:tavLst>
                                        <p:tav tm="0">
                                          <p:val>
                                            <p:strVal val="#ppt_x"/>
                                          </p:val>
                                        </p:tav>
                                        <p:tav tm="100000">
                                          <p:val>
                                            <p:strVal val="#ppt_x"/>
                                          </p:val>
                                        </p:tav>
                                      </p:tavLst>
                                    </p:anim>
                                    <p:anim calcmode="lin" valueType="num">
                                      <p:cBhvr>
                                        <p:cTn id="15" dur="600" decel="100000" fill="hold"/>
                                        <p:tgtEl>
                                          <p:spTgt spid="6"/>
                                        </p:tgtEl>
                                        <p:attrNameLst>
                                          <p:attrName>ppt_y</p:attrName>
                                        </p:attrNameLst>
                                      </p:cBhvr>
                                      <p:tavLst>
                                        <p:tav tm="0">
                                          <p:val>
                                            <p:strVal val="#ppt_y+.05"/>
                                          </p:val>
                                        </p:tav>
                                        <p:tav tm="100000">
                                          <p:val>
                                            <p:strVal val="#ppt_y"/>
                                          </p:val>
                                        </p:tav>
                                      </p:tavLst>
                                    </p:anim>
                                  </p:childTnLst>
                                </p:cTn>
                              </p:par>
                            </p:childTnLst>
                          </p:cTn>
                        </p:par>
                        <p:par>
                          <p:cTn id="16" fill="hold">
                            <p:stCondLst>
                              <p:cond delay="250"/>
                            </p:stCondLst>
                            <p:childTnLst>
                              <p:par>
                                <p:cTn id="17" presetID="42"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600"/>
                                        <p:tgtEl>
                                          <p:spTgt spid="7"/>
                                        </p:tgtEl>
                                      </p:cBhvr>
                                    </p:animEffect>
                                    <p:anim calcmode="lin" valueType="num">
                                      <p:cBhvr>
                                        <p:cTn id="20" dur="600" fill="hold"/>
                                        <p:tgtEl>
                                          <p:spTgt spid="7"/>
                                        </p:tgtEl>
                                        <p:attrNameLst>
                                          <p:attrName>ppt_x</p:attrName>
                                        </p:attrNameLst>
                                      </p:cBhvr>
                                      <p:tavLst>
                                        <p:tav tm="0">
                                          <p:val>
                                            <p:strVal val="#ppt_x"/>
                                          </p:val>
                                        </p:tav>
                                        <p:tav tm="100000">
                                          <p:val>
                                            <p:strVal val="#ppt_x"/>
                                          </p:val>
                                        </p:tav>
                                      </p:tavLst>
                                    </p:anim>
                                    <p:anim calcmode="lin" valueType="num">
                                      <p:cBhvr>
                                        <p:cTn id="21" dur="600" decel="100000" fill="hold"/>
                                        <p:tgtEl>
                                          <p:spTgt spid="7"/>
                                        </p:tgtEl>
                                        <p:attrNameLst>
                                          <p:attrName>ppt_y</p:attrName>
                                        </p:attrNameLst>
                                      </p:cBhvr>
                                      <p:tavLst>
                                        <p:tav tm="0">
                                          <p:val>
                                            <p:strVal val="#ppt_y+.05"/>
                                          </p:val>
                                        </p:tav>
                                        <p:tav tm="100000">
                                          <p:val>
                                            <p:strVal val="#ppt_y"/>
                                          </p:val>
                                        </p:tav>
                                      </p:tavLst>
                                    </p:anim>
                                  </p:childTnLst>
                                </p:cTn>
                              </p:par>
                            </p:childTnLst>
                          </p:cTn>
                        </p:par>
                        <p:par>
                          <p:cTn id="22" fill="hold">
                            <p:stCondLst>
                              <p:cond delay="250"/>
                            </p:stCondLst>
                            <p:childTnLst>
                              <p:par>
                                <p:cTn id="23" presetID="42" presetClass="entr" presetSubtype="0"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600"/>
                                        <p:tgtEl>
                                          <p:spTgt spid="8"/>
                                        </p:tgtEl>
                                      </p:cBhvr>
                                    </p:animEffect>
                                    <p:anim calcmode="lin" valueType="num">
                                      <p:cBhvr>
                                        <p:cTn id="26" dur="600" fill="hold"/>
                                        <p:tgtEl>
                                          <p:spTgt spid="8"/>
                                        </p:tgtEl>
                                        <p:attrNameLst>
                                          <p:attrName>ppt_x</p:attrName>
                                        </p:attrNameLst>
                                      </p:cBhvr>
                                      <p:tavLst>
                                        <p:tav tm="0">
                                          <p:val>
                                            <p:strVal val="#ppt_x"/>
                                          </p:val>
                                        </p:tav>
                                        <p:tav tm="100000">
                                          <p:val>
                                            <p:strVal val="#ppt_x"/>
                                          </p:val>
                                        </p:tav>
                                      </p:tavLst>
                                    </p:anim>
                                    <p:anim calcmode="lin" valueType="num">
                                      <p:cBhvr>
                                        <p:cTn id="27" dur="600" decel="100000" fill="hold"/>
                                        <p:tgtEl>
                                          <p:spTgt spid="8"/>
                                        </p:tgtEl>
                                        <p:attrNameLst>
                                          <p:attrName>ppt_y</p:attrName>
                                        </p:attrNameLst>
                                      </p:cBhvr>
                                      <p:tavLst>
                                        <p:tav tm="0">
                                          <p:val>
                                            <p:strVal val="#ppt_y+.05"/>
                                          </p:val>
                                        </p:tav>
                                        <p:tav tm="100000">
                                          <p:val>
                                            <p:strVal val="#ppt_y"/>
                                          </p:val>
                                        </p:tav>
                                      </p:tavLst>
                                    </p:anim>
                                  </p:childTnLst>
                                </p:cTn>
                              </p:par>
                            </p:childTnLst>
                          </p:cTn>
                        </p:par>
                        <p:par>
                          <p:cTn id="28" fill="hold">
                            <p:stCondLst>
                              <p:cond delay="700"/>
                            </p:stCondLst>
                            <p:childTnLst>
                              <p:par>
                                <p:cTn id="29" presetID="42" presetClass="entr" presetSubtype="0" fill="hold" grpId="0" nodeType="with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fade">
                                      <p:cBhvr>
                                        <p:cTn id="31" dur="600"/>
                                        <p:tgtEl>
                                          <p:spTgt spid="9"/>
                                        </p:tgtEl>
                                      </p:cBhvr>
                                    </p:animEffect>
                                    <p:anim calcmode="lin" valueType="num">
                                      <p:cBhvr>
                                        <p:cTn id="32" dur="600" fill="hold"/>
                                        <p:tgtEl>
                                          <p:spTgt spid="9"/>
                                        </p:tgtEl>
                                        <p:attrNameLst>
                                          <p:attrName>ppt_x</p:attrName>
                                        </p:attrNameLst>
                                      </p:cBhvr>
                                      <p:tavLst>
                                        <p:tav tm="0">
                                          <p:val>
                                            <p:strVal val="#ppt_x"/>
                                          </p:val>
                                        </p:tav>
                                        <p:tav tm="100000">
                                          <p:val>
                                            <p:strVal val="#ppt_x"/>
                                          </p:val>
                                        </p:tav>
                                      </p:tavLst>
                                    </p:anim>
                                    <p:anim calcmode="lin" valueType="num">
                                      <p:cBhvr>
                                        <p:cTn id="33" dur="600" decel="100000" fill="hold"/>
                                        <p:tgtEl>
                                          <p:spTgt spid="9"/>
                                        </p:tgtEl>
                                        <p:attrNameLst>
                                          <p:attrName>ppt_y</p:attrName>
                                        </p:attrNameLst>
                                      </p:cBhvr>
                                      <p:tavLst>
                                        <p:tav tm="0">
                                          <p:val>
                                            <p:strVal val="#ppt_y+.05"/>
                                          </p:val>
                                        </p:tav>
                                        <p:tav tm="100000">
                                          <p:val>
                                            <p:strVal val="#ppt_y"/>
                                          </p:val>
                                        </p:tav>
                                      </p:tavLst>
                                    </p:anim>
                                  </p:childTnLst>
                                </p:cTn>
                              </p:par>
                            </p:childTnLst>
                          </p:cTn>
                        </p:par>
                        <p:par>
                          <p:cTn id="34" fill="hold">
                            <p:stCondLst>
                              <p:cond delay="700"/>
                            </p:stCondLst>
                            <p:childTnLst>
                              <p:par>
                                <p:cTn id="35" presetID="42" presetClass="entr" presetSubtype="0" fill="hold" grpId="0" nodeType="with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600"/>
                                        <p:tgtEl>
                                          <p:spTgt spid="10"/>
                                        </p:tgtEl>
                                      </p:cBhvr>
                                    </p:animEffect>
                                    <p:anim calcmode="lin" valueType="num">
                                      <p:cBhvr>
                                        <p:cTn id="38" dur="600" fill="hold"/>
                                        <p:tgtEl>
                                          <p:spTgt spid="10"/>
                                        </p:tgtEl>
                                        <p:attrNameLst>
                                          <p:attrName>ppt_x</p:attrName>
                                        </p:attrNameLst>
                                      </p:cBhvr>
                                      <p:tavLst>
                                        <p:tav tm="0">
                                          <p:val>
                                            <p:strVal val="#ppt_x"/>
                                          </p:val>
                                        </p:tav>
                                        <p:tav tm="100000">
                                          <p:val>
                                            <p:strVal val="#ppt_x"/>
                                          </p:val>
                                        </p:tav>
                                      </p:tavLst>
                                    </p:anim>
                                    <p:anim calcmode="lin" valueType="num">
                                      <p:cBhvr>
                                        <p:cTn id="39" dur="600" decel="100000" fill="hold"/>
                                        <p:tgtEl>
                                          <p:spTgt spid="10"/>
                                        </p:tgtEl>
                                        <p:attrNameLst>
                                          <p:attrName>ppt_y</p:attrName>
                                        </p:attrNameLst>
                                      </p:cBhvr>
                                      <p:tavLst>
                                        <p:tav tm="0">
                                          <p:val>
                                            <p:strVal val="#ppt_y+.05"/>
                                          </p:val>
                                        </p:tav>
                                        <p:tav tm="100000">
                                          <p:val>
                                            <p:strVal val="#ppt_y"/>
                                          </p:val>
                                        </p:tav>
                                      </p:tavLst>
                                    </p:anim>
                                  </p:childTnLst>
                                </p:cTn>
                              </p:par>
                            </p:childTnLst>
                          </p:cTn>
                        </p:par>
                        <p:par>
                          <p:cTn id="40" fill="hold">
                            <p:stCondLst>
                              <p:cond delay="700"/>
                            </p:stCondLst>
                            <p:childTnLst>
                              <p:par>
                                <p:cTn id="41" presetID="42" presetClass="entr" presetSubtype="0" fill="hold" grpId="0" nodeType="withEffect">
                                  <p:stCondLst>
                                    <p:cond delay="0"/>
                                  </p:stCondLst>
                                  <p:childTnLst>
                                    <p:set>
                                      <p:cBhvr>
                                        <p:cTn id="42" dur="1" fill="hold">
                                          <p:stCondLst>
                                            <p:cond delay="0"/>
                                          </p:stCondLst>
                                        </p:cTn>
                                        <p:tgtEl>
                                          <p:spTgt spid="11"/>
                                        </p:tgtEl>
                                        <p:attrNameLst>
                                          <p:attrName>style.visibility</p:attrName>
                                        </p:attrNameLst>
                                      </p:cBhvr>
                                      <p:to>
                                        <p:strVal val="visible"/>
                                      </p:to>
                                    </p:set>
                                    <p:animEffect transition="in" filter="fade">
                                      <p:cBhvr>
                                        <p:cTn id="43" dur="600"/>
                                        <p:tgtEl>
                                          <p:spTgt spid="11"/>
                                        </p:tgtEl>
                                      </p:cBhvr>
                                    </p:animEffect>
                                    <p:anim calcmode="lin" valueType="num">
                                      <p:cBhvr>
                                        <p:cTn id="44" dur="600" fill="hold"/>
                                        <p:tgtEl>
                                          <p:spTgt spid="11"/>
                                        </p:tgtEl>
                                        <p:attrNameLst>
                                          <p:attrName>ppt_x</p:attrName>
                                        </p:attrNameLst>
                                      </p:cBhvr>
                                      <p:tavLst>
                                        <p:tav tm="0">
                                          <p:val>
                                            <p:strVal val="#ppt_x"/>
                                          </p:val>
                                        </p:tav>
                                        <p:tav tm="100000">
                                          <p:val>
                                            <p:strVal val="#ppt_x"/>
                                          </p:val>
                                        </p:tav>
                                      </p:tavLst>
                                    </p:anim>
                                    <p:anim calcmode="lin" valueType="num">
                                      <p:cBhvr>
                                        <p:cTn id="45" dur="600" decel="100000" fill="hold"/>
                                        <p:tgtEl>
                                          <p:spTgt spid="11"/>
                                        </p:tgtEl>
                                        <p:attrNameLst>
                                          <p:attrName>ppt_y</p:attrName>
                                        </p:attrNameLst>
                                      </p:cBhvr>
                                      <p:tavLst>
                                        <p:tav tm="0">
                                          <p:val>
                                            <p:strVal val="#ppt_y+.05"/>
                                          </p:val>
                                        </p:tav>
                                        <p:tav tm="100000">
                                          <p:val>
                                            <p:strVal val="#ppt_y"/>
                                          </p:val>
                                        </p:tav>
                                      </p:tavLst>
                                    </p:anim>
                                  </p:childTnLst>
                                </p:cTn>
                              </p:par>
                            </p:childTnLst>
                          </p:cTn>
                        </p:par>
                        <p:par>
                          <p:cTn id="46" fill="hold">
                            <p:stCondLst>
                              <p:cond delay="700"/>
                            </p:stCondLst>
                            <p:childTnLst>
                              <p:par>
                                <p:cTn id="47" presetID="42" presetClass="entr" presetSubtype="0" fill="hold" grpId="0" nodeType="withEffect">
                                  <p:stCondLst>
                                    <p:cond delay="0"/>
                                  </p:stCondLst>
                                  <p:childTnLst>
                                    <p:set>
                                      <p:cBhvr>
                                        <p:cTn id="48" dur="1" fill="hold">
                                          <p:stCondLst>
                                            <p:cond delay="0"/>
                                          </p:stCondLst>
                                        </p:cTn>
                                        <p:tgtEl>
                                          <p:spTgt spid="12"/>
                                        </p:tgtEl>
                                        <p:attrNameLst>
                                          <p:attrName>style.visibility</p:attrName>
                                        </p:attrNameLst>
                                      </p:cBhvr>
                                      <p:to>
                                        <p:strVal val="visible"/>
                                      </p:to>
                                    </p:set>
                                    <p:animEffect transition="in" filter="fade">
                                      <p:cBhvr>
                                        <p:cTn id="49" dur="600"/>
                                        <p:tgtEl>
                                          <p:spTgt spid="12"/>
                                        </p:tgtEl>
                                      </p:cBhvr>
                                    </p:animEffect>
                                    <p:anim calcmode="lin" valueType="num">
                                      <p:cBhvr>
                                        <p:cTn id="50" dur="600" fill="hold"/>
                                        <p:tgtEl>
                                          <p:spTgt spid="12"/>
                                        </p:tgtEl>
                                        <p:attrNameLst>
                                          <p:attrName>ppt_x</p:attrName>
                                        </p:attrNameLst>
                                      </p:cBhvr>
                                      <p:tavLst>
                                        <p:tav tm="0">
                                          <p:val>
                                            <p:strVal val="#ppt_x"/>
                                          </p:val>
                                        </p:tav>
                                        <p:tav tm="100000">
                                          <p:val>
                                            <p:strVal val="#ppt_x"/>
                                          </p:val>
                                        </p:tav>
                                      </p:tavLst>
                                    </p:anim>
                                    <p:anim calcmode="lin" valueType="num">
                                      <p:cBhvr>
                                        <p:cTn id="51" dur="600" decel="100000" fill="hold"/>
                                        <p:tgtEl>
                                          <p:spTgt spid="12"/>
                                        </p:tgtEl>
                                        <p:attrNameLst>
                                          <p:attrName>ppt_y</p:attrName>
                                        </p:attrNameLst>
                                      </p:cBhvr>
                                      <p:tavLst>
                                        <p:tav tm="0">
                                          <p:val>
                                            <p:strVal val="#ppt_y+.05"/>
                                          </p:val>
                                        </p:tav>
                                        <p:tav tm="100000">
                                          <p:val>
                                            <p:strVal val="#ppt_y"/>
                                          </p:val>
                                        </p:tav>
                                      </p:tavLst>
                                    </p:anim>
                                  </p:childTnLst>
                                </p:cTn>
                              </p:par>
                            </p:childTnLst>
                          </p:cTn>
                        </p:par>
                        <p:par>
                          <p:cTn id="52" fill="hold">
                            <p:stCondLst>
                              <p:cond delay="700"/>
                            </p:stCondLst>
                            <p:childTnLst>
                              <p:par>
                                <p:cTn id="53" presetID="42" presetClass="entr" presetSubtype="0" fill="hold" grpId="0" nodeType="withEffect">
                                  <p:stCondLst>
                                    <p:cond delay="0"/>
                                  </p:stCondLst>
                                  <p:childTnLst>
                                    <p:set>
                                      <p:cBhvr>
                                        <p:cTn id="54" dur="1" fill="hold">
                                          <p:stCondLst>
                                            <p:cond delay="0"/>
                                          </p:stCondLst>
                                        </p:cTn>
                                        <p:tgtEl>
                                          <p:spTgt spid="13"/>
                                        </p:tgtEl>
                                        <p:attrNameLst>
                                          <p:attrName>style.visibility</p:attrName>
                                        </p:attrNameLst>
                                      </p:cBhvr>
                                      <p:to>
                                        <p:strVal val="visible"/>
                                      </p:to>
                                    </p:set>
                                    <p:animEffect transition="in" filter="fade">
                                      <p:cBhvr>
                                        <p:cTn id="55" dur="600"/>
                                        <p:tgtEl>
                                          <p:spTgt spid="13"/>
                                        </p:tgtEl>
                                      </p:cBhvr>
                                    </p:animEffect>
                                    <p:anim calcmode="lin" valueType="num">
                                      <p:cBhvr>
                                        <p:cTn id="56" dur="600" fill="hold"/>
                                        <p:tgtEl>
                                          <p:spTgt spid="13"/>
                                        </p:tgtEl>
                                        <p:attrNameLst>
                                          <p:attrName>ppt_x</p:attrName>
                                        </p:attrNameLst>
                                      </p:cBhvr>
                                      <p:tavLst>
                                        <p:tav tm="0">
                                          <p:val>
                                            <p:strVal val="#ppt_x"/>
                                          </p:val>
                                        </p:tav>
                                        <p:tav tm="100000">
                                          <p:val>
                                            <p:strVal val="#ppt_x"/>
                                          </p:val>
                                        </p:tav>
                                      </p:tavLst>
                                    </p:anim>
                                    <p:anim calcmode="lin" valueType="num">
                                      <p:cBhvr>
                                        <p:cTn id="57" dur="600" decel="100000" fill="hold"/>
                                        <p:tgtEl>
                                          <p:spTgt spid="13"/>
                                        </p:tgtEl>
                                        <p:attrNameLst>
                                          <p:attrName>ppt_y</p:attrName>
                                        </p:attrNameLst>
                                      </p:cBhvr>
                                      <p:tavLst>
                                        <p:tav tm="0">
                                          <p:val>
                                            <p:strVal val="#ppt_y+.05"/>
                                          </p:val>
                                        </p:tav>
                                        <p:tav tm="100000">
                                          <p:val>
                                            <p:strVal val="#ppt_y"/>
                                          </p:val>
                                        </p:tav>
                                      </p:tavLst>
                                    </p:anim>
                                  </p:childTnLst>
                                </p:cTn>
                              </p:par>
                            </p:childTnLst>
                          </p:cTn>
                        </p:par>
                        <p:par>
                          <p:cTn id="58" fill="hold">
                            <p:stCondLst>
                              <p:cond delay="700"/>
                            </p:stCondLst>
                            <p:childTnLst>
                              <p:par>
                                <p:cTn id="59" presetID="42" presetClass="entr" presetSubtype="0" fill="hold" grpId="0" nodeType="withEffect">
                                  <p:stCondLst>
                                    <p:cond delay="0"/>
                                  </p:stCondLst>
                                  <p:childTnLst>
                                    <p:set>
                                      <p:cBhvr>
                                        <p:cTn id="60" dur="1" fill="hold">
                                          <p:stCondLst>
                                            <p:cond delay="0"/>
                                          </p:stCondLst>
                                        </p:cTn>
                                        <p:tgtEl>
                                          <p:spTgt spid="14"/>
                                        </p:tgtEl>
                                        <p:attrNameLst>
                                          <p:attrName>style.visibility</p:attrName>
                                        </p:attrNameLst>
                                      </p:cBhvr>
                                      <p:to>
                                        <p:strVal val="visible"/>
                                      </p:to>
                                    </p:set>
                                    <p:animEffect transition="in" filter="fade">
                                      <p:cBhvr>
                                        <p:cTn id="61" dur="600"/>
                                        <p:tgtEl>
                                          <p:spTgt spid="14"/>
                                        </p:tgtEl>
                                      </p:cBhvr>
                                    </p:animEffect>
                                    <p:anim calcmode="lin" valueType="num">
                                      <p:cBhvr>
                                        <p:cTn id="62" dur="600" fill="hold"/>
                                        <p:tgtEl>
                                          <p:spTgt spid="14"/>
                                        </p:tgtEl>
                                        <p:attrNameLst>
                                          <p:attrName>ppt_x</p:attrName>
                                        </p:attrNameLst>
                                      </p:cBhvr>
                                      <p:tavLst>
                                        <p:tav tm="0">
                                          <p:val>
                                            <p:strVal val="#ppt_x"/>
                                          </p:val>
                                        </p:tav>
                                        <p:tav tm="100000">
                                          <p:val>
                                            <p:strVal val="#ppt_x"/>
                                          </p:val>
                                        </p:tav>
                                      </p:tavLst>
                                    </p:anim>
                                    <p:anim calcmode="lin" valueType="num">
                                      <p:cBhvr>
                                        <p:cTn id="63" dur="600" decel="100000" fill="hold"/>
                                        <p:tgtEl>
                                          <p:spTgt spid="14"/>
                                        </p:tgtEl>
                                        <p:attrNameLst>
                                          <p:attrName>ppt_y</p:attrName>
                                        </p:attrNameLst>
                                      </p:cBhvr>
                                      <p:tavLst>
                                        <p:tav tm="0">
                                          <p:val>
                                            <p:strVal val="#ppt_y+.05"/>
                                          </p:val>
                                        </p:tav>
                                        <p:tav tm="100000">
                                          <p:val>
                                            <p:strVal val="#ppt_y"/>
                                          </p:val>
                                        </p:tav>
                                      </p:tavLst>
                                    </p:anim>
                                  </p:childTnLst>
                                </p:cTn>
                              </p:par>
                            </p:childTnLst>
                          </p:cTn>
                        </p:par>
                        <p:par>
                          <p:cTn id="64" fill="hold">
                            <p:stCondLst>
                              <p:cond delay="1150"/>
                            </p:stCondLst>
                            <p:childTnLst>
                              <p:par>
                                <p:cTn id="65" presetID="42" presetClass="entr" presetSubtype="0" fill="hold" grpId="0" nodeType="withEffect">
                                  <p:stCondLst>
                                    <p:cond delay="0"/>
                                  </p:stCondLst>
                                  <p:childTnLst>
                                    <p:set>
                                      <p:cBhvr>
                                        <p:cTn id="66" dur="1" fill="hold">
                                          <p:stCondLst>
                                            <p:cond delay="0"/>
                                          </p:stCondLst>
                                        </p:cTn>
                                        <p:tgtEl>
                                          <p:spTgt spid="15"/>
                                        </p:tgtEl>
                                        <p:attrNameLst>
                                          <p:attrName>style.visibility</p:attrName>
                                        </p:attrNameLst>
                                      </p:cBhvr>
                                      <p:to>
                                        <p:strVal val="visible"/>
                                      </p:to>
                                    </p:set>
                                    <p:animEffect transition="in" filter="fade">
                                      <p:cBhvr>
                                        <p:cTn id="67" dur="600"/>
                                        <p:tgtEl>
                                          <p:spTgt spid="15"/>
                                        </p:tgtEl>
                                      </p:cBhvr>
                                    </p:animEffect>
                                    <p:anim calcmode="lin" valueType="num">
                                      <p:cBhvr>
                                        <p:cTn id="68" dur="600" fill="hold"/>
                                        <p:tgtEl>
                                          <p:spTgt spid="15"/>
                                        </p:tgtEl>
                                        <p:attrNameLst>
                                          <p:attrName>ppt_x</p:attrName>
                                        </p:attrNameLst>
                                      </p:cBhvr>
                                      <p:tavLst>
                                        <p:tav tm="0">
                                          <p:val>
                                            <p:strVal val="#ppt_x"/>
                                          </p:val>
                                        </p:tav>
                                        <p:tav tm="100000">
                                          <p:val>
                                            <p:strVal val="#ppt_x"/>
                                          </p:val>
                                        </p:tav>
                                      </p:tavLst>
                                    </p:anim>
                                    <p:anim calcmode="lin" valueType="num">
                                      <p:cBhvr>
                                        <p:cTn id="69" dur="600" decel="100000" fill="hold"/>
                                        <p:tgtEl>
                                          <p:spTgt spid="15"/>
                                        </p:tgtEl>
                                        <p:attrNameLst>
                                          <p:attrName>ppt_y</p:attrName>
                                        </p:attrNameLst>
                                      </p:cBhvr>
                                      <p:tavLst>
                                        <p:tav tm="0">
                                          <p:val>
                                            <p:strVal val="#ppt_y+.05"/>
                                          </p:val>
                                        </p:tav>
                                        <p:tav tm="100000">
                                          <p:val>
                                            <p:strVal val="#ppt_y"/>
                                          </p:val>
                                        </p:tav>
                                      </p:tavLst>
                                    </p:anim>
                                  </p:childTnLst>
                                </p:cTn>
                              </p:par>
                            </p:childTnLst>
                          </p:cTn>
                        </p:par>
                        <p:par>
                          <p:cTn id="70" fill="hold">
                            <p:stCondLst>
                              <p:cond delay="1150"/>
                            </p:stCondLst>
                            <p:childTnLst>
                              <p:par>
                                <p:cTn id="71" presetID="42" presetClass="entr" presetSubtype="0" fill="hold" grpId="0" nodeType="withEffect">
                                  <p:stCondLst>
                                    <p:cond delay="0"/>
                                  </p:stCondLst>
                                  <p:childTnLst>
                                    <p:set>
                                      <p:cBhvr>
                                        <p:cTn id="72" dur="1" fill="hold">
                                          <p:stCondLst>
                                            <p:cond delay="0"/>
                                          </p:stCondLst>
                                        </p:cTn>
                                        <p:tgtEl>
                                          <p:spTgt spid="16"/>
                                        </p:tgtEl>
                                        <p:attrNameLst>
                                          <p:attrName>style.visibility</p:attrName>
                                        </p:attrNameLst>
                                      </p:cBhvr>
                                      <p:to>
                                        <p:strVal val="visible"/>
                                      </p:to>
                                    </p:set>
                                    <p:animEffect transition="in" filter="fade">
                                      <p:cBhvr>
                                        <p:cTn id="73" dur="600"/>
                                        <p:tgtEl>
                                          <p:spTgt spid="16"/>
                                        </p:tgtEl>
                                      </p:cBhvr>
                                    </p:animEffect>
                                    <p:anim calcmode="lin" valueType="num">
                                      <p:cBhvr>
                                        <p:cTn id="74" dur="600" fill="hold"/>
                                        <p:tgtEl>
                                          <p:spTgt spid="16"/>
                                        </p:tgtEl>
                                        <p:attrNameLst>
                                          <p:attrName>ppt_x</p:attrName>
                                        </p:attrNameLst>
                                      </p:cBhvr>
                                      <p:tavLst>
                                        <p:tav tm="0">
                                          <p:val>
                                            <p:strVal val="#ppt_x"/>
                                          </p:val>
                                        </p:tav>
                                        <p:tav tm="100000">
                                          <p:val>
                                            <p:strVal val="#ppt_x"/>
                                          </p:val>
                                        </p:tav>
                                      </p:tavLst>
                                    </p:anim>
                                    <p:anim calcmode="lin" valueType="num">
                                      <p:cBhvr>
                                        <p:cTn id="75" dur="600" decel="100000" fill="hold"/>
                                        <p:tgtEl>
                                          <p:spTgt spid="16"/>
                                        </p:tgtEl>
                                        <p:attrNameLst>
                                          <p:attrName>ppt_y</p:attrName>
                                        </p:attrNameLst>
                                      </p:cBhvr>
                                      <p:tavLst>
                                        <p:tav tm="0">
                                          <p:val>
                                            <p:strVal val="#ppt_y+.05"/>
                                          </p:val>
                                        </p:tav>
                                        <p:tav tm="100000">
                                          <p:val>
                                            <p:strVal val="#ppt_y"/>
                                          </p:val>
                                        </p:tav>
                                      </p:tavLst>
                                    </p:anim>
                                  </p:childTnLst>
                                </p:cTn>
                              </p:par>
                            </p:childTnLst>
                          </p:cTn>
                        </p:par>
                        <p:par>
                          <p:cTn id="76" fill="hold">
                            <p:stCondLst>
                              <p:cond delay="1150"/>
                            </p:stCondLst>
                            <p:childTnLst>
                              <p:par>
                                <p:cTn id="77" presetID="42" presetClass="entr" presetSubtype="0" fill="hold" grpId="0" nodeType="withEffect">
                                  <p:stCondLst>
                                    <p:cond delay="0"/>
                                  </p:stCondLst>
                                  <p:childTnLst>
                                    <p:set>
                                      <p:cBhvr>
                                        <p:cTn id="78" dur="1" fill="hold">
                                          <p:stCondLst>
                                            <p:cond delay="0"/>
                                          </p:stCondLst>
                                        </p:cTn>
                                        <p:tgtEl>
                                          <p:spTgt spid="17"/>
                                        </p:tgtEl>
                                        <p:attrNameLst>
                                          <p:attrName>style.visibility</p:attrName>
                                        </p:attrNameLst>
                                      </p:cBhvr>
                                      <p:to>
                                        <p:strVal val="visible"/>
                                      </p:to>
                                    </p:set>
                                    <p:animEffect transition="in" filter="fade">
                                      <p:cBhvr>
                                        <p:cTn id="79" dur="600"/>
                                        <p:tgtEl>
                                          <p:spTgt spid="17"/>
                                        </p:tgtEl>
                                      </p:cBhvr>
                                    </p:animEffect>
                                    <p:anim calcmode="lin" valueType="num">
                                      <p:cBhvr>
                                        <p:cTn id="80" dur="600" fill="hold"/>
                                        <p:tgtEl>
                                          <p:spTgt spid="17"/>
                                        </p:tgtEl>
                                        <p:attrNameLst>
                                          <p:attrName>ppt_x</p:attrName>
                                        </p:attrNameLst>
                                      </p:cBhvr>
                                      <p:tavLst>
                                        <p:tav tm="0">
                                          <p:val>
                                            <p:strVal val="#ppt_x"/>
                                          </p:val>
                                        </p:tav>
                                        <p:tav tm="100000">
                                          <p:val>
                                            <p:strVal val="#ppt_x"/>
                                          </p:val>
                                        </p:tav>
                                      </p:tavLst>
                                    </p:anim>
                                    <p:anim calcmode="lin" valueType="num">
                                      <p:cBhvr>
                                        <p:cTn id="81" dur="600" decel="100000" fill="hold"/>
                                        <p:tgtEl>
                                          <p:spTgt spid="17"/>
                                        </p:tgtEl>
                                        <p:attrNameLst>
                                          <p:attrName>ppt_y</p:attrName>
                                        </p:attrNameLst>
                                      </p:cBhvr>
                                      <p:tavLst>
                                        <p:tav tm="0">
                                          <p:val>
                                            <p:strVal val="#ppt_y+.05"/>
                                          </p:val>
                                        </p:tav>
                                        <p:tav tm="100000">
                                          <p:val>
                                            <p:strVal val="#ppt_y"/>
                                          </p:val>
                                        </p:tav>
                                      </p:tavLst>
                                    </p:anim>
                                  </p:childTnLst>
                                </p:cTn>
                              </p:par>
                            </p:childTnLst>
                          </p:cTn>
                        </p:par>
                        <p:par>
                          <p:cTn id="82" fill="hold">
                            <p:stCondLst>
                              <p:cond delay="1150"/>
                            </p:stCondLst>
                            <p:childTnLst>
                              <p:par>
                                <p:cTn id="83" presetID="42" presetClass="entr" presetSubtype="0" fill="hold" grpId="0" nodeType="withEffect">
                                  <p:stCondLst>
                                    <p:cond delay="0"/>
                                  </p:stCondLst>
                                  <p:childTnLst>
                                    <p:set>
                                      <p:cBhvr>
                                        <p:cTn id="84" dur="1" fill="hold">
                                          <p:stCondLst>
                                            <p:cond delay="0"/>
                                          </p:stCondLst>
                                        </p:cTn>
                                        <p:tgtEl>
                                          <p:spTgt spid="18"/>
                                        </p:tgtEl>
                                        <p:attrNameLst>
                                          <p:attrName>style.visibility</p:attrName>
                                        </p:attrNameLst>
                                      </p:cBhvr>
                                      <p:to>
                                        <p:strVal val="visible"/>
                                      </p:to>
                                    </p:set>
                                    <p:animEffect transition="in" filter="fade">
                                      <p:cBhvr>
                                        <p:cTn id="85" dur="600"/>
                                        <p:tgtEl>
                                          <p:spTgt spid="18"/>
                                        </p:tgtEl>
                                      </p:cBhvr>
                                    </p:animEffect>
                                    <p:anim calcmode="lin" valueType="num">
                                      <p:cBhvr>
                                        <p:cTn id="86" dur="600" fill="hold"/>
                                        <p:tgtEl>
                                          <p:spTgt spid="18"/>
                                        </p:tgtEl>
                                        <p:attrNameLst>
                                          <p:attrName>ppt_x</p:attrName>
                                        </p:attrNameLst>
                                      </p:cBhvr>
                                      <p:tavLst>
                                        <p:tav tm="0">
                                          <p:val>
                                            <p:strVal val="#ppt_x"/>
                                          </p:val>
                                        </p:tav>
                                        <p:tav tm="100000">
                                          <p:val>
                                            <p:strVal val="#ppt_x"/>
                                          </p:val>
                                        </p:tav>
                                      </p:tavLst>
                                    </p:anim>
                                    <p:anim calcmode="lin" valueType="num">
                                      <p:cBhvr>
                                        <p:cTn id="87" dur="600" decel="100000" fill="hold"/>
                                        <p:tgtEl>
                                          <p:spTgt spid="18"/>
                                        </p:tgtEl>
                                        <p:attrNameLst>
                                          <p:attrName>ppt_y</p:attrName>
                                        </p:attrNameLst>
                                      </p:cBhvr>
                                      <p:tavLst>
                                        <p:tav tm="0">
                                          <p:val>
                                            <p:strVal val="#ppt_y+.05"/>
                                          </p:val>
                                        </p:tav>
                                        <p:tav tm="100000">
                                          <p:val>
                                            <p:strVal val="#ppt_y"/>
                                          </p:val>
                                        </p:tav>
                                      </p:tavLst>
                                    </p:anim>
                                  </p:childTnLst>
                                </p:cTn>
                              </p:par>
                            </p:childTnLst>
                          </p:cTn>
                        </p:par>
                        <p:par>
                          <p:cTn id="88" fill="hold">
                            <p:stCondLst>
                              <p:cond delay="1150"/>
                            </p:stCondLst>
                            <p:childTnLst>
                              <p:par>
                                <p:cTn id="89" presetID="42" presetClass="entr" presetSubtype="0" fill="hold" grpId="0" nodeType="withEffect">
                                  <p:stCondLst>
                                    <p:cond delay="0"/>
                                  </p:stCondLst>
                                  <p:childTnLst>
                                    <p:set>
                                      <p:cBhvr>
                                        <p:cTn id="90" dur="1" fill="hold">
                                          <p:stCondLst>
                                            <p:cond delay="0"/>
                                          </p:stCondLst>
                                        </p:cTn>
                                        <p:tgtEl>
                                          <p:spTgt spid="19"/>
                                        </p:tgtEl>
                                        <p:attrNameLst>
                                          <p:attrName>style.visibility</p:attrName>
                                        </p:attrNameLst>
                                      </p:cBhvr>
                                      <p:to>
                                        <p:strVal val="visible"/>
                                      </p:to>
                                    </p:set>
                                    <p:animEffect transition="in" filter="fade">
                                      <p:cBhvr>
                                        <p:cTn id="91" dur="600"/>
                                        <p:tgtEl>
                                          <p:spTgt spid="19"/>
                                        </p:tgtEl>
                                      </p:cBhvr>
                                    </p:animEffect>
                                    <p:anim calcmode="lin" valueType="num">
                                      <p:cBhvr>
                                        <p:cTn id="92" dur="600" fill="hold"/>
                                        <p:tgtEl>
                                          <p:spTgt spid="19"/>
                                        </p:tgtEl>
                                        <p:attrNameLst>
                                          <p:attrName>ppt_x</p:attrName>
                                        </p:attrNameLst>
                                      </p:cBhvr>
                                      <p:tavLst>
                                        <p:tav tm="0">
                                          <p:val>
                                            <p:strVal val="#ppt_x"/>
                                          </p:val>
                                        </p:tav>
                                        <p:tav tm="100000">
                                          <p:val>
                                            <p:strVal val="#ppt_x"/>
                                          </p:val>
                                        </p:tav>
                                      </p:tavLst>
                                    </p:anim>
                                    <p:anim calcmode="lin" valueType="num">
                                      <p:cBhvr>
                                        <p:cTn id="93" dur="600" decel="100000" fill="hold"/>
                                        <p:tgtEl>
                                          <p:spTgt spid="19"/>
                                        </p:tgtEl>
                                        <p:attrNameLst>
                                          <p:attrName>ppt_y</p:attrName>
                                        </p:attrNameLst>
                                      </p:cBhvr>
                                      <p:tavLst>
                                        <p:tav tm="0">
                                          <p:val>
                                            <p:strVal val="#ppt_y+.05"/>
                                          </p:val>
                                        </p:tav>
                                        <p:tav tm="100000">
                                          <p:val>
                                            <p:strVal val="#ppt_y"/>
                                          </p:val>
                                        </p:tav>
                                      </p:tavLst>
                                    </p:anim>
                                  </p:childTnLst>
                                </p:cTn>
                              </p:par>
                            </p:childTnLst>
                          </p:cTn>
                        </p:par>
                        <p:par>
                          <p:cTn id="94" fill="hold">
                            <p:stCondLst>
                              <p:cond delay="1150"/>
                            </p:stCondLst>
                            <p:childTnLst>
                              <p:par>
                                <p:cTn id="95" presetID="42" presetClass="entr" presetSubtype="0" fill="hold" grpId="0" nodeType="withEffect">
                                  <p:stCondLst>
                                    <p:cond delay="0"/>
                                  </p:stCondLst>
                                  <p:childTnLst>
                                    <p:set>
                                      <p:cBhvr>
                                        <p:cTn id="96" dur="1" fill="hold">
                                          <p:stCondLst>
                                            <p:cond delay="0"/>
                                          </p:stCondLst>
                                        </p:cTn>
                                        <p:tgtEl>
                                          <p:spTgt spid="20"/>
                                        </p:tgtEl>
                                        <p:attrNameLst>
                                          <p:attrName>style.visibility</p:attrName>
                                        </p:attrNameLst>
                                      </p:cBhvr>
                                      <p:to>
                                        <p:strVal val="visible"/>
                                      </p:to>
                                    </p:set>
                                    <p:animEffect transition="in" filter="fade">
                                      <p:cBhvr>
                                        <p:cTn id="97" dur="600"/>
                                        <p:tgtEl>
                                          <p:spTgt spid="20"/>
                                        </p:tgtEl>
                                      </p:cBhvr>
                                    </p:animEffect>
                                    <p:anim calcmode="lin" valueType="num">
                                      <p:cBhvr>
                                        <p:cTn id="98" dur="600" fill="hold"/>
                                        <p:tgtEl>
                                          <p:spTgt spid="20"/>
                                        </p:tgtEl>
                                        <p:attrNameLst>
                                          <p:attrName>ppt_x</p:attrName>
                                        </p:attrNameLst>
                                      </p:cBhvr>
                                      <p:tavLst>
                                        <p:tav tm="0">
                                          <p:val>
                                            <p:strVal val="#ppt_x"/>
                                          </p:val>
                                        </p:tav>
                                        <p:tav tm="100000">
                                          <p:val>
                                            <p:strVal val="#ppt_x"/>
                                          </p:val>
                                        </p:tav>
                                      </p:tavLst>
                                    </p:anim>
                                    <p:anim calcmode="lin" valueType="num">
                                      <p:cBhvr>
                                        <p:cTn id="99" dur="600" decel="100000" fill="hold"/>
                                        <p:tgtEl>
                                          <p:spTgt spid="20"/>
                                        </p:tgtEl>
                                        <p:attrNameLst>
                                          <p:attrName>ppt_y</p:attrName>
                                        </p:attrNameLst>
                                      </p:cBhvr>
                                      <p:tavLst>
                                        <p:tav tm="0">
                                          <p:val>
                                            <p:strVal val="#ppt_y+.05"/>
                                          </p:val>
                                        </p:tav>
                                        <p:tav tm="100000">
                                          <p:val>
                                            <p:strVal val="#ppt_y"/>
                                          </p:val>
                                        </p:tav>
                                      </p:tavLst>
                                    </p:anim>
                                  </p:childTnLst>
                                </p:cTn>
                              </p:par>
                            </p:childTnLst>
                          </p:cTn>
                        </p:par>
                        <p:par>
                          <p:cTn id="100" fill="hold">
                            <p:stCondLst>
                              <p:cond delay="1600"/>
                            </p:stCondLst>
                            <p:childTnLst>
                              <p:par>
                                <p:cTn id="101" presetID="42" presetClass="entr" presetSubtype="0" fill="hold" grpId="0" nodeType="withEffect">
                                  <p:stCondLst>
                                    <p:cond delay="0"/>
                                  </p:stCondLst>
                                  <p:childTnLst>
                                    <p:set>
                                      <p:cBhvr>
                                        <p:cTn id="102" dur="1" fill="hold">
                                          <p:stCondLst>
                                            <p:cond delay="0"/>
                                          </p:stCondLst>
                                        </p:cTn>
                                        <p:tgtEl>
                                          <p:spTgt spid="21"/>
                                        </p:tgtEl>
                                        <p:attrNameLst>
                                          <p:attrName>style.visibility</p:attrName>
                                        </p:attrNameLst>
                                      </p:cBhvr>
                                      <p:to>
                                        <p:strVal val="visible"/>
                                      </p:to>
                                    </p:set>
                                    <p:animEffect transition="in" filter="fade">
                                      <p:cBhvr>
                                        <p:cTn id="103" dur="600"/>
                                        <p:tgtEl>
                                          <p:spTgt spid="21"/>
                                        </p:tgtEl>
                                      </p:cBhvr>
                                    </p:animEffect>
                                    <p:anim calcmode="lin" valueType="num">
                                      <p:cBhvr>
                                        <p:cTn id="104" dur="600" fill="hold"/>
                                        <p:tgtEl>
                                          <p:spTgt spid="21"/>
                                        </p:tgtEl>
                                        <p:attrNameLst>
                                          <p:attrName>ppt_x</p:attrName>
                                        </p:attrNameLst>
                                      </p:cBhvr>
                                      <p:tavLst>
                                        <p:tav tm="0">
                                          <p:val>
                                            <p:strVal val="#ppt_x"/>
                                          </p:val>
                                        </p:tav>
                                        <p:tav tm="100000">
                                          <p:val>
                                            <p:strVal val="#ppt_x"/>
                                          </p:val>
                                        </p:tav>
                                      </p:tavLst>
                                    </p:anim>
                                    <p:anim calcmode="lin" valueType="num">
                                      <p:cBhvr>
                                        <p:cTn id="105" dur="600" decel="100000" fill="hold"/>
                                        <p:tgtEl>
                                          <p:spTgt spid="21"/>
                                        </p:tgtEl>
                                        <p:attrNameLst>
                                          <p:attrName>ppt_y</p:attrName>
                                        </p:attrNameLst>
                                      </p:cBhvr>
                                      <p:tavLst>
                                        <p:tav tm="0">
                                          <p:val>
                                            <p:strVal val="#ppt_y+.05"/>
                                          </p:val>
                                        </p:tav>
                                        <p:tav tm="100000">
                                          <p:val>
                                            <p:strVal val="#ppt_y"/>
                                          </p:val>
                                        </p:tav>
                                      </p:tavLst>
                                    </p:anim>
                                  </p:childTnLst>
                                </p:cTn>
                              </p:par>
                            </p:childTnLst>
                          </p:cTn>
                        </p:par>
                        <p:par>
                          <p:cTn id="106" fill="hold">
                            <p:stCondLst>
                              <p:cond delay="1600"/>
                            </p:stCondLst>
                            <p:childTnLst>
                              <p:par>
                                <p:cTn id="107" presetID="42" presetClass="entr" presetSubtype="0" fill="hold" grpId="0" nodeType="withEffect">
                                  <p:stCondLst>
                                    <p:cond delay="0"/>
                                  </p:stCondLst>
                                  <p:childTnLst>
                                    <p:set>
                                      <p:cBhvr>
                                        <p:cTn id="108" dur="1" fill="hold">
                                          <p:stCondLst>
                                            <p:cond delay="0"/>
                                          </p:stCondLst>
                                        </p:cTn>
                                        <p:tgtEl>
                                          <p:spTgt spid="22"/>
                                        </p:tgtEl>
                                        <p:attrNameLst>
                                          <p:attrName>style.visibility</p:attrName>
                                        </p:attrNameLst>
                                      </p:cBhvr>
                                      <p:to>
                                        <p:strVal val="visible"/>
                                      </p:to>
                                    </p:set>
                                    <p:animEffect transition="in" filter="fade">
                                      <p:cBhvr>
                                        <p:cTn id="109" dur="600"/>
                                        <p:tgtEl>
                                          <p:spTgt spid="22"/>
                                        </p:tgtEl>
                                      </p:cBhvr>
                                    </p:animEffect>
                                    <p:anim calcmode="lin" valueType="num">
                                      <p:cBhvr>
                                        <p:cTn id="110" dur="600" fill="hold"/>
                                        <p:tgtEl>
                                          <p:spTgt spid="22"/>
                                        </p:tgtEl>
                                        <p:attrNameLst>
                                          <p:attrName>ppt_x</p:attrName>
                                        </p:attrNameLst>
                                      </p:cBhvr>
                                      <p:tavLst>
                                        <p:tav tm="0">
                                          <p:val>
                                            <p:strVal val="#ppt_x"/>
                                          </p:val>
                                        </p:tav>
                                        <p:tav tm="100000">
                                          <p:val>
                                            <p:strVal val="#ppt_x"/>
                                          </p:val>
                                        </p:tav>
                                      </p:tavLst>
                                    </p:anim>
                                    <p:anim calcmode="lin" valueType="num">
                                      <p:cBhvr>
                                        <p:cTn id="111" dur="600" decel="100000" fill="hold"/>
                                        <p:tgtEl>
                                          <p:spTgt spid="22"/>
                                        </p:tgtEl>
                                        <p:attrNameLst>
                                          <p:attrName>ppt_y</p:attrName>
                                        </p:attrNameLst>
                                      </p:cBhvr>
                                      <p:tavLst>
                                        <p:tav tm="0">
                                          <p:val>
                                            <p:strVal val="#ppt_y+.05"/>
                                          </p:val>
                                        </p:tav>
                                        <p:tav tm="100000">
                                          <p:val>
                                            <p:strVal val="#ppt_y"/>
                                          </p:val>
                                        </p:tav>
                                      </p:tavLst>
                                    </p:anim>
                                  </p:childTnLst>
                                </p:cTn>
                              </p:par>
                            </p:childTnLst>
                          </p:cTn>
                        </p:par>
                        <p:par>
                          <p:cTn id="112" fill="hold">
                            <p:stCondLst>
                              <p:cond delay="1600"/>
                            </p:stCondLst>
                            <p:childTnLst>
                              <p:par>
                                <p:cTn id="113" presetID="42" presetClass="entr" presetSubtype="0" fill="hold" grpId="0" nodeType="withEffect">
                                  <p:stCondLst>
                                    <p:cond delay="0"/>
                                  </p:stCondLst>
                                  <p:childTnLst>
                                    <p:set>
                                      <p:cBhvr>
                                        <p:cTn id="114" dur="1" fill="hold">
                                          <p:stCondLst>
                                            <p:cond delay="0"/>
                                          </p:stCondLst>
                                        </p:cTn>
                                        <p:tgtEl>
                                          <p:spTgt spid="23"/>
                                        </p:tgtEl>
                                        <p:attrNameLst>
                                          <p:attrName>style.visibility</p:attrName>
                                        </p:attrNameLst>
                                      </p:cBhvr>
                                      <p:to>
                                        <p:strVal val="visible"/>
                                      </p:to>
                                    </p:set>
                                    <p:animEffect transition="in" filter="fade">
                                      <p:cBhvr>
                                        <p:cTn id="115" dur="600"/>
                                        <p:tgtEl>
                                          <p:spTgt spid="23"/>
                                        </p:tgtEl>
                                      </p:cBhvr>
                                    </p:animEffect>
                                    <p:anim calcmode="lin" valueType="num">
                                      <p:cBhvr>
                                        <p:cTn id="116" dur="600" fill="hold"/>
                                        <p:tgtEl>
                                          <p:spTgt spid="23"/>
                                        </p:tgtEl>
                                        <p:attrNameLst>
                                          <p:attrName>ppt_x</p:attrName>
                                        </p:attrNameLst>
                                      </p:cBhvr>
                                      <p:tavLst>
                                        <p:tav tm="0">
                                          <p:val>
                                            <p:strVal val="#ppt_x"/>
                                          </p:val>
                                        </p:tav>
                                        <p:tav tm="100000">
                                          <p:val>
                                            <p:strVal val="#ppt_x"/>
                                          </p:val>
                                        </p:tav>
                                      </p:tavLst>
                                    </p:anim>
                                    <p:anim calcmode="lin" valueType="num">
                                      <p:cBhvr>
                                        <p:cTn id="117" dur="600" decel="100000" fill="hold"/>
                                        <p:tgtEl>
                                          <p:spTgt spid="23"/>
                                        </p:tgtEl>
                                        <p:attrNameLst>
                                          <p:attrName>ppt_y</p:attrName>
                                        </p:attrNameLst>
                                      </p:cBhvr>
                                      <p:tavLst>
                                        <p:tav tm="0">
                                          <p:val>
                                            <p:strVal val="#ppt_y+.05"/>
                                          </p:val>
                                        </p:tav>
                                        <p:tav tm="100000">
                                          <p:val>
                                            <p:strVal val="#ppt_y"/>
                                          </p:val>
                                        </p:tav>
                                      </p:tavLst>
                                    </p:anim>
                                  </p:childTnLst>
                                </p:cTn>
                              </p:par>
                            </p:childTnLst>
                          </p:cTn>
                        </p:par>
                        <p:par>
                          <p:cTn id="118" fill="hold">
                            <p:stCondLst>
                              <p:cond delay="1600"/>
                            </p:stCondLst>
                            <p:childTnLst>
                              <p:par>
                                <p:cTn id="119" presetID="42" presetClass="entr" presetSubtype="0" fill="hold" grpId="0" nodeType="withEffect">
                                  <p:stCondLst>
                                    <p:cond delay="0"/>
                                  </p:stCondLst>
                                  <p:childTnLst>
                                    <p:set>
                                      <p:cBhvr>
                                        <p:cTn id="120" dur="1" fill="hold">
                                          <p:stCondLst>
                                            <p:cond delay="0"/>
                                          </p:stCondLst>
                                        </p:cTn>
                                        <p:tgtEl>
                                          <p:spTgt spid="24"/>
                                        </p:tgtEl>
                                        <p:attrNameLst>
                                          <p:attrName>style.visibility</p:attrName>
                                        </p:attrNameLst>
                                      </p:cBhvr>
                                      <p:to>
                                        <p:strVal val="visible"/>
                                      </p:to>
                                    </p:set>
                                    <p:animEffect transition="in" filter="fade">
                                      <p:cBhvr>
                                        <p:cTn id="121" dur="600"/>
                                        <p:tgtEl>
                                          <p:spTgt spid="24"/>
                                        </p:tgtEl>
                                      </p:cBhvr>
                                    </p:animEffect>
                                    <p:anim calcmode="lin" valueType="num">
                                      <p:cBhvr>
                                        <p:cTn id="122" dur="600" fill="hold"/>
                                        <p:tgtEl>
                                          <p:spTgt spid="24"/>
                                        </p:tgtEl>
                                        <p:attrNameLst>
                                          <p:attrName>ppt_x</p:attrName>
                                        </p:attrNameLst>
                                      </p:cBhvr>
                                      <p:tavLst>
                                        <p:tav tm="0">
                                          <p:val>
                                            <p:strVal val="#ppt_x"/>
                                          </p:val>
                                        </p:tav>
                                        <p:tav tm="100000">
                                          <p:val>
                                            <p:strVal val="#ppt_x"/>
                                          </p:val>
                                        </p:tav>
                                      </p:tavLst>
                                    </p:anim>
                                    <p:anim calcmode="lin" valueType="num">
                                      <p:cBhvr>
                                        <p:cTn id="123" dur="600" decel="100000" fill="hold"/>
                                        <p:tgtEl>
                                          <p:spTgt spid="24"/>
                                        </p:tgtEl>
                                        <p:attrNameLst>
                                          <p:attrName>ppt_y</p:attrName>
                                        </p:attrNameLst>
                                      </p:cBhvr>
                                      <p:tavLst>
                                        <p:tav tm="0">
                                          <p:val>
                                            <p:strVal val="#ppt_y+.05"/>
                                          </p:val>
                                        </p:tav>
                                        <p:tav tm="100000">
                                          <p:val>
                                            <p:strVal val="#ppt_y"/>
                                          </p:val>
                                        </p:tav>
                                      </p:tavLst>
                                    </p:anim>
                                  </p:childTnLst>
                                </p:cTn>
                              </p:par>
                            </p:childTnLst>
                          </p:cTn>
                        </p:par>
                        <p:par>
                          <p:cTn id="124" fill="hold">
                            <p:stCondLst>
                              <p:cond delay="2050"/>
                            </p:stCondLst>
                            <p:childTnLst>
                              <p:par>
                                <p:cTn id="125" presetID="42" presetClass="entr" presetSubtype="0" fill="hold" grpId="0" nodeType="withEffect">
                                  <p:stCondLst>
                                    <p:cond delay="0"/>
                                  </p:stCondLst>
                                  <p:childTnLst>
                                    <p:set>
                                      <p:cBhvr>
                                        <p:cTn id="126" dur="1" fill="hold">
                                          <p:stCondLst>
                                            <p:cond delay="0"/>
                                          </p:stCondLst>
                                        </p:cTn>
                                        <p:tgtEl>
                                          <p:spTgt spid="25"/>
                                        </p:tgtEl>
                                        <p:attrNameLst>
                                          <p:attrName>style.visibility</p:attrName>
                                        </p:attrNameLst>
                                      </p:cBhvr>
                                      <p:to>
                                        <p:strVal val="visible"/>
                                      </p:to>
                                    </p:set>
                                    <p:animEffect transition="in" filter="fade">
                                      <p:cBhvr>
                                        <p:cTn id="127" dur="600"/>
                                        <p:tgtEl>
                                          <p:spTgt spid="25"/>
                                        </p:tgtEl>
                                      </p:cBhvr>
                                    </p:animEffect>
                                    <p:anim calcmode="lin" valueType="num">
                                      <p:cBhvr>
                                        <p:cTn id="128" dur="600" fill="hold"/>
                                        <p:tgtEl>
                                          <p:spTgt spid="25"/>
                                        </p:tgtEl>
                                        <p:attrNameLst>
                                          <p:attrName>ppt_x</p:attrName>
                                        </p:attrNameLst>
                                      </p:cBhvr>
                                      <p:tavLst>
                                        <p:tav tm="0">
                                          <p:val>
                                            <p:strVal val="#ppt_x"/>
                                          </p:val>
                                        </p:tav>
                                        <p:tav tm="100000">
                                          <p:val>
                                            <p:strVal val="#ppt_x"/>
                                          </p:val>
                                        </p:tav>
                                      </p:tavLst>
                                    </p:anim>
                                    <p:anim calcmode="lin" valueType="num">
                                      <p:cBhvr>
                                        <p:cTn id="129" dur="600" decel="100000" fill="hold"/>
                                        <p:tgtEl>
                                          <p:spTgt spid="25"/>
                                        </p:tgtEl>
                                        <p:attrNameLst>
                                          <p:attrName>ppt_y</p:attrName>
                                        </p:attrNameLst>
                                      </p:cBhvr>
                                      <p:tavLst>
                                        <p:tav tm="0">
                                          <p:val>
                                            <p:strVal val="#ppt_y+.05"/>
                                          </p:val>
                                        </p:tav>
                                        <p:tav tm="100000">
                                          <p:val>
                                            <p:strVal val="#ppt_y"/>
                                          </p:val>
                                        </p:tav>
                                      </p:tavLst>
                                    </p:anim>
                                  </p:childTnLst>
                                </p:cTn>
                              </p:par>
                            </p:childTnLst>
                          </p:cTn>
                        </p:par>
                        <p:par>
                          <p:cTn id="130" fill="hold">
                            <p:stCondLst>
                              <p:cond delay="2050"/>
                            </p:stCondLst>
                            <p:childTnLst>
                              <p:par>
                                <p:cTn id="131" presetID="42" presetClass="entr" presetSubtype="0" fill="hold" grpId="0" nodeType="withEffect">
                                  <p:stCondLst>
                                    <p:cond delay="0"/>
                                  </p:stCondLst>
                                  <p:childTnLst>
                                    <p:set>
                                      <p:cBhvr>
                                        <p:cTn id="132" dur="1" fill="hold">
                                          <p:stCondLst>
                                            <p:cond delay="0"/>
                                          </p:stCondLst>
                                        </p:cTn>
                                        <p:tgtEl>
                                          <p:spTgt spid="26"/>
                                        </p:tgtEl>
                                        <p:attrNameLst>
                                          <p:attrName>style.visibility</p:attrName>
                                        </p:attrNameLst>
                                      </p:cBhvr>
                                      <p:to>
                                        <p:strVal val="visible"/>
                                      </p:to>
                                    </p:set>
                                    <p:animEffect transition="in" filter="fade">
                                      <p:cBhvr>
                                        <p:cTn id="133" dur="600"/>
                                        <p:tgtEl>
                                          <p:spTgt spid="26"/>
                                        </p:tgtEl>
                                      </p:cBhvr>
                                    </p:animEffect>
                                    <p:anim calcmode="lin" valueType="num">
                                      <p:cBhvr>
                                        <p:cTn id="134" dur="600" fill="hold"/>
                                        <p:tgtEl>
                                          <p:spTgt spid="26"/>
                                        </p:tgtEl>
                                        <p:attrNameLst>
                                          <p:attrName>ppt_x</p:attrName>
                                        </p:attrNameLst>
                                      </p:cBhvr>
                                      <p:tavLst>
                                        <p:tav tm="0">
                                          <p:val>
                                            <p:strVal val="#ppt_x"/>
                                          </p:val>
                                        </p:tav>
                                        <p:tav tm="100000">
                                          <p:val>
                                            <p:strVal val="#ppt_x"/>
                                          </p:val>
                                        </p:tav>
                                      </p:tavLst>
                                    </p:anim>
                                    <p:anim calcmode="lin" valueType="num">
                                      <p:cBhvr>
                                        <p:cTn id="135" dur="600" decel="100000" fill="hold"/>
                                        <p:tgtEl>
                                          <p:spTgt spid="26"/>
                                        </p:tgtEl>
                                        <p:attrNameLst>
                                          <p:attrName>ppt_y</p:attrName>
                                        </p:attrNameLst>
                                      </p:cBhvr>
                                      <p:tavLst>
                                        <p:tav tm="0">
                                          <p:val>
                                            <p:strVal val="#ppt_y+.05"/>
                                          </p:val>
                                        </p:tav>
                                        <p:tav tm="100000">
                                          <p:val>
                                            <p:strVal val="#ppt_y"/>
                                          </p:val>
                                        </p:tav>
                                      </p:tavLst>
                                    </p:anim>
                                  </p:childTnLst>
                                </p:cTn>
                              </p:par>
                            </p:childTnLst>
                          </p:cTn>
                        </p:par>
                        <p:par>
                          <p:cTn id="136" fill="hold">
                            <p:stCondLst>
                              <p:cond delay="2050"/>
                            </p:stCondLst>
                            <p:childTnLst>
                              <p:par>
                                <p:cTn id="137" presetID="42" presetClass="entr" presetSubtype="0" fill="hold" grpId="0" nodeType="withEffect">
                                  <p:stCondLst>
                                    <p:cond delay="0"/>
                                  </p:stCondLst>
                                  <p:childTnLst>
                                    <p:set>
                                      <p:cBhvr>
                                        <p:cTn id="138" dur="1" fill="hold">
                                          <p:stCondLst>
                                            <p:cond delay="0"/>
                                          </p:stCondLst>
                                        </p:cTn>
                                        <p:tgtEl>
                                          <p:spTgt spid="27"/>
                                        </p:tgtEl>
                                        <p:attrNameLst>
                                          <p:attrName>style.visibility</p:attrName>
                                        </p:attrNameLst>
                                      </p:cBhvr>
                                      <p:to>
                                        <p:strVal val="visible"/>
                                      </p:to>
                                    </p:set>
                                    <p:animEffect transition="in" filter="fade">
                                      <p:cBhvr>
                                        <p:cTn id="139" dur="600"/>
                                        <p:tgtEl>
                                          <p:spTgt spid="27"/>
                                        </p:tgtEl>
                                      </p:cBhvr>
                                    </p:animEffect>
                                    <p:anim calcmode="lin" valueType="num">
                                      <p:cBhvr>
                                        <p:cTn id="140" dur="600" fill="hold"/>
                                        <p:tgtEl>
                                          <p:spTgt spid="27"/>
                                        </p:tgtEl>
                                        <p:attrNameLst>
                                          <p:attrName>ppt_x</p:attrName>
                                        </p:attrNameLst>
                                      </p:cBhvr>
                                      <p:tavLst>
                                        <p:tav tm="0">
                                          <p:val>
                                            <p:strVal val="#ppt_x"/>
                                          </p:val>
                                        </p:tav>
                                        <p:tav tm="100000">
                                          <p:val>
                                            <p:strVal val="#ppt_x"/>
                                          </p:val>
                                        </p:tav>
                                      </p:tavLst>
                                    </p:anim>
                                    <p:anim calcmode="lin" valueType="num">
                                      <p:cBhvr>
                                        <p:cTn id="141" dur="600" decel="100000" fill="hold"/>
                                        <p:tgtEl>
                                          <p:spTgt spid="27"/>
                                        </p:tgtEl>
                                        <p:attrNameLst>
                                          <p:attrName>ppt_y</p:attrName>
                                        </p:attrNameLst>
                                      </p:cBhvr>
                                      <p:tavLst>
                                        <p:tav tm="0">
                                          <p:val>
                                            <p:strVal val="#ppt_y+.05"/>
                                          </p:val>
                                        </p:tav>
                                        <p:tav tm="100000">
                                          <p:val>
                                            <p:strVal val="#ppt_y"/>
                                          </p:val>
                                        </p:tav>
                                      </p:tavLst>
                                    </p:anim>
                                  </p:childTnLst>
                                </p:cTn>
                              </p:par>
                            </p:childTnLst>
                          </p:cTn>
                        </p:par>
                        <p:par>
                          <p:cTn id="142" fill="hold">
                            <p:stCondLst>
                              <p:cond delay="2050"/>
                            </p:stCondLst>
                            <p:childTnLst>
                              <p:par>
                                <p:cTn id="143" presetID="42" presetClass="entr" presetSubtype="0" fill="hold" grpId="0" nodeType="withEffect">
                                  <p:stCondLst>
                                    <p:cond delay="0"/>
                                  </p:stCondLst>
                                  <p:childTnLst>
                                    <p:set>
                                      <p:cBhvr>
                                        <p:cTn id="144" dur="1" fill="hold">
                                          <p:stCondLst>
                                            <p:cond delay="0"/>
                                          </p:stCondLst>
                                        </p:cTn>
                                        <p:tgtEl>
                                          <p:spTgt spid="28"/>
                                        </p:tgtEl>
                                        <p:attrNameLst>
                                          <p:attrName>style.visibility</p:attrName>
                                        </p:attrNameLst>
                                      </p:cBhvr>
                                      <p:to>
                                        <p:strVal val="visible"/>
                                      </p:to>
                                    </p:set>
                                    <p:animEffect transition="in" filter="fade">
                                      <p:cBhvr>
                                        <p:cTn id="145" dur="600"/>
                                        <p:tgtEl>
                                          <p:spTgt spid="28"/>
                                        </p:tgtEl>
                                      </p:cBhvr>
                                    </p:animEffect>
                                    <p:anim calcmode="lin" valueType="num">
                                      <p:cBhvr>
                                        <p:cTn id="146" dur="600" fill="hold"/>
                                        <p:tgtEl>
                                          <p:spTgt spid="28"/>
                                        </p:tgtEl>
                                        <p:attrNameLst>
                                          <p:attrName>ppt_x</p:attrName>
                                        </p:attrNameLst>
                                      </p:cBhvr>
                                      <p:tavLst>
                                        <p:tav tm="0">
                                          <p:val>
                                            <p:strVal val="#ppt_x"/>
                                          </p:val>
                                        </p:tav>
                                        <p:tav tm="100000">
                                          <p:val>
                                            <p:strVal val="#ppt_x"/>
                                          </p:val>
                                        </p:tav>
                                      </p:tavLst>
                                    </p:anim>
                                    <p:anim calcmode="lin" valueType="num">
                                      <p:cBhvr>
                                        <p:cTn id="147" dur="600" decel="100000" fill="hold"/>
                                        <p:tgtEl>
                                          <p:spTgt spid="28"/>
                                        </p:tgtEl>
                                        <p:attrNameLst>
                                          <p:attrName>ppt_y</p:attrName>
                                        </p:attrNameLst>
                                      </p:cBhvr>
                                      <p:tavLst>
                                        <p:tav tm="0">
                                          <p:val>
                                            <p:strVal val="#ppt_y+.05"/>
                                          </p:val>
                                        </p:tav>
                                        <p:tav tm="100000">
                                          <p:val>
                                            <p:strVal val="#ppt_y"/>
                                          </p:val>
                                        </p:tav>
                                      </p:tavLst>
                                    </p:anim>
                                  </p:childTnLst>
                                </p:cTn>
                              </p:par>
                            </p:childTnLst>
                          </p:cTn>
                        </p:par>
                        <p:par>
                          <p:cTn id="148" fill="hold">
                            <p:stCondLst>
                              <p:cond delay="2050"/>
                            </p:stCondLst>
                            <p:childTnLst>
                              <p:par>
                                <p:cTn id="149" presetID="42" presetClass="entr" presetSubtype="0" fill="hold" grpId="0" nodeType="withEffect">
                                  <p:stCondLst>
                                    <p:cond delay="0"/>
                                  </p:stCondLst>
                                  <p:childTnLst>
                                    <p:set>
                                      <p:cBhvr>
                                        <p:cTn id="150" dur="1" fill="hold">
                                          <p:stCondLst>
                                            <p:cond delay="0"/>
                                          </p:stCondLst>
                                        </p:cTn>
                                        <p:tgtEl>
                                          <p:spTgt spid="29"/>
                                        </p:tgtEl>
                                        <p:attrNameLst>
                                          <p:attrName>style.visibility</p:attrName>
                                        </p:attrNameLst>
                                      </p:cBhvr>
                                      <p:to>
                                        <p:strVal val="visible"/>
                                      </p:to>
                                    </p:set>
                                    <p:animEffect transition="in" filter="fade">
                                      <p:cBhvr>
                                        <p:cTn id="151" dur="600"/>
                                        <p:tgtEl>
                                          <p:spTgt spid="29"/>
                                        </p:tgtEl>
                                      </p:cBhvr>
                                    </p:animEffect>
                                    <p:anim calcmode="lin" valueType="num">
                                      <p:cBhvr>
                                        <p:cTn id="152" dur="600" fill="hold"/>
                                        <p:tgtEl>
                                          <p:spTgt spid="29"/>
                                        </p:tgtEl>
                                        <p:attrNameLst>
                                          <p:attrName>ppt_x</p:attrName>
                                        </p:attrNameLst>
                                      </p:cBhvr>
                                      <p:tavLst>
                                        <p:tav tm="0">
                                          <p:val>
                                            <p:strVal val="#ppt_x"/>
                                          </p:val>
                                        </p:tav>
                                        <p:tav tm="100000">
                                          <p:val>
                                            <p:strVal val="#ppt_x"/>
                                          </p:val>
                                        </p:tav>
                                      </p:tavLst>
                                    </p:anim>
                                    <p:anim calcmode="lin" valueType="num">
                                      <p:cBhvr>
                                        <p:cTn id="153" dur="600" decel="100000" fill="hold"/>
                                        <p:tgtEl>
                                          <p:spTgt spid="29"/>
                                        </p:tgtEl>
                                        <p:attrNameLst>
                                          <p:attrName>ppt_y</p:attrName>
                                        </p:attrNameLst>
                                      </p:cBhvr>
                                      <p:tavLst>
                                        <p:tav tm="0">
                                          <p:val>
                                            <p:strVal val="#ppt_y+.05"/>
                                          </p:val>
                                        </p:tav>
                                        <p:tav tm="100000">
                                          <p:val>
                                            <p:strVal val="#ppt_y"/>
                                          </p:val>
                                        </p:tav>
                                      </p:tavLst>
                                    </p:anim>
                                  </p:childTnLst>
                                </p:cTn>
                              </p:par>
                            </p:childTnLst>
                          </p:cTn>
                        </p:par>
                        <p:par>
                          <p:cTn id="154" fill="hold">
                            <p:stCondLst>
                              <p:cond delay="2050"/>
                            </p:stCondLst>
                            <p:childTnLst>
                              <p:par>
                                <p:cTn id="155" presetID="42" presetClass="entr" presetSubtype="0" fill="hold" grpId="0" nodeType="withEffect">
                                  <p:stCondLst>
                                    <p:cond delay="0"/>
                                  </p:stCondLst>
                                  <p:childTnLst>
                                    <p:set>
                                      <p:cBhvr>
                                        <p:cTn id="156" dur="1" fill="hold">
                                          <p:stCondLst>
                                            <p:cond delay="0"/>
                                          </p:stCondLst>
                                        </p:cTn>
                                        <p:tgtEl>
                                          <p:spTgt spid="30"/>
                                        </p:tgtEl>
                                        <p:attrNameLst>
                                          <p:attrName>style.visibility</p:attrName>
                                        </p:attrNameLst>
                                      </p:cBhvr>
                                      <p:to>
                                        <p:strVal val="visible"/>
                                      </p:to>
                                    </p:set>
                                    <p:animEffect transition="in" filter="fade">
                                      <p:cBhvr>
                                        <p:cTn id="157" dur="600"/>
                                        <p:tgtEl>
                                          <p:spTgt spid="30"/>
                                        </p:tgtEl>
                                      </p:cBhvr>
                                    </p:animEffect>
                                    <p:anim calcmode="lin" valueType="num">
                                      <p:cBhvr>
                                        <p:cTn id="158" dur="600" fill="hold"/>
                                        <p:tgtEl>
                                          <p:spTgt spid="30"/>
                                        </p:tgtEl>
                                        <p:attrNameLst>
                                          <p:attrName>ppt_x</p:attrName>
                                        </p:attrNameLst>
                                      </p:cBhvr>
                                      <p:tavLst>
                                        <p:tav tm="0">
                                          <p:val>
                                            <p:strVal val="#ppt_x"/>
                                          </p:val>
                                        </p:tav>
                                        <p:tav tm="100000">
                                          <p:val>
                                            <p:strVal val="#ppt_x"/>
                                          </p:val>
                                        </p:tav>
                                      </p:tavLst>
                                    </p:anim>
                                    <p:anim calcmode="lin" valueType="num">
                                      <p:cBhvr>
                                        <p:cTn id="159" dur="600" decel="100000" fill="hold"/>
                                        <p:tgtEl>
                                          <p:spTgt spid="30"/>
                                        </p:tgtEl>
                                        <p:attrNameLst>
                                          <p:attrName>ppt_y</p:attrName>
                                        </p:attrNameLst>
                                      </p:cBhvr>
                                      <p:tavLst>
                                        <p:tav tm="0">
                                          <p:val>
                                            <p:strVal val="#ppt_y+.05"/>
                                          </p:val>
                                        </p:tav>
                                        <p:tav tm="100000">
                                          <p:val>
                                            <p:strVal val="#ppt_y"/>
                                          </p:val>
                                        </p:tav>
                                      </p:tavLst>
                                    </p:anim>
                                  </p:childTnLst>
                                </p:cTn>
                              </p:par>
                            </p:childTnLst>
                          </p:cTn>
                        </p:par>
                        <p:par>
                          <p:cTn id="160" fill="hold">
                            <p:stCondLst>
                              <p:cond delay="2500"/>
                            </p:stCondLst>
                            <p:childTnLst>
                              <p:par>
                                <p:cTn id="161" presetID="42" presetClass="entr" presetSubtype="0" fill="hold" grpId="0" nodeType="withEffect">
                                  <p:stCondLst>
                                    <p:cond delay="0"/>
                                  </p:stCondLst>
                                  <p:childTnLst>
                                    <p:set>
                                      <p:cBhvr>
                                        <p:cTn id="162" dur="1" fill="hold">
                                          <p:stCondLst>
                                            <p:cond delay="0"/>
                                          </p:stCondLst>
                                        </p:cTn>
                                        <p:tgtEl>
                                          <p:spTgt spid="31"/>
                                        </p:tgtEl>
                                        <p:attrNameLst>
                                          <p:attrName>style.visibility</p:attrName>
                                        </p:attrNameLst>
                                      </p:cBhvr>
                                      <p:to>
                                        <p:strVal val="visible"/>
                                      </p:to>
                                    </p:set>
                                    <p:animEffect transition="in" filter="fade">
                                      <p:cBhvr>
                                        <p:cTn id="163" dur="600"/>
                                        <p:tgtEl>
                                          <p:spTgt spid="31"/>
                                        </p:tgtEl>
                                      </p:cBhvr>
                                    </p:animEffect>
                                    <p:anim calcmode="lin" valueType="num">
                                      <p:cBhvr>
                                        <p:cTn id="164" dur="600" fill="hold"/>
                                        <p:tgtEl>
                                          <p:spTgt spid="31"/>
                                        </p:tgtEl>
                                        <p:attrNameLst>
                                          <p:attrName>ppt_x</p:attrName>
                                        </p:attrNameLst>
                                      </p:cBhvr>
                                      <p:tavLst>
                                        <p:tav tm="0">
                                          <p:val>
                                            <p:strVal val="#ppt_x"/>
                                          </p:val>
                                        </p:tav>
                                        <p:tav tm="100000">
                                          <p:val>
                                            <p:strVal val="#ppt_x"/>
                                          </p:val>
                                        </p:tav>
                                      </p:tavLst>
                                    </p:anim>
                                    <p:anim calcmode="lin" valueType="num">
                                      <p:cBhvr>
                                        <p:cTn id="165" dur="600" decel="100000" fill="hold"/>
                                        <p:tgtEl>
                                          <p:spTgt spid="31"/>
                                        </p:tgtEl>
                                        <p:attrNameLst>
                                          <p:attrName>ppt_y</p:attrName>
                                        </p:attrNameLst>
                                      </p:cBhvr>
                                      <p:tavLst>
                                        <p:tav tm="0">
                                          <p:val>
                                            <p:strVal val="#ppt_y+.05"/>
                                          </p:val>
                                        </p:tav>
                                        <p:tav tm="100000">
                                          <p:val>
                                            <p:strVal val="#ppt_y"/>
                                          </p:val>
                                        </p:tav>
                                      </p:tavLst>
                                    </p:anim>
                                  </p:childTnLst>
                                </p:cTn>
                              </p:par>
                            </p:childTnLst>
                          </p:cTn>
                        </p:par>
                        <p:par>
                          <p:cTn id="166" fill="hold">
                            <p:stCondLst>
                              <p:cond delay="2500"/>
                            </p:stCondLst>
                            <p:childTnLst>
                              <p:par>
                                <p:cTn id="167" presetID="42" presetClass="entr" presetSubtype="0" fill="hold" grpId="0" nodeType="withEffect">
                                  <p:stCondLst>
                                    <p:cond delay="0"/>
                                  </p:stCondLst>
                                  <p:childTnLst>
                                    <p:set>
                                      <p:cBhvr>
                                        <p:cTn id="168" dur="1" fill="hold">
                                          <p:stCondLst>
                                            <p:cond delay="0"/>
                                          </p:stCondLst>
                                        </p:cTn>
                                        <p:tgtEl>
                                          <p:spTgt spid="32"/>
                                        </p:tgtEl>
                                        <p:attrNameLst>
                                          <p:attrName>style.visibility</p:attrName>
                                        </p:attrNameLst>
                                      </p:cBhvr>
                                      <p:to>
                                        <p:strVal val="visible"/>
                                      </p:to>
                                    </p:set>
                                    <p:animEffect transition="in" filter="fade">
                                      <p:cBhvr>
                                        <p:cTn id="169" dur="600"/>
                                        <p:tgtEl>
                                          <p:spTgt spid="32"/>
                                        </p:tgtEl>
                                      </p:cBhvr>
                                    </p:animEffect>
                                    <p:anim calcmode="lin" valueType="num">
                                      <p:cBhvr>
                                        <p:cTn id="170" dur="600" fill="hold"/>
                                        <p:tgtEl>
                                          <p:spTgt spid="32"/>
                                        </p:tgtEl>
                                        <p:attrNameLst>
                                          <p:attrName>ppt_x</p:attrName>
                                        </p:attrNameLst>
                                      </p:cBhvr>
                                      <p:tavLst>
                                        <p:tav tm="0">
                                          <p:val>
                                            <p:strVal val="#ppt_x"/>
                                          </p:val>
                                        </p:tav>
                                        <p:tav tm="100000">
                                          <p:val>
                                            <p:strVal val="#ppt_x"/>
                                          </p:val>
                                        </p:tav>
                                      </p:tavLst>
                                    </p:anim>
                                    <p:anim calcmode="lin" valueType="num">
                                      <p:cBhvr>
                                        <p:cTn id="171" dur="600" decel="100000" fill="hold"/>
                                        <p:tgtEl>
                                          <p:spTgt spid="32"/>
                                        </p:tgtEl>
                                        <p:attrNameLst>
                                          <p:attrName>ppt_y</p:attrName>
                                        </p:attrNameLst>
                                      </p:cBhvr>
                                      <p:tavLst>
                                        <p:tav tm="0">
                                          <p:val>
                                            <p:strVal val="#ppt_y+.05"/>
                                          </p:val>
                                        </p:tav>
                                        <p:tav tm="100000">
                                          <p:val>
                                            <p:strVal val="#ppt_y"/>
                                          </p:val>
                                        </p:tav>
                                      </p:tavLst>
                                    </p:anim>
                                  </p:childTnLst>
                                </p:cTn>
                              </p:par>
                            </p:childTnLst>
                          </p:cTn>
                        </p:par>
                        <p:par>
                          <p:cTn id="172" fill="hold">
                            <p:stCondLst>
                              <p:cond delay="2500"/>
                            </p:stCondLst>
                            <p:childTnLst>
                              <p:par>
                                <p:cTn id="173" presetID="42" presetClass="entr" presetSubtype="0" fill="hold" grpId="0" nodeType="withEffect">
                                  <p:stCondLst>
                                    <p:cond delay="0"/>
                                  </p:stCondLst>
                                  <p:childTnLst>
                                    <p:set>
                                      <p:cBhvr>
                                        <p:cTn id="174" dur="1" fill="hold">
                                          <p:stCondLst>
                                            <p:cond delay="0"/>
                                          </p:stCondLst>
                                        </p:cTn>
                                        <p:tgtEl>
                                          <p:spTgt spid="33"/>
                                        </p:tgtEl>
                                        <p:attrNameLst>
                                          <p:attrName>style.visibility</p:attrName>
                                        </p:attrNameLst>
                                      </p:cBhvr>
                                      <p:to>
                                        <p:strVal val="visible"/>
                                      </p:to>
                                    </p:set>
                                    <p:animEffect transition="in" filter="fade">
                                      <p:cBhvr>
                                        <p:cTn id="175" dur="600"/>
                                        <p:tgtEl>
                                          <p:spTgt spid="33"/>
                                        </p:tgtEl>
                                      </p:cBhvr>
                                    </p:animEffect>
                                    <p:anim calcmode="lin" valueType="num">
                                      <p:cBhvr>
                                        <p:cTn id="176" dur="600" fill="hold"/>
                                        <p:tgtEl>
                                          <p:spTgt spid="33"/>
                                        </p:tgtEl>
                                        <p:attrNameLst>
                                          <p:attrName>ppt_x</p:attrName>
                                        </p:attrNameLst>
                                      </p:cBhvr>
                                      <p:tavLst>
                                        <p:tav tm="0">
                                          <p:val>
                                            <p:strVal val="#ppt_x"/>
                                          </p:val>
                                        </p:tav>
                                        <p:tav tm="100000">
                                          <p:val>
                                            <p:strVal val="#ppt_x"/>
                                          </p:val>
                                        </p:tav>
                                      </p:tavLst>
                                    </p:anim>
                                    <p:anim calcmode="lin" valueType="num">
                                      <p:cBhvr>
                                        <p:cTn id="177" dur="600" decel="100000" fill="hold"/>
                                        <p:tgtEl>
                                          <p:spTgt spid="33"/>
                                        </p:tgtEl>
                                        <p:attrNameLst>
                                          <p:attrName>ppt_y</p:attrName>
                                        </p:attrNameLst>
                                      </p:cBhvr>
                                      <p:tavLst>
                                        <p:tav tm="0">
                                          <p:val>
                                            <p:strVal val="#ppt_y+.05"/>
                                          </p:val>
                                        </p:tav>
                                        <p:tav tm="100000">
                                          <p:val>
                                            <p:strVal val="#ppt_y"/>
                                          </p:val>
                                        </p:tav>
                                      </p:tavLst>
                                    </p:anim>
                                  </p:childTnLst>
                                </p:cTn>
                              </p:par>
                            </p:childTnLst>
                          </p:cTn>
                        </p:par>
                        <p:par>
                          <p:cTn id="178" fill="hold">
                            <p:stCondLst>
                              <p:cond delay="2500"/>
                            </p:stCondLst>
                            <p:childTnLst>
                              <p:par>
                                <p:cTn id="179" presetID="42" presetClass="entr" presetSubtype="0" fill="hold" grpId="0" nodeType="withEffect">
                                  <p:stCondLst>
                                    <p:cond delay="0"/>
                                  </p:stCondLst>
                                  <p:childTnLst>
                                    <p:set>
                                      <p:cBhvr>
                                        <p:cTn id="180" dur="1" fill="hold">
                                          <p:stCondLst>
                                            <p:cond delay="0"/>
                                          </p:stCondLst>
                                        </p:cTn>
                                        <p:tgtEl>
                                          <p:spTgt spid="34"/>
                                        </p:tgtEl>
                                        <p:attrNameLst>
                                          <p:attrName>style.visibility</p:attrName>
                                        </p:attrNameLst>
                                      </p:cBhvr>
                                      <p:to>
                                        <p:strVal val="visible"/>
                                      </p:to>
                                    </p:set>
                                    <p:animEffect transition="in" filter="fade">
                                      <p:cBhvr>
                                        <p:cTn id="181" dur="600"/>
                                        <p:tgtEl>
                                          <p:spTgt spid="34"/>
                                        </p:tgtEl>
                                      </p:cBhvr>
                                    </p:animEffect>
                                    <p:anim calcmode="lin" valueType="num">
                                      <p:cBhvr>
                                        <p:cTn id="182" dur="600" fill="hold"/>
                                        <p:tgtEl>
                                          <p:spTgt spid="34"/>
                                        </p:tgtEl>
                                        <p:attrNameLst>
                                          <p:attrName>ppt_x</p:attrName>
                                        </p:attrNameLst>
                                      </p:cBhvr>
                                      <p:tavLst>
                                        <p:tav tm="0">
                                          <p:val>
                                            <p:strVal val="#ppt_x"/>
                                          </p:val>
                                        </p:tav>
                                        <p:tav tm="100000">
                                          <p:val>
                                            <p:strVal val="#ppt_x"/>
                                          </p:val>
                                        </p:tav>
                                      </p:tavLst>
                                    </p:anim>
                                    <p:anim calcmode="lin" valueType="num">
                                      <p:cBhvr>
                                        <p:cTn id="183" dur="600" decel="100000" fill="hold"/>
                                        <p:tgtEl>
                                          <p:spTgt spid="34"/>
                                        </p:tgtEl>
                                        <p:attrNameLst>
                                          <p:attrName>ppt_y</p:attrName>
                                        </p:attrNameLst>
                                      </p:cBhvr>
                                      <p:tavLst>
                                        <p:tav tm="0">
                                          <p:val>
                                            <p:strVal val="#ppt_y+.05"/>
                                          </p:val>
                                        </p:tav>
                                        <p:tav tm="100000">
                                          <p:val>
                                            <p:strVal val="#ppt_y"/>
                                          </p:val>
                                        </p:tav>
                                      </p:tavLst>
                                    </p:anim>
                                  </p:childTnLst>
                                </p:cTn>
                              </p:par>
                            </p:childTnLst>
                          </p:cTn>
                        </p:par>
                        <p:par>
                          <p:cTn id="184" fill="hold">
                            <p:stCondLst>
                              <p:cond delay="2500"/>
                            </p:stCondLst>
                            <p:childTnLst>
                              <p:par>
                                <p:cTn id="185" presetID="42" presetClass="entr" presetSubtype="0" fill="hold" grpId="0" nodeType="withEffect">
                                  <p:stCondLst>
                                    <p:cond delay="0"/>
                                  </p:stCondLst>
                                  <p:childTnLst>
                                    <p:set>
                                      <p:cBhvr>
                                        <p:cTn id="186" dur="1" fill="hold">
                                          <p:stCondLst>
                                            <p:cond delay="0"/>
                                          </p:stCondLst>
                                        </p:cTn>
                                        <p:tgtEl>
                                          <p:spTgt spid="35"/>
                                        </p:tgtEl>
                                        <p:attrNameLst>
                                          <p:attrName>style.visibility</p:attrName>
                                        </p:attrNameLst>
                                      </p:cBhvr>
                                      <p:to>
                                        <p:strVal val="visible"/>
                                      </p:to>
                                    </p:set>
                                    <p:animEffect transition="in" filter="fade">
                                      <p:cBhvr>
                                        <p:cTn id="187" dur="600"/>
                                        <p:tgtEl>
                                          <p:spTgt spid="35"/>
                                        </p:tgtEl>
                                      </p:cBhvr>
                                    </p:animEffect>
                                    <p:anim calcmode="lin" valueType="num">
                                      <p:cBhvr>
                                        <p:cTn id="188" dur="600" fill="hold"/>
                                        <p:tgtEl>
                                          <p:spTgt spid="35"/>
                                        </p:tgtEl>
                                        <p:attrNameLst>
                                          <p:attrName>ppt_x</p:attrName>
                                        </p:attrNameLst>
                                      </p:cBhvr>
                                      <p:tavLst>
                                        <p:tav tm="0">
                                          <p:val>
                                            <p:strVal val="#ppt_x"/>
                                          </p:val>
                                        </p:tav>
                                        <p:tav tm="100000">
                                          <p:val>
                                            <p:strVal val="#ppt_x"/>
                                          </p:val>
                                        </p:tav>
                                      </p:tavLst>
                                    </p:anim>
                                    <p:anim calcmode="lin" valueType="num">
                                      <p:cBhvr>
                                        <p:cTn id="189" dur="600" decel="100000" fill="hold"/>
                                        <p:tgtEl>
                                          <p:spTgt spid="35"/>
                                        </p:tgtEl>
                                        <p:attrNameLst>
                                          <p:attrName>ppt_y</p:attrName>
                                        </p:attrNameLst>
                                      </p:cBhvr>
                                      <p:tavLst>
                                        <p:tav tm="0">
                                          <p:val>
                                            <p:strVal val="#ppt_y+.05"/>
                                          </p:val>
                                        </p:tav>
                                        <p:tav tm="100000">
                                          <p:val>
                                            <p:strVal val="#ppt_y"/>
                                          </p:val>
                                        </p:tav>
                                      </p:tavLst>
                                    </p:anim>
                                  </p:childTnLst>
                                </p:cTn>
                              </p:par>
                            </p:childTnLst>
                          </p:cTn>
                        </p:par>
                        <p:par>
                          <p:cTn id="190" fill="hold">
                            <p:stCondLst>
                              <p:cond delay="2500"/>
                            </p:stCondLst>
                            <p:childTnLst>
                              <p:par>
                                <p:cTn id="191" presetID="42" presetClass="entr" presetSubtype="0" fill="hold" grpId="0" nodeType="withEffect">
                                  <p:stCondLst>
                                    <p:cond delay="0"/>
                                  </p:stCondLst>
                                  <p:childTnLst>
                                    <p:set>
                                      <p:cBhvr>
                                        <p:cTn id="192" dur="1" fill="hold">
                                          <p:stCondLst>
                                            <p:cond delay="0"/>
                                          </p:stCondLst>
                                        </p:cTn>
                                        <p:tgtEl>
                                          <p:spTgt spid="36"/>
                                        </p:tgtEl>
                                        <p:attrNameLst>
                                          <p:attrName>style.visibility</p:attrName>
                                        </p:attrNameLst>
                                      </p:cBhvr>
                                      <p:to>
                                        <p:strVal val="visible"/>
                                      </p:to>
                                    </p:set>
                                    <p:animEffect transition="in" filter="fade">
                                      <p:cBhvr>
                                        <p:cTn id="193" dur="600"/>
                                        <p:tgtEl>
                                          <p:spTgt spid="36"/>
                                        </p:tgtEl>
                                      </p:cBhvr>
                                    </p:animEffect>
                                    <p:anim calcmode="lin" valueType="num">
                                      <p:cBhvr>
                                        <p:cTn id="194" dur="600" fill="hold"/>
                                        <p:tgtEl>
                                          <p:spTgt spid="36"/>
                                        </p:tgtEl>
                                        <p:attrNameLst>
                                          <p:attrName>ppt_x</p:attrName>
                                        </p:attrNameLst>
                                      </p:cBhvr>
                                      <p:tavLst>
                                        <p:tav tm="0">
                                          <p:val>
                                            <p:strVal val="#ppt_x"/>
                                          </p:val>
                                        </p:tav>
                                        <p:tav tm="100000">
                                          <p:val>
                                            <p:strVal val="#ppt_x"/>
                                          </p:val>
                                        </p:tav>
                                      </p:tavLst>
                                    </p:anim>
                                    <p:anim calcmode="lin" valueType="num">
                                      <p:cBhvr>
                                        <p:cTn id="195" dur="600" decel="100000" fill="hold"/>
                                        <p:tgtEl>
                                          <p:spTgt spid="36"/>
                                        </p:tgtEl>
                                        <p:attrNameLst>
                                          <p:attrName>ppt_y</p:attrName>
                                        </p:attrNameLst>
                                      </p:cBhvr>
                                      <p:tavLst>
                                        <p:tav tm="0">
                                          <p:val>
                                            <p:strVal val="#ppt_y+.05"/>
                                          </p:val>
                                        </p:tav>
                                        <p:tav tm="100000">
                                          <p:val>
                                            <p:strVal val="#ppt_y"/>
                                          </p:val>
                                        </p:tav>
                                      </p:tavLst>
                                    </p:anim>
                                  </p:childTnLst>
                                </p:cTn>
                              </p:par>
                            </p:childTnLst>
                          </p:cTn>
                        </p:par>
                        <p:par>
                          <p:cTn id="196" fill="hold">
                            <p:stCondLst>
                              <p:cond delay="2950"/>
                            </p:stCondLst>
                            <p:childTnLst>
                              <p:par>
                                <p:cTn id="197" presetID="42" presetClass="entr" presetSubtype="0" fill="hold" grpId="0" nodeType="withEffect">
                                  <p:stCondLst>
                                    <p:cond delay="0"/>
                                  </p:stCondLst>
                                  <p:childTnLst>
                                    <p:set>
                                      <p:cBhvr>
                                        <p:cTn id="198" dur="1" fill="hold">
                                          <p:stCondLst>
                                            <p:cond delay="0"/>
                                          </p:stCondLst>
                                        </p:cTn>
                                        <p:tgtEl>
                                          <p:spTgt spid="37"/>
                                        </p:tgtEl>
                                        <p:attrNameLst>
                                          <p:attrName>style.visibility</p:attrName>
                                        </p:attrNameLst>
                                      </p:cBhvr>
                                      <p:to>
                                        <p:strVal val="visible"/>
                                      </p:to>
                                    </p:set>
                                    <p:animEffect transition="in" filter="fade">
                                      <p:cBhvr>
                                        <p:cTn id="199" dur="600"/>
                                        <p:tgtEl>
                                          <p:spTgt spid="37"/>
                                        </p:tgtEl>
                                      </p:cBhvr>
                                    </p:animEffect>
                                    <p:anim calcmode="lin" valueType="num">
                                      <p:cBhvr>
                                        <p:cTn id="200" dur="600" fill="hold"/>
                                        <p:tgtEl>
                                          <p:spTgt spid="37"/>
                                        </p:tgtEl>
                                        <p:attrNameLst>
                                          <p:attrName>ppt_x</p:attrName>
                                        </p:attrNameLst>
                                      </p:cBhvr>
                                      <p:tavLst>
                                        <p:tav tm="0">
                                          <p:val>
                                            <p:strVal val="#ppt_x"/>
                                          </p:val>
                                        </p:tav>
                                        <p:tav tm="100000">
                                          <p:val>
                                            <p:strVal val="#ppt_x"/>
                                          </p:val>
                                        </p:tav>
                                      </p:tavLst>
                                    </p:anim>
                                    <p:anim calcmode="lin" valueType="num">
                                      <p:cBhvr>
                                        <p:cTn id="201" dur="600" decel="100000" fill="hold"/>
                                        <p:tgtEl>
                                          <p:spTgt spid="37"/>
                                        </p:tgtEl>
                                        <p:attrNameLst>
                                          <p:attrName>ppt_y</p:attrName>
                                        </p:attrNameLst>
                                      </p:cBhvr>
                                      <p:tavLst>
                                        <p:tav tm="0">
                                          <p:val>
                                            <p:strVal val="#ppt_y+.05"/>
                                          </p:val>
                                        </p:tav>
                                        <p:tav tm="100000">
                                          <p:val>
                                            <p:strVal val="#ppt_y"/>
                                          </p:val>
                                        </p:tav>
                                      </p:tavLst>
                                    </p:anim>
                                  </p:childTnLst>
                                </p:cTn>
                              </p:par>
                            </p:childTnLst>
                          </p:cTn>
                        </p:par>
                        <p:par>
                          <p:cTn id="202" fill="hold">
                            <p:stCondLst>
                              <p:cond delay="2950"/>
                            </p:stCondLst>
                            <p:childTnLst>
                              <p:par>
                                <p:cTn id="203" presetID="42" presetClass="entr" presetSubtype="0" fill="hold" grpId="0" nodeType="withEffect">
                                  <p:stCondLst>
                                    <p:cond delay="0"/>
                                  </p:stCondLst>
                                  <p:childTnLst>
                                    <p:set>
                                      <p:cBhvr>
                                        <p:cTn id="204" dur="1" fill="hold">
                                          <p:stCondLst>
                                            <p:cond delay="0"/>
                                          </p:stCondLst>
                                        </p:cTn>
                                        <p:tgtEl>
                                          <p:spTgt spid="38"/>
                                        </p:tgtEl>
                                        <p:attrNameLst>
                                          <p:attrName>style.visibility</p:attrName>
                                        </p:attrNameLst>
                                      </p:cBhvr>
                                      <p:to>
                                        <p:strVal val="visible"/>
                                      </p:to>
                                    </p:set>
                                    <p:animEffect transition="in" filter="fade">
                                      <p:cBhvr>
                                        <p:cTn id="205" dur="600"/>
                                        <p:tgtEl>
                                          <p:spTgt spid="38"/>
                                        </p:tgtEl>
                                      </p:cBhvr>
                                    </p:animEffect>
                                    <p:anim calcmode="lin" valueType="num">
                                      <p:cBhvr>
                                        <p:cTn id="206" dur="600" fill="hold"/>
                                        <p:tgtEl>
                                          <p:spTgt spid="38"/>
                                        </p:tgtEl>
                                        <p:attrNameLst>
                                          <p:attrName>ppt_x</p:attrName>
                                        </p:attrNameLst>
                                      </p:cBhvr>
                                      <p:tavLst>
                                        <p:tav tm="0">
                                          <p:val>
                                            <p:strVal val="#ppt_x"/>
                                          </p:val>
                                        </p:tav>
                                        <p:tav tm="100000">
                                          <p:val>
                                            <p:strVal val="#ppt_x"/>
                                          </p:val>
                                        </p:tav>
                                      </p:tavLst>
                                    </p:anim>
                                    <p:anim calcmode="lin" valueType="num">
                                      <p:cBhvr>
                                        <p:cTn id="207" dur="600" decel="100000" fill="hold"/>
                                        <p:tgtEl>
                                          <p:spTgt spid="38"/>
                                        </p:tgtEl>
                                        <p:attrNameLst>
                                          <p:attrName>ppt_y</p:attrName>
                                        </p:attrNameLst>
                                      </p:cBhvr>
                                      <p:tavLst>
                                        <p:tav tm="0">
                                          <p:val>
                                            <p:strVal val="#ppt_y+.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1" grpId="0" animBg="1"/>
      <p:bldP spid="12" grpId="0" animBg="1"/>
      <p:bldP spid="13" grpId="0" animBg="1"/>
      <p:bldP spid="14" grpId="0" animBg="1"/>
      <p:bldP spid="15" grpId="0" animBg="1"/>
      <p:bldP spid="17" grpId="0" animBg="1"/>
      <p:bldP spid="18" grpId="0" animBg="1"/>
      <p:bldP spid="19" grpId="0" animBg="1"/>
      <p:bldP spid="20" grpId="0" animBg="1"/>
      <p:bldP spid="21" grpId="0" animBg="1"/>
      <p:bldP spid="22" grpId="0" animBg="1"/>
      <p:bldP spid="23" grpId="0" animBg="1"/>
      <p:bldP spid="24" grpId="0" animBg="1"/>
      <p:bldP spid="25" grpId="0" animBg="1"/>
      <p:bldP spid="27" grpId="0" animBg="1"/>
      <p:bldP spid="28" grpId="0" animBg="1"/>
      <p:bldP spid="29" grpId="0" animBg="1"/>
      <p:bldP spid="30" grpId="0" animBg="1"/>
      <p:bldP spid="31" grpId="0" animBg="1"/>
      <p:bldP spid="33" grpId="0" animBg="1"/>
      <p:bldP spid="34" grpId="0" animBg="1"/>
      <p:bldP spid="35" grpId="0" animBg="1"/>
      <p:bldP spid="36" grpId="0" animBg="1"/>
      <p:bldP spid="37" grpId="0" animBg="1"/>
      <p:bldP spid="38"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0"/>
          <p:cNvSpPr txBox="1"/>
          <p:nvPr/>
        </p:nvSpPr>
        <p:spPr>
          <a:xfrm>
            <a:off x="548640" y="292608"/>
            <a:ext cx="7315200" cy="292608"/>
          </a:xfrm>
          <a:prstGeom prst="rect">
            <a:avLst/>
          </a:prstGeom>
          <a:noFill/>
          <a:ln/>
        </p:spPr>
        <p:txBody>
          <a:bodyPr wrap="square" lIns="0" tIns="0" rIns="0" bIns="0" rtlCol="0" anchor="ctr"/>
          <a:lstStyle/>
          <a:p>
            <a:pPr indent="0" marL="0">
              <a:buNone/>
            </a:pPr>
            <a:r>
              <a:rPr lang="ru-RU" sz="1300" b="1" spc="200" kern="0" dirty="0">
                <a:solidFill>
                  <a:schemeClr val="accent1"/>
                </a:solidFill>
              </a:rPr>
              <a:t>04  ·  КООПЕРАТИВЫ И РЕДКИЕ ФОРМЫ</a:t>
            </a:r>
            <a:endParaRPr lang="ru-RU" sz="1300" dirty="0"/>
          </a:p>
        </p:txBody>
      </p:sp>
      <p:sp>
        <p:nvSpPr>
          <p:cNvPr id="4" name="Text 0"/>
          <p:cNvSpPr/>
          <p:nvPr>
            <p:ph idx="100" type="title" hasCustomPrompt="1"/>
          </p:nvPr>
        </p:nvSpPr>
        <p:spPr>
          <a:xfrm>
            <a:off x="548640" y="566928"/>
            <a:ext cx="11064240" cy="731520"/>
          </a:xfrm>
          <a:prstGeom prst="rect">
            <a:avLst/>
          </a:prstGeom>
          <a:noFill/>
          <a:ln/>
        </p:spPr>
        <p:txBody>
          <a:bodyPr wrap="square" lIns="0" tIns="0" rIns="0" bIns="0" rtlCol="0" anchor="ctr"/>
          <a:lstStyle/>
          <a:p>
            <a:pPr algn="l" indent="0" marL="0">
              <a:buNone/>
            </a:pPr>
            <a:r>
              <a:rPr lang="ru-RU" sz="3400" b="1" dirty="0">
                <a:solidFill>
                  <a:schemeClr val="tx1"/>
                </a:solidFill>
                <a:latin typeface="Georgia" pitchFamily="34" charset="0"/>
                <a:ea typeface="Georgia" pitchFamily="34" charset="-122"/>
                <a:cs typeface="Georgia" pitchFamily="34" charset="-120"/>
              </a:rPr>
              <a:t>Производственный кооператив (артель)</a:t>
            </a:r>
            <a:endParaRPr lang="ru-RU" sz="3400" dirty="0"/>
          </a:p>
        </p:txBody>
      </p:sp>
      <p:sp>
        <p:nvSpPr>
          <p:cNvPr id="5" name="a_01_big"/>
          <p:cNvSpPr/>
          <p:nvPr/>
        </p:nvSpPr>
        <p:spPr>
          <a:xfrm>
            <a:off x="548640" y="1463040"/>
            <a:ext cx="7223760" cy="4617720"/>
          </a:xfrm>
          <a:prstGeom prst="roundRect">
            <a:avLst>
              <a:gd name="adj" fmla="val 2376"/>
            </a:avLst>
          </a:prstGeom>
          <a:solidFill>
            <a:schemeClr val="bg2"/>
          </a:solidFill>
          <a:ln w="9525">
            <a:solidFill>
              <a:schemeClr val="bg2"/>
            </a:solidFill>
            <a:prstDash val="solid"/>
          </a:ln>
        </p:spPr>
      </p:sp>
      <p:sp>
        <p:nvSpPr>
          <p:cNvPr id="6" name="a_01_bt"/>
          <p:cNvSpPr txBox="1"/>
          <p:nvPr/>
        </p:nvSpPr>
        <p:spPr>
          <a:xfrm>
            <a:off x="868680" y="1645920"/>
            <a:ext cx="6675120" cy="411480"/>
          </a:xfrm>
          <a:prstGeom prst="rect">
            <a:avLst/>
          </a:prstGeom>
          <a:noFill/>
          <a:ln/>
        </p:spPr>
        <p:txBody>
          <a:bodyPr wrap="square" lIns="0" tIns="0" rIns="0" bIns="0" rtlCol="0" anchor="ctr"/>
          <a:lstStyle/>
          <a:p>
            <a:pPr indent="0" marL="0">
              <a:buNone/>
            </a:pPr>
            <a:r>
              <a:rPr lang="ru-RU" sz="1800" b="1" dirty="0">
                <a:solidFill>
                  <a:schemeClr val="tx1"/>
                </a:solidFill>
              </a:rPr>
              <a:t>Объединение людей для совместной работы</a:t>
            </a:r>
            <a:endParaRPr lang="ru-RU" sz="1800" dirty="0"/>
          </a:p>
        </p:txBody>
      </p:sp>
      <p:sp>
        <p:nvSpPr>
          <p:cNvPr id="7" name="a_02_d0_c"/>
          <p:cNvSpPr/>
          <p:nvPr/>
        </p:nvSpPr>
        <p:spPr>
          <a:xfrm>
            <a:off x="868680" y="2240280"/>
            <a:ext cx="868680" cy="868680"/>
          </a:xfrm>
          <a:prstGeom prst="ellipse">
            <a:avLst/>
          </a:prstGeom>
          <a:solidFill>
            <a:schemeClr val="accent3"/>
          </a:solidFill>
          <a:ln w="12700">
            <a:solidFill>
              <a:schemeClr val="accent3"/>
            </a:solidFill>
            <a:prstDash val="solid"/>
          </a:ln>
        </p:spPr>
      </p:sp>
      <p:pic>
        <p:nvPicPr>
          <p:cNvPr id="8" name="a_02_d0_i" descr="/tmp/claude-0/-home-user-musor/c6980a0f-2a52-569f-a1fc-691d09a5d10f/scratchpad/biz/icons/users_w.png">    </p:cNvPr>
          <p:cNvPicPr>
            <a:picLocks noChangeAspect="1"/>
          </p:cNvPicPr>
          <p:nvPr/>
        </p:nvPicPr>
        <p:blipFill>
          <a:blip r:embed="rId1"/>
          <a:stretch>
            <a:fillRect/>
          </a:stretch>
        </p:blipFill>
        <p:spPr>
          <a:xfrm>
            <a:off x="1094537" y="2466137"/>
            <a:ext cx="416966" cy="416966"/>
          </a:xfrm>
          <a:prstGeom prst="rect">
            <a:avLst/>
          </a:prstGeom>
        </p:spPr>
      </p:pic>
      <p:sp>
        <p:nvSpPr>
          <p:cNvPr id="9" name="a_02_b0"/>
          <p:cNvSpPr txBox="1"/>
          <p:nvPr/>
        </p:nvSpPr>
        <p:spPr>
          <a:xfrm>
            <a:off x="1965960" y="2221992"/>
            <a:ext cx="1554480" cy="868680"/>
          </a:xfrm>
          <a:prstGeom prst="rect">
            <a:avLst/>
          </a:prstGeom>
          <a:noFill/>
          <a:ln/>
        </p:spPr>
        <p:txBody>
          <a:bodyPr wrap="square" lIns="0" tIns="0" rIns="0" bIns="0" rtlCol="0" anchor="ctr"/>
          <a:lstStyle/>
          <a:p>
            <a:pPr indent="0" marL="0">
              <a:buNone/>
            </a:pPr>
            <a:r>
              <a:rPr lang="ru-RU" sz="3400" b="1" dirty="0">
                <a:solidFill>
                  <a:schemeClr val="tx1"/>
                </a:solidFill>
                <a:latin typeface="Georgia" pitchFamily="34" charset="0"/>
                <a:ea typeface="Georgia" pitchFamily="34" charset="-122"/>
                <a:cs typeface="Georgia" pitchFamily="34" charset="-120"/>
              </a:rPr>
              <a:t>5+</a:t>
            </a:r>
            <a:endParaRPr lang="ru-RU" sz="3400" dirty="0"/>
          </a:p>
        </p:txBody>
      </p:sp>
      <p:sp>
        <p:nvSpPr>
          <p:cNvPr id="10" name="a_02_l0"/>
          <p:cNvSpPr txBox="1"/>
          <p:nvPr/>
        </p:nvSpPr>
        <p:spPr>
          <a:xfrm>
            <a:off x="3566160" y="2240280"/>
            <a:ext cx="4023360" cy="868680"/>
          </a:xfrm>
          <a:prstGeom prst="rect">
            <a:avLst/>
          </a:prstGeom>
          <a:noFill/>
          <a:ln/>
        </p:spPr>
        <p:txBody>
          <a:bodyPr wrap="square" lIns="0" tIns="0" rIns="0" bIns="0" rtlCol="0" anchor="ctr"/>
          <a:lstStyle/>
          <a:p>
            <a:pPr indent="0" marL="0">
              <a:buNone/>
            </a:pPr>
            <a:r>
              <a:rPr lang="ru-RU" sz="1600" dirty="0">
                <a:solidFill>
                  <a:schemeClr val="tx2"/>
                </a:solidFill>
              </a:rPr>
              <a:t>членов как минимум</a:t>
            </a:r>
            <a:endParaRPr lang="ru-RU" sz="1600" dirty="0"/>
          </a:p>
        </p:txBody>
      </p:sp>
      <p:sp>
        <p:nvSpPr>
          <p:cNvPr id="11" name="a_03_d1_c"/>
          <p:cNvSpPr/>
          <p:nvPr/>
        </p:nvSpPr>
        <p:spPr>
          <a:xfrm>
            <a:off x="868680" y="3429000"/>
            <a:ext cx="868680" cy="868680"/>
          </a:xfrm>
          <a:prstGeom prst="ellipse">
            <a:avLst/>
          </a:prstGeom>
          <a:solidFill>
            <a:schemeClr val="accent2"/>
          </a:solidFill>
          <a:ln w="12700">
            <a:solidFill>
              <a:schemeClr val="accent2"/>
            </a:solidFill>
            <a:prstDash val="solid"/>
          </a:ln>
        </p:spPr>
      </p:sp>
      <p:pic>
        <p:nvPicPr>
          <p:cNvPr id="12" name="a_03_d1_i" descr="/tmp/claude-0/-home-user-musor/c6980a0f-2a52-569f-a1fc-691d09a5d10f/scratchpad/biz/icons/vote_w.png">    </p:cNvPr>
          <p:cNvPicPr>
            <a:picLocks noChangeAspect="1"/>
          </p:cNvPicPr>
          <p:nvPr/>
        </p:nvPicPr>
        <p:blipFill>
          <a:blip r:embed="rId2"/>
          <a:stretch>
            <a:fillRect/>
          </a:stretch>
        </p:blipFill>
        <p:spPr>
          <a:xfrm>
            <a:off x="1094537" y="3654857"/>
            <a:ext cx="416966" cy="416966"/>
          </a:xfrm>
          <a:prstGeom prst="rect">
            <a:avLst/>
          </a:prstGeom>
        </p:spPr>
      </p:pic>
      <p:sp>
        <p:nvSpPr>
          <p:cNvPr id="13" name="a_03_b1"/>
          <p:cNvSpPr txBox="1"/>
          <p:nvPr/>
        </p:nvSpPr>
        <p:spPr>
          <a:xfrm>
            <a:off x="1965960" y="3410712"/>
            <a:ext cx="1554480" cy="868680"/>
          </a:xfrm>
          <a:prstGeom prst="rect">
            <a:avLst/>
          </a:prstGeom>
          <a:noFill/>
          <a:ln/>
        </p:spPr>
        <p:txBody>
          <a:bodyPr wrap="square" lIns="0" tIns="0" rIns="0" bIns="0" rtlCol="0" anchor="ctr"/>
          <a:lstStyle/>
          <a:p>
            <a:pPr indent="0" marL="0">
              <a:buNone/>
            </a:pPr>
            <a:r>
              <a:rPr lang="ru-RU" sz="3400" b="1" dirty="0">
                <a:solidFill>
                  <a:schemeClr val="tx1"/>
                </a:solidFill>
                <a:latin typeface="Georgia" pitchFamily="34" charset="0"/>
                <a:ea typeface="Georgia" pitchFamily="34" charset="-122"/>
                <a:cs typeface="Georgia" pitchFamily="34" charset="-120"/>
              </a:rPr>
              <a:t>1 = 1</a:t>
            </a:r>
            <a:endParaRPr lang="ru-RU" sz="3400" dirty="0"/>
          </a:p>
        </p:txBody>
      </p:sp>
      <p:sp>
        <p:nvSpPr>
          <p:cNvPr id="14" name="a_03_l1"/>
          <p:cNvSpPr txBox="1"/>
          <p:nvPr/>
        </p:nvSpPr>
        <p:spPr>
          <a:xfrm>
            <a:off x="3566160" y="3429000"/>
            <a:ext cx="4023360" cy="868680"/>
          </a:xfrm>
          <a:prstGeom prst="rect">
            <a:avLst/>
          </a:prstGeom>
          <a:noFill/>
          <a:ln/>
        </p:spPr>
        <p:txBody>
          <a:bodyPr wrap="square" lIns="0" tIns="0" rIns="0" bIns="0" rtlCol="0" anchor="ctr"/>
          <a:lstStyle/>
          <a:p>
            <a:pPr indent="0" marL="0">
              <a:buNone/>
            </a:pPr>
            <a:r>
              <a:rPr lang="ru-RU" sz="1600" dirty="0">
                <a:solidFill>
                  <a:schemeClr val="tx2"/>
                </a:solidFill>
              </a:rPr>
              <a:t>один член — один голос, сколько бы ни вложил</a:t>
            </a:r>
            <a:endParaRPr lang="ru-RU" sz="1600" dirty="0"/>
          </a:p>
        </p:txBody>
      </p:sp>
      <p:sp>
        <p:nvSpPr>
          <p:cNvPr id="15" name="a_04_d2_c"/>
          <p:cNvSpPr/>
          <p:nvPr/>
        </p:nvSpPr>
        <p:spPr>
          <a:xfrm>
            <a:off x="868680" y="4617720"/>
            <a:ext cx="868680" cy="868680"/>
          </a:xfrm>
          <a:prstGeom prst="ellipse">
            <a:avLst/>
          </a:prstGeom>
          <a:solidFill>
            <a:schemeClr val="accent4"/>
          </a:solidFill>
          <a:ln w="12700">
            <a:solidFill>
              <a:schemeClr val="accent4"/>
            </a:solidFill>
            <a:prstDash val="solid"/>
          </a:ln>
        </p:spPr>
      </p:sp>
      <p:pic>
        <p:nvPicPr>
          <p:cNvPr id="16" name="a_04_d2_i" descr="/tmp/claude-0/-home-user-musor/c6980a0f-2a52-569f-a1fc-691d09a5d10f/scratchpad/biz/icons/hammer_w.png">    </p:cNvPr>
          <p:cNvPicPr>
            <a:picLocks noChangeAspect="1"/>
          </p:cNvPicPr>
          <p:nvPr/>
        </p:nvPicPr>
        <p:blipFill>
          <a:blip r:embed="rId3"/>
          <a:stretch>
            <a:fillRect/>
          </a:stretch>
        </p:blipFill>
        <p:spPr>
          <a:xfrm>
            <a:off x="1094537" y="4843577"/>
            <a:ext cx="416966" cy="416966"/>
          </a:xfrm>
          <a:prstGeom prst="rect">
            <a:avLst/>
          </a:prstGeom>
        </p:spPr>
      </p:pic>
      <p:sp>
        <p:nvSpPr>
          <p:cNvPr id="17" name="a_04_b2"/>
          <p:cNvSpPr txBox="1"/>
          <p:nvPr/>
        </p:nvSpPr>
        <p:spPr>
          <a:xfrm>
            <a:off x="1965960" y="4599432"/>
            <a:ext cx="1554480" cy="868680"/>
          </a:xfrm>
          <a:prstGeom prst="rect">
            <a:avLst/>
          </a:prstGeom>
          <a:noFill/>
          <a:ln/>
        </p:spPr>
        <p:txBody>
          <a:bodyPr wrap="square" lIns="0" tIns="0" rIns="0" bIns="0" rtlCol="0" anchor="ctr"/>
          <a:lstStyle/>
          <a:p>
            <a:pPr indent="0" marL="0">
              <a:buNone/>
            </a:pPr>
            <a:r>
              <a:rPr lang="ru-RU" sz="3400" b="1" dirty="0">
                <a:solidFill>
                  <a:schemeClr val="tx1"/>
                </a:solidFill>
                <a:latin typeface="Georgia" pitchFamily="34" charset="0"/>
                <a:ea typeface="Georgia" pitchFamily="34" charset="-122"/>
                <a:cs typeface="Georgia" pitchFamily="34" charset="-120"/>
              </a:rPr>
              <a:t>Труд</a:t>
            </a:r>
            <a:endParaRPr lang="ru-RU" sz="3400" dirty="0"/>
          </a:p>
        </p:txBody>
      </p:sp>
      <p:sp>
        <p:nvSpPr>
          <p:cNvPr id="18" name="a_04_l2"/>
          <p:cNvSpPr txBox="1"/>
          <p:nvPr/>
        </p:nvSpPr>
        <p:spPr>
          <a:xfrm>
            <a:off x="3566160" y="4617720"/>
            <a:ext cx="4023360" cy="868680"/>
          </a:xfrm>
          <a:prstGeom prst="rect">
            <a:avLst/>
          </a:prstGeom>
          <a:noFill/>
          <a:ln/>
        </p:spPr>
        <p:txBody>
          <a:bodyPr wrap="square" lIns="0" tIns="0" rIns="0" bIns="0" rtlCol="0" anchor="ctr"/>
          <a:lstStyle/>
          <a:p>
            <a:pPr indent="0" marL="0">
              <a:buNone/>
            </a:pPr>
            <a:r>
              <a:rPr lang="ru-RU" sz="1600" dirty="0">
                <a:solidFill>
                  <a:schemeClr val="tx2"/>
                </a:solidFill>
              </a:rPr>
              <a:t>каждый член лично работает в кооперативе</a:t>
            </a:r>
            <a:endParaRPr lang="ru-RU" sz="1600" dirty="0"/>
          </a:p>
        </p:txBody>
      </p:sp>
      <p:sp>
        <p:nvSpPr>
          <p:cNvPr id="19" name="a_05_where"/>
          <p:cNvSpPr txBox="1"/>
          <p:nvPr/>
        </p:nvSpPr>
        <p:spPr>
          <a:xfrm>
            <a:off x="868680" y="5577840"/>
            <a:ext cx="6766560" cy="365760"/>
          </a:xfrm>
          <a:prstGeom prst="rect">
            <a:avLst/>
          </a:prstGeom>
          <a:noFill/>
          <a:ln/>
        </p:spPr>
        <p:txBody>
          <a:bodyPr wrap="square" lIns="0" tIns="0" rIns="0" bIns="0" rtlCol="0" anchor="ctr"/>
          <a:lstStyle/>
          <a:p>
            <a:pPr indent="0" marL="0">
              <a:buNone/>
            </a:pPr>
            <a:r>
              <a:rPr lang="ru-RU" sz="1400" i="1" dirty="0">
                <a:solidFill>
                  <a:schemeClr val="tx2"/>
                </a:solidFill>
              </a:rPr>
              <a:t>Где встречаются: сельское хозяйство, рыболовство, старательские артели</a:t>
            </a:r>
            <a:endParaRPr lang="ru-RU" sz="1400" dirty="0"/>
          </a:p>
        </p:txBody>
      </p:sp>
      <p:sp>
        <p:nvSpPr>
          <p:cNvPr id="20" name="a_06_s0"/>
          <p:cNvSpPr/>
          <p:nvPr/>
        </p:nvSpPr>
        <p:spPr>
          <a:xfrm>
            <a:off x="7955280" y="1463040"/>
            <a:ext cx="3657600" cy="2240280"/>
          </a:xfrm>
          <a:prstGeom prst="roundRect">
            <a:avLst>
              <a:gd name="adj" fmla="val 4898"/>
            </a:avLst>
          </a:prstGeom>
          <a:solidFill>
            <a:schemeClr val="bg2"/>
          </a:solidFill>
          <a:ln w="19050">
            <a:solidFill>
              <a:schemeClr val="accent1"/>
            </a:solidFill>
            <a:prstDash val="solid"/>
          </a:ln>
        </p:spPr>
      </p:sp>
      <p:sp>
        <p:nvSpPr>
          <p:cNvPr id="21" name="a_06_sd0_c"/>
          <p:cNvSpPr/>
          <p:nvPr/>
        </p:nvSpPr>
        <p:spPr>
          <a:xfrm>
            <a:off x="8229600" y="1691640"/>
            <a:ext cx="685800" cy="685800"/>
          </a:xfrm>
          <a:prstGeom prst="ellipse">
            <a:avLst/>
          </a:prstGeom>
          <a:solidFill>
            <a:schemeClr val="accent1"/>
          </a:solidFill>
          <a:ln w="12700">
            <a:solidFill>
              <a:schemeClr val="accent1"/>
            </a:solidFill>
            <a:prstDash val="solid"/>
          </a:ln>
        </p:spPr>
      </p:sp>
      <p:pic>
        <p:nvPicPr>
          <p:cNvPr id="22" name="a_06_sd0_i" descr="/tmp/claude-0/-home-user-musor/c6980a0f-2a52-569f-a1fc-691d09a5d10f/scratchpad/biz/icons/tractor_w.png">    </p:cNvPr>
          <p:cNvPicPr>
            <a:picLocks noChangeAspect="1"/>
          </p:cNvPicPr>
          <p:nvPr/>
        </p:nvPicPr>
        <p:blipFill>
          <a:blip r:embed="rId4"/>
          <a:stretch>
            <a:fillRect/>
          </a:stretch>
        </p:blipFill>
        <p:spPr>
          <a:xfrm>
            <a:off x="8407908" y="1869948"/>
            <a:ext cx="329184" cy="329184"/>
          </a:xfrm>
          <a:prstGeom prst="rect">
            <a:avLst/>
          </a:prstGeom>
        </p:spPr>
      </p:pic>
      <p:sp>
        <p:nvSpPr>
          <p:cNvPr id="23" name="a_06_st0"/>
          <p:cNvSpPr txBox="1"/>
          <p:nvPr/>
        </p:nvSpPr>
        <p:spPr>
          <a:xfrm>
            <a:off x="8229600" y="2423160"/>
            <a:ext cx="3200400" cy="594360"/>
          </a:xfrm>
          <a:prstGeom prst="rect">
            <a:avLst/>
          </a:prstGeom>
          <a:noFill/>
          <a:ln/>
        </p:spPr>
        <p:txBody>
          <a:bodyPr wrap="square" lIns="0" tIns="0" rIns="0" bIns="0" rtlCol="0" anchor="t"/>
          <a:lstStyle/>
          <a:p>
            <a:pPr indent="0" marL="0">
              <a:buNone/>
            </a:pPr>
            <a:r>
              <a:rPr lang="ru-RU" sz="1600" b="1" dirty="0">
                <a:solidFill>
                  <a:schemeClr val="tx1"/>
                </a:solidFill>
              </a:rPr>
              <a:t>Крестьянское (фермерское) хозяйство</a:t>
            </a:r>
            <a:endParaRPr lang="ru-RU" sz="1600" dirty="0"/>
          </a:p>
        </p:txBody>
      </p:sp>
      <p:sp>
        <p:nvSpPr>
          <p:cNvPr id="24" name="a_06_sx0"/>
          <p:cNvSpPr txBox="1"/>
          <p:nvPr/>
        </p:nvSpPr>
        <p:spPr>
          <a:xfrm>
            <a:off x="8229600" y="3017520"/>
            <a:ext cx="3200400" cy="594360"/>
          </a:xfrm>
          <a:prstGeom prst="rect">
            <a:avLst/>
          </a:prstGeom>
          <a:noFill/>
          <a:ln/>
        </p:spPr>
        <p:txBody>
          <a:bodyPr wrap="square" lIns="0" tIns="0" rIns="0" bIns="0" rtlCol="0" anchor="t"/>
          <a:lstStyle/>
          <a:p>
            <a:pPr indent="0" marL="0">
              <a:buNone/>
            </a:pPr>
            <a:r>
              <a:rPr lang="ru-RU" sz="1400" dirty="0">
                <a:solidFill>
                  <a:schemeClr val="tx2"/>
                </a:solidFill>
              </a:rPr>
              <a:t>может быть юридическим лицом с 2013 года</a:t>
            </a:r>
            <a:endParaRPr lang="ru-RU" sz="1400" dirty="0"/>
          </a:p>
        </p:txBody>
      </p:sp>
      <p:sp>
        <p:nvSpPr>
          <p:cNvPr id="25" name="a_07_s1"/>
          <p:cNvSpPr/>
          <p:nvPr/>
        </p:nvSpPr>
        <p:spPr>
          <a:xfrm>
            <a:off x="7955280" y="3840480"/>
            <a:ext cx="3657600" cy="2240280"/>
          </a:xfrm>
          <a:prstGeom prst="roundRect">
            <a:avLst>
              <a:gd name="adj" fmla="val 4898"/>
            </a:avLst>
          </a:prstGeom>
          <a:solidFill>
            <a:schemeClr val="bg2"/>
          </a:solidFill>
          <a:ln w="19050">
            <a:solidFill>
              <a:schemeClr val="accent5"/>
            </a:solidFill>
            <a:prstDash val="solid"/>
          </a:ln>
        </p:spPr>
      </p:sp>
      <p:sp>
        <p:nvSpPr>
          <p:cNvPr id="26" name="a_07_sd1_c"/>
          <p:cNvSpPr/>
          <p:nvPr/>
        </p:nvSpPr>
        <p:spPr>
          <a:xfrm>
            <a:off x="8229600" y="4069080"/>
            <a:ext cx="685800" cy="685800"/>
          </a:xfrm>
          <a:prstGeom prst="ellipse">
            <a:avLst/>
          </a:prstGeom>
          <a:solidFill>
            <a:schemeClr val="accent5"/>
          </a:solidFill>
          <a:ln w="12700">
            <a:solidFill>
              <a:schemeClr val="accent5"/>
            </a:solidFill>
            <a:prstDash val="solid"/>
          </a:ln>
        </p:spPr>
      </p:sp>
      <p:pic>
        <p:nvPicPr>
          <p:cNvPr id="27" name="a_07_sd1_i" descr="/tmp/claude-0/-home-user-musor/c6980a0f-2a52-569f-a1fc-691d09a5d10f/scratchpad/biz/icons/file_w.png">    </p:cNvPr>
          <p:cNvPicPr>
            <a:picLocks noChangeAspect="1"/>
          </p:cNvPicPr>
          <p:nvPr/>
        </p:nvPicPr>
        <p:blipFill>
          <a:blip r:embed="rId5"/>
          <a:stretch>
            <a:fillRect/>
          </a:stretch>
        </p:blipFill>
        <p:spPr>
          <a:xfrm>
            <a:off x="8407908" y="4247388"/>
            <a:ext cx="329184" cy="329184"/>
          </a:xfrm>
          <a:prstGeom prst="rect">
            <a:avLst/>
          </a:prstGeom>
        </p:spPr>
      </p:pic>
      <p:sp>
        <p:nvSpPr>
          <p:cNvPr id="28" name="a_07_st1"/>
          <p:cNvSpPr txBox="1"/>
          <p:nvPr/>
        </p:nvSpPr>
        <p:spPr>
          <a:xfrm>
            <a:off x="8229600" y="4800600"/>
            <a:ext cx="3200400" cy="594360"/>
          </a:xfrm>
          <a:prstGeom prst="rect">
            <a:avLst/>
          </a:prstGeom>
          <a:noFill/>
          <a:ln/>
        </p:spPr>
        <p:txBody>
          <a:bodyPr wrap="square" lIns="0" tIns="0" rIns="0" bIns="0" rtlCol="0" anchor="t"/>
          <a:lstStyle/>
          <a:p>
            <a:pPr indent="0" marL="0">
              <a:buNone/>
            </a:pPr>
            <a:r>
              <a:rPr lang="ru-RU" sz="1600" b="1" dirty="0">
                <a:solidFill>
                  <a:schemeClr val="tx1"/>
                </a:solidFill>
              </a:rPr>
              <a:t>Хозяйственное партнёрство</a:t>
            </a:r>
            <a:endParaRPr lang="ru-RU" sz="1600" dirty="0"/>
          </a:p>
        </p:txBody>
      </p:sp>
      <p:sp>
        <p:nvSpPr>
          <p:cNvPr id="29" name="a_07_sx1"/>
          <p:cNvSpPr txBox="1"/>
          <p:nvPr/>
        </p:nvSpPr>
        <p:spPr>
          <a:xfrm>
            <a:off x="8229600" y="5394960"/>
            <a:ext cx="3200400" cy="594360"/>
          </a:xfrm>
          <a:prstGeom prst="rect">
            <a:avLst/>
          </a:prstGeom>
          <a:noFill/>
          <a:ln/>
        </p:spPr>
        <p:txBody>
          <a:bodyPr wrap="square" lIns="0" tIns="0" rIns="0" bIns="0" rtlCol="0" anchor="t"/>
          <a:lstStyle/>
          <a:p>
            <a:pPr indent="0" marL="0">
              <a:buNone/>
            </a:pPr>
            <a:r>
              <a:rPr lang="ru-RU" sz="1400" dirty="0">
                <a:solidFill>
                  <a:schemeClr val="tx2"/>
                </a:solidFill>
              </a:rPr>
              <a:t>с 2012 года, для инновационных проектов; встречается редко</a:t>
            </a:r>
            <a:endParaRPr lang="ru-RU"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ru-RU"/>
              <a:t>6</a:t>
            </a:fld>
            <a:endParaRPr lang="ru-RU"/>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25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00"/>
                                        <p:tgtEl>
                                          <p:spTgt spid="5"/>
                                        </p:tgtEl>
                                      </p:cBhvr>
                                    </p:animEffect>
                                    <p:anim calcmode="lin" valueType="num">
                                      <p:cBhvr>
                                        <p:cTn id="8" dur="600" fill="hold"/>
                                        <p:tgtEl>
                                          <p:spTgt spid="5"/>
                                        </p:tgtEl>
                                        <p:attrNameLst>
                                          <p:attrName>ppt_x</p:attrName>
                                        </p:attrNameLst>
                                      </p:cBhvr>
                                      <p:tavLst>
                                        <p:tav tm="0">
                                          <p:val>
                                            <p:strVal val="#ppt_x"/>
                                          </p:val>
                                        </p:tav>
                                        <p:tav tm="100000">
                                          <p:val>
                                            <p:strVal val="#ppt_x"/>
                                          </p:val>
                                        </p:tav>
                                      </p:tavLst>
                                    </p:anim>
                                    <p:anim calcmode="lin" valueType="num">
                                      <p:cBhvr>
                                        <p:cTn id="9" dur="600" decel="100000" fill="hold"/>
                                        <p:tgtEl>
                                          <p:spTgt spid="5"/>
                                        </p:tgtEl>
                                        <p:attrNameLst>
                                          <p:attrName>ppt_y</p:attrName>
                                        </p:attrNameLst>
                                      </p:cBhvr>
                                      <p:tavLst>
                                        <p:tav tm="0">
                                          <p:val>
                                            <p:strVal val="#ppt_y+.05"/>
                                          </p:val>
                                        </p:tav>
                                        <p:tav tm="100000">
                                          <p:val>
                                            <p:strVal val="#ppt_y"/>
                                          </p:val>
                                        </p:tav>
                                      </p:tavLst>
                                    </p:anim>
                                  </p:childTnLst>
                                </p:cTn>
                              </p:par>
                            </p:childTnLst>
                          </p:cTn>
                        </p:par>
                        <p:par>
                          <p:cTn id="10" fill="hold">
                            <p:stCondLst>
                              <p:cond delay="250"/>
                            </p:stCondLst>
                            <p:childTnLst>
                              <p:par>
                                <p:cTn id="11" presetID="42"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600"/>
                                        <p:tgtEl>
                                          <p:spTgt spid="6"/>
                                        </p:tgtEl>
                                      </p:cBhvr>
                                    </p:animEffect>
                                    <p:anim calcmode="lin" valueType="num">
                                      <p:cBhvr>
                                        <p:cTn id="14" dur="600" fill="hold"/>
                                        <p:tgtEl>
                                          <p:spTgt spid="6"/>
                                        </p:tgtEl>
                                        <p:attrNameLst>
                                          <p:attrName>ppt_x</p:attrName>
                                        </p:attrNameLst>
                                      </p:cBhvr>
                                      <p:tavLst>
                                        <p:tav tm="0">
                                          <p:val>
                                            <p:strVal val="#ppt_x"/>
                                          </p:val>
                                        </p:tav>
                                        <p:tav tm="100000">
                                          <p:val>
                                            <p:strVal val="#ppt_x"/>
                                          </p:val>
                                        </p:tav>
                                      </p:tavLst>
                                    </p:anim>
                                    <p:anim calcmode="lin" valueType="num">
                                      <p:cBhvr>
                                        <p:cTn id="15" dur="600" decel="100000" fill="hold"/>
                                        <p:tgtEl>
                                          <p:spTgt spid="6"/>
                                        </p:tgtEl>
                                        <p:attrNameLst>
                                          <p:attrName>ppt_y</p:attrName>
                                        </p:attrNameLst>
                                      </p:cBhvr>
                                      <p:tavLst>
                                        <p:tav tm="0">
                                          <p:val>
                                            <p:strVal val="#ppt_y+.05"/>
                                          </p:val>
                                        </p:tav>
                                        <p:tav tm="100000">
                                          <p:val>
                                            <p:strVal val="#ppt_y"/>
                                          </p:val>
                                        </p:tav>
                                      </p:tavLst>
                                    </p:anim>
                                  </p:childTnLst>
                                </p:cTn>
                              </p:par>
                            </p:childTnLst>
                          </p:cTn>
                        </p:par>
                        <p:par>
                          <p:cTn id="16" fill="hold">
                            <p:stCondLst>
                              <p:cond delay="700"/>
                            </p:stCondLst>
                            <p:childTnLst>
                              <p:par>
                                <p:cTn id="17" presetID="42"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600"/>
                                        <p:tgtEl>
                                          <p:spTgt spid="7"/>
                                        </p:tgtEl>
                                      </p:cBhvr>
                                    </p:animEffect>
                                    <p:anim calcmode="lin" valueType="num">
                                      <p:cBhvr>
                                        <p:cTn id="20" dur="600" fill="hold"/>
                                        <p:tgtEl>
                                          <p:spTgt spid="7"/>
                                        </p:tgtEl>
                                        <p:attrNameLst>
                                          <p:attrName>ppt_x</p:attrName>
                                        </p:attrNameLst>
                                      </p:cBhvr>
                                      <p:tavLst>
                                        <p:tav tm="0">
                                          <p:val>
                                            <p:strVal val="#ppt_x"/>
                                          </p:val>
                                        </p:tav>
                                        <p:tav tm="100000">
                                          <p:val>
                                            <p:strVal val="#ppt_x"/>
                                          </p:val>
                                        </p:tav>
                                      </p:tavLst>
                                    </p:anim>
                                    <p:anim calcmode="lin" valueType="num">
                                      <p:cBhvr>
                                        <p:cTn id="21" dur="600" decel="100000" fill="hold"/>
                                        <p:tgtEl>
                                          <p:spTgt spid="7"/>
                                        </p:tgtEl>
                                        <p:attrNameLst>
                                          <p:attrName>ppt_y</p:attrName>
                                        </p:attrNameLst>
                                      </p:cBhvr>
                                      <p:tavLst>
                                        <p:tav tm="0">
                                          <p:val>
                                            <p:strVal val="#ppt_y+.05"/>
                                          </p:val>
                                        </p:tav>
                                        <p:tav tm="100000">
                                          <p:val>
                                            <p:strVal val="#ppt_y"/>
                                          </p:val>
                                        </p:tav>
                                      </p:tavLst>
                                    </p:anim>
                                  </p:childTnLst>
                                </p:cTn>
                              </p:par>
                            </p:childTnLst>
                          </p:cTn>
                        </p:par>
                        <p:par>
                          <p:cTn id="22" fill="hold">
                            <p:stCondLst>
                              <p:cond delay="700"/>
                            </p:stCondLst>
                            <p:childTnLst>
                              <p:par>
                                <p:cTn id="23" presetID="42" presetClass="entr" presetSubtype="0"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600"/>
                                        <p:tgtEl>
                                          <p:spTgt spid="8"/>
                                        </p:tgtEl>
                                      </p:cBhvr>
                                    </p:animEffect>
                                    <p:anim calcmode="lin" valueType="num">
                                      <p:cBhvr>
                                        <p:cTn id="26" dur="600" fill="hold"/>
                                        <p:tgtEl>
                                          <p:spTgt spid="8"/>
                                        </p:tgtEl>
                                        <p:attrNameLst>
                                          <p:attrName>ppt_x</p:attrName>
                                        </p:attrNameLst>
                                      </p:cBhvr>
                                      <p:tavLst>
                                        <p:tav tm="0">
                                          <p:val>
                                            <p:strVal val="#ppt_x"/>
                                          </p:val>
                                        </p:tav>
                                        <p:tav tm="100000">
                                          <p:val>
                                            <p:strVal val="#ppt_x"/>
                                          </p:val>
                                        </p:tav>
                                      </p:tavLst>
                                    </p:anim>
                                    <p:anim calcmode="lin" valueType="num">
                                      <p:cBhvr>
                                        <p:cTn id="27" dur="600" decel="100000" fill="hold"/>
                                        <p:tgtEl>
                                          <p:spTgt spid="8"/>
                                        </p:tgtEl>
                                        <p:attrNameLst>
                                          <p:attrName>ppt_y</p:attrName>
                                        </p:attrNameLst>
                                      </p:cBhvr>
                                      <p:tavLst>
                                        <p:tav tm="0">
                                          <p:val>
                                            <p:strVal val="#ppt_y+.05"/>
                                          </p:val>
                                        </p:tav>
                                        <p:tav tm="100000">
                                          <p:val>
                                            <p:strVal val="#ppt_y"/>
                                          </p:val>
                                        </p:tav>
                                      </p:tavLst>
                                    </p:anim>
                                  </p:childTnLst>
                                </p:cTn>
                              </p:par>
                            </p:childTnLst>
                          </p:cTn>
                        </p:par>
                        <p:par>
                          <p:cTn id="28" fill="hold">
                            <p:stCondLst>
                              <p:cond delay="700"/>
                            </p:stCondLst>
                            <p:childTnLst>
                              <p:par>
                                <p:cTn id="29" presetID="42" presetClass="entr" presetSubtype="0" fill="hold" grpId="0" nodeType="with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fade">
                                      <p:cBhvr>
                                        <p:cTn id="31" dur="600"/>
                                        <p:tgtEl>
                                          <p:spTgt spid="9"/>
                                        </p:tgtEl>
                                      </p:cBhvr>
                                    </p:animEffect>
                                    <p:anim calcmode="lin" valueType="num">
                                      <p:cBhvr>
                                        <p:cTn id="32" dur="600" fill="hold"/>
                                        <p:tgtEl>
                                          <p:spTgt spid="9"/>
                                        </p:tgtEl>
                                        <p:attrNameLst>
                                          <p:attrName>ppt_x</p:attrName>
                                        </p:attrNameLst>
                                      </p:cBhvr>
                                      <p:tavLst>
                                        <p:tav tm="0">
                                          <p:val>
                                            <p:strVal val="#ppt_x"/>
                                          </p:val>
                                        </p:tav>
                                        <p:tav tm="100000">
                                          <p:val>
                                            <p:strVal val="#ppt_x"/>
                                          </p:val>
                                        </p:tav>
                                      </p:tavLst>
                                    </p:anim>
                                    <p:anim calcmode="lin" valueType="num">
                                      <p:cBhvr>
                                        <p:cTn id="33" dur="600" decel="100000" fill="hold"/>
                                        <p:tgtEl>
                                          <p:spTgt spid="9"/>
                                        </p:tgtEl>
                                        <p:attrNameLst>
                                          <p:attrName>ppt_y</p:attrName>
                                        </p:attrNameLst>
                                      </p:cBhvr>
                                      <p:tavLst>
                                        <p:tav tm="0">
                                          <p:val>
                                            <p:strVal val="#ppt_y+.05"/>
                                          </p:val>
                                        </p:tav>
                                        <p:tav tm="100000">
                                          <p:val>
                                            <p:strVal val="#ppt_y"/>
                                          </p:val>
                                        </p:tav>
                                      </p:tavLst>
                                    </p:anim>
                                  </p:childTnLst>
                                </p:cTn>
                              </p:par>
                            </p:childTnLst>
                          </p:cTn>
                        </p:par>
                        <p:par>
                          <p:cTn id="34" fill="hold">
                            <p:stCondLst>
                              <p:cond delay="700"/>
                            </p:stCondLst>
                            <p:childTnLst>
                              <p:par>
                                <p:cTn id="35" presetID="42" presetClass="entr" presetSubtype="0" fill="hold" grpId="0" nodeType="with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600"/>
                                        <p:tgtEl>
                                          <p:spTgt spid="10"/>
                                        </p:tgtEl>
                                      </p:cBhvr>
                                    </p:animEffect>
                                    <p:anim calcmode="lin" valueType="num">
                                      <p:cBhvr>
                                        <p:cTn id="38" dur="600" fill="hold"/>
                                        <p:tgtEl>
                                          <p:spTgt spid="10"/>
                                        </p:tgtEl>
                                        <p:attrNameLst>
                                          <p:attrName>ppt_x</p:attrName>
                                        </p:attrNameLst>
                                      </p:cBhvr>
                                      <p:tavLst>
                                        <p:tav tm="0">
                                          <p:val>
                                            <p:strVal val="#ppt_x"/>
                                          </p:val>
                                        </p:tav>
                                        <p:tav tm="100000">
                                          <p:val>
                                            <p:strVal val="#ppt_x"/>
                                          </p:val>
                                        </p:tav>
                                      </p:tavLst>
                                    </p:anim>
                                    <p:anim calcmode="lin" valueType="num">
                                      <p:cBhvr>
                                        <p:cTn id="39" dur="600" decel="100000" fill="hold"/>
                                        <p:tgtEl>
                                          <p:spTgt spid="10"/>
                                        </p:tgtEl>
                                        <p:attrNameLst>
                                          <p:attrName>ppt_y</p:attrName>
                                        </p:attrNameLst>
                                      </p:cBhvr>
                                      <p:tavLst>
                                        <p:tav tm="0">
                                          <p:val>
                                            <p:strVal val="#ppt_y+.05"/>
                                          </p:val>
                                        </p:tav>
                                        <p:tav tm="100000">
                                          <p:val>
                                            <p:strVal val="#ppt_y"/>
                                          </p:val>
                                        </p:tav>
                                      </p:tavLst>
                                    </p:anim>
                                  </p:childTnLst>
                                </p:cTn>
                              </p:par>
                            </p:childTnLst>
                          </p:cTn>
                        </p:par>
                        <p:par>
                          <p:cTn id="40" fill="hold">
                            <p:stCondLst>
                              <p:cond delay="1150"/>
                            </p:stCondLst>
                            <p:childTnLst>
                              <p:par>
                                <p:cTn id="41" presetID="42" presetClass="entr" presetSubtype="0" fill="hold" grpId="0" nodeType="withEffect">
                                  <p:stCondLst>
                                    <p:cond delay="0"/>
                                  </p:stCondLst>
                                  <p:childTnLst>
                                    <p:set>
                                      <p:cBhvr>
                                        <p:cTn id="42" dur="1" fill="hold">
                                          <p:stCondLst>
                                            <p:cond delay="0"/>
                                          </p:stCondLst>
                                        </p:cTn>
                                        <p:tgtEl>
                                          <p:spTgt spid="11"/>
                                        </p:tgtEl>
                                        <p:attrNameLst>
                                          <p:attrName>style.visibility</p:attrName>
                                        </p:attrNameLst>
                                      </p:cBhvr>
                                      <p:to>
                                        <p:strVal val="visible"/>
                                      </p:to>
                                    </p:set>
                                    <p:animEffect transition="in" filter="fade">
                                      <p:cBhvr>
                                        <p:cTn id="43" dur="600"/>
                                        <p:tgtEl>
                                          <p:spTgt spid="11"/>
                                        </p:tgtEl>
                                      </p:cBhvr>
                                    </p:animEffect>
                                    <p:anim calcmode="lin" valueType="num">
                                      <p:cBhvr>
                                        <p:cTn id="44" dur="600" fill="hold"/>
                                        <p:tgtEl>
                                          <p:spTgt spid="11"/>
                                        </p:tgtEl>
                                        <p:attrNameLst>
                                          <p:attrName>ppt_x</p:attrName>
                                        </p:attrNameLst>
                                      </p:cBhvr>
                                      <p:tavLst>
                                        <p:tav tm="0">
                                          <p:val>
                                            <p:strVal val="#ppt_x"/>
                                          </p:val>
                                        </p:tav>
                                        <p:tav tm="100000">
                                          <p:val>
                                            <p:strVal val="#ppt_x"/>
                                          </p:val>
                                        </p:tav>
                                      </p:tavLst>
                                    </p:anim>
                                    <p:anim calcmode="lin" valueType="num">
                                      <p:cBhvr>
                                        <p:cTn id="45" dur="600" decel="100000" fill="hold"/>
                                        <p:tgtEl>
                                          <p:spTgt spid="11"/>
                                        </p:tgtEl>
                                        <p:attrNameLst>
                                          <p:attrName>ppt_y</p:attrName>
                                        </p:attrNameLst>
                                      </p:cBhvr>
                                      <p:tavLst>
                                        <p:tav tm="0">
                                          <p:val>
                                            <p:strVal val="#ppt_y+.05"/>
                                          </p:val>
                                        </p:tav>
                                        <p:tav tm="100000">
                                          <p:val>
                                            <p:strVal val="#ppt_y"/>
                                          </p:val>
                                        </p:tav>
                                      </p:tavLst>
                                    </p:anim>
                                  </p:childTnLst>
                                </p:cTn>
                              </p:par>
                            </p:childTnLst>
                          </p:cTn>
                        </p:par>
                        <p:par>
                          <p:cTn id="46" fill="hold">
                            <p:stCondLst>
                              <p:cond delay="1150"/>
                            </p:stCondLst>
                            <p:childTnLst>
                              <p:par>
                                <p:cTn id="47" presetID="42" presetClass="entr" presetSubtype="0" fill="hold" grpId="0" nodeType="withEffect">
                                  <p:stCondLst>
                                    <p:cond delay="0"/>
                                  </p:stCondLst>
                                  <p:childTnLst>
                                    <p:set>
                                      <p:cBhvr>
                                        <p:cTn id="48" dur="1" fill="hold">
                                          <p:stCondLst>
                                            <p:cond delay="0"/>
                                          </p:stCondLst>
                                        </p:cTn>
                                        <p:tgtEl>
                                          <p:spTgt spid="12"/>
                                        </p:tgtEl>
                                        <p:attrNameLst>
                                          <p:attrName>style.visibility</p:attrName>
                                        </p:attrNameLst>
                                      </p:cBhvr>
                                      <p:to>
                                        <p:strVal val="visible"/>
                                      </p:to>
                                    </p:set>
                                    <p:animEffect transition="in" filter="fade">
                                      <p:cBhvr>
                                        <p:cTn id="49" dur="600"/>
                                        <p:tgtEl>
                                          <p:spTgt spid="12"/>
                                        </p:tgtEl>
                                      </p:cBhvr>
                                    </p:animEffect>
                                    <p:anim calcmode="lin" valueType="num">
                                      <p:cBhvr>
                                        <p:cTn id="50" dur="600" fill="hold"/>
                                        <p:tgtEl>
                                          <p:spTgt spid="12"/>
                                        </p:tgtEl>
                                        <p:attrNameLst>
                                          <p:attrName>ppt_x</p:attrName>
                                        </p:attrNameLst>
                                      </p:cBhvr>
                                      <p:tavLst>
                                        <p:tav tm="0">
                                          <p:val>
                                            <p:strVal val="#ppt_x"/>
                                          </p:val>
                                        </p:tav>
                                        <p:tav tm="100000">
                                          <p:val>
                                            <p:strVal val="#ppt_x"/>
                                          </p:val>
                                        </p:tav>
                                      </p:tavLst>
                                    </p:anim>
                                    <p:anim calcmode="lin" valueType="num">
                                      <p:cBhvr>
                                        <p:cTn id="51" dur="600" decel="100000" fill="hold"/>
                                        <p:tgtEl>
                                          <p:spTgt spid="12"/>
                                        </p:tgtEl>
                                        <p:attrNameLst>
                                          <p:attrName>ppt_y</p:attrName>
                                        </p:attrNameLst>
                                      </p:cBhvr>
                                      <p:tavLst>
                                        <p:tav tm="0">
                                          <p:val>
                                            <p:strVal val="#ppt_y+.05"/>
                                          </p:val>
                                        </p:tav>
                                        <p:tav tm="100000">
                                          <p:val>
                                            <p:strVal val="#ppt_y"/>
                                          </p:val>
                                        </p:tav>
                                      </p:tavLst>
                                    </p:anim>
                                  </p:childTnLst>
                                </p:cTn>
                              </p:par>
                            </p:childTnLst>
                          </p:cTn>
                        </p:par>
                        <p:par>
                          <p:cTn id="52" fill="hold">
                            <p:stCondLst>
                              <p:cond delay="1150"/>
                            </p:stCondLst>
                            <p:childTnLst>
                              <p:par>
                                <p:cTn id="53" presetID="42" presetClass="entr" presetSubtype="0" fill="hold" grpId="0" nodeType="withEffect">
                                  <p:stCondLst>
                                    <p:cond delay="0"/>
                                  </p:stCondLst>
                                  <p:childTnLst>
                                    <p:set>
                                      <p:cBhvr>
                                        <p:cTn id="54" dur="1" fill="hold">
                                          <p:stCondLst>
                                            <p:cond delay="0"/>
                                          </p:stCondLst>
                                        </p:cTn>
                                        <p:tgtEl>
                                          <p:spTgt spid="13"/>
                                        </p:tgtEl>
                                        <p:attrNameLst>
                                          <p:attrName>style.visibility</p:attrName>
                                        </p:attrNameLst>
                                      </p:cBhvr>
                                      <p:to>
                                        <p:strVal val="visible"/>
                                      </p:to>
                                    </p:set>
                                    <p:animEffect transition="in" filter="fade">
                                      <p:cBhvr>
                                        <p:cTn id="55" dur="600"/>
                                        <p:tgtEl>
                                          <p:spTgt spid="13"/>
                                        </p:tgtEl>
                                      </p:cBhvr>
                                    </p:animEffect>
                                    <p:anim calcmode="lin" valueType="num">
                                      <p:cBhvr>
                                        <p:cTn id="56" dur="600" fill="hold"/>
                                        <p:tgtEl>
                                          <p:spTgt spid="13"/>
                                        </p:tgtEl>
                                        <p:attrNameLst>
                                          <p:attrName>ppt_x</p:attrName>
                                        </p:attrNameLst>
                                      </p:cBhvr>
                                      <p:tavLst>
                                        <p:tav tm="0">
                                          <p:val>
                                            <p:strVal val="#ppt_x"/>
                                          </p:val>
                                        </p:tav>
                                        <p:tav tm="100000">
                                          <p:val>
                                            <p:strVal val="#ppt_x"/>
                                          </p:val>
                                        </p:tav>
                                      </p:tavLst>
                                    </p:anim>
                                    <p:anim calcmode="lin" valueType="num">
                                      <p:cBhvr>
                                        <p:cTn id="57" dur="600" decel="100000" fill="hold"/>
                                        <p:tgtEl>
                                          <p:spTgt spid="13"/>
                                        </p:tgtEl>
                                        <p:attrNameLst>
                                          <p:attrName>ppt_y</p:attrName>
                                        </p:attrNameLst>
                                      </p:cBhvr>
                                      <p:tavLst>
                                        <p:tav tm="0">
                                          <p:val>
                                            <p:strVal val="#ppt_y+.05"/>
                                          </p:val>
                                        </p:tav>
                                        <p:tav tm="100000">
                                          <p:val>
                                            <p:strVal val="#ppt_y"/>
                                          </p:val>
                                        </p:tav>
                                      </p:tavLst>
                                    </p:anim>
                                  </p:childTnLst>
                                </p:cTn>
                              </p:par>
                            </p:childTnLst>
                          </p:cTn>
                        </p:par>
                        <p:par>
                          <p:cTn id="58" fill="hold">
                            <p:stCondLst>
                              <p:cond delay="1150"/>
                            </p:stCondLst>
                            <p:childTnLst>
                              <p:par>
                                <p:cTn id="59" presetID="42" presetClass="entr" presetSubtype="0" fill="hold" grpId="0" nodeType="withEffect">
                                  <p:stCondLst>
                                    <p:cond delay="0"/>
                                  </p:stCondLst>
                                  <p:childTnLst>
                                    <p:set>
                                      <p:cBhvr>
                                        <p:cTn id="60" dur="1" fill="hold">
                                          <p:stCondLst>
                                            <p:cond delay="0"/>
                                          </p:stCondLst>
                                        </p:cTn>
                                        <p:tgtEl>
                                          <p:spTgt spid="14"/>
                                        </p:tgtEl>
                                        <p:attrNameLst>
                                          <p:attrName>style.visibility</p:attrName>
                                        </p:attrNameLst>
                                      </p:cBhvr>
                                      <p:to>
                                        <p:strVal val="visible"/>
                                      </p:to>
                                    </p:set>
                                    <p:animEffect transition="in" filter="fade">
                                      <p:cBhvr>
                                        <p:cTn id="61" dur="600"/>
                                        <p:tgtEl>
                                          <p:spTgt spid="14"/>
                                        </p:tgtEl>
                                      </p:cBhvr>
                                    </p:animEffect>
                                    <p:anim calcmode="lin" valueType="num">
                                      <p:cBhvr>
                                        <p:cTn id="62" dur="600" fill="hold"/>
                                        <p:tgtEl>
                                          <p:spTgt spid="14"/>
                                        </p:tgtEl>
                                        <p:attrNameLst>
                                          <p:attrName>ppt_x</p:attrName>
                                        </p:attrNameLst>
                                      </p:cBhvr>
                                      <p:tavLst>
                                        <p:tav tm="0">
                                          <p:val>
                                            <p:strVal val="#ppt_x"/>
                                          </p:val>
                                        </p:tav>
                                        <p:tav tm="100000">
                                          <p:val>
                                            <p:strVal val="#ppt_x"/>
                                          </p:val>
                                        </p:tav>
                                      </p:tavLst>
                                    </p:anim>
                                    <p:anim calcmode="lin" valueType="num">
                                      <p:cBhvr>
                                        <p:cTn id="63" dur="600" decel="100000" fill="hold"/>
                                        <p:tgtEl>
                                          <p:spTgt spid="14"/>
                                        </p:tgtEl>
                                        <p:attrNameLst>
                                          <p:attrName>ppt_y</p:attrName>
                                        </p:attrNameLst>
                                      </p:cBhvr>
                                      <p:tavLst>
                                        <p:tav tm="0">
                                          <p:val>
                                            <p:strVal val="#ppt_y+.05"/>
                                          </p:val>
                                        </p:tav>
                                        <p:tav tm="100000">
                                          <p:val>
                                            <p:strVal val="#ppt_y"/>
                                          </p:val>
                                        </p:tav>
                                      </p:tavLst>
                                    </p:anim>
                                  </p:childTnLst>
                                </p:cTn>
                              </p:par>
                            </p:childTnLst>
                          </p:cTn>
                        </p:par>
                        <p:par>
                          <p:cTn id="64" fill="hold">
                            <p:stCondLst>
                              <p:cond delay="1600"/>
                            </p:stCondLst>
                            <p:childTnLst>
                              <p:par>
                                <p:cTn id="65" presetID="42" presetClass="entr" presetSubtype="0" fill="hold" grpId="0" nodeType="withEffect">
                                  <p:stCondLst>
                                    <p:cond delay="0"/>
                                  </p:stCondLst>
                                  <p:childTnLst>
                                    <p:set>
                                      <p:cBhvr>
                                        <p:cTn id="66" dur="1" fill="hold">
                                          <p:stCondLst>
                                            <p:cond delay="0"/>
                                          </p:stCondLst>
                                        </p:cTn>
                                        <p:tgtEl>
                                          <p:spTgt spid="15"/>
                                        </p:tgtEl>
                                        <p:attrNameLst>
                                          <p:attrName>style.visibility</p:attrName>
                                        </p:attrNameLst>
                                      </p:cBhvr>
                                      <p:to>
                                        <p:strVal val="visible"/>
                                      </p:to>
                                    </p:set>
                                    <p:animEffect transition="in" filter="fade">
                                      <p:cBhvr>
                                        <p:cTn id="67" dur="600"/>
                                        <p:tgtEl>
                                          <p:spTgt spid="15"/>
                                        </p:tgtEl>
                                      </p:cBhvr>
                                    </p:animEffect>
                                    <p:anim calcmode="lin" valueType="num">
                                      <p:cBhvr>
                                        <p:cTn id="68" dur="600" fill="hold"/>
                                        <p:tgtEl>
                                          <p:spTgt spid="15"/>
                                        </p:tgtEl>
                                        <p:attrNameLst>
                                          <p:attrName>ppt_x</p:attrName>
                                        </p:attrNameLst>
                                      </p:cBhvr>
                                      <p:tavLst>
                                        <p:tav tm="0">
                                          <p:val>
                                            <p:strVal val="#ppt_x"/>
                                          </p:val>
                                        </p:tav>
                                        <p:tav tm="100000">
                                          <p:val>
                                            <p:strVal val="#ppt_x"/>
                                          </p:val>
                                        </p:tav>
                                      </p:tavLst>
                                    </p:anim>
                                    <p:anim calcmode="lin" valueType="num">
                                      <p:cBhvr>
                                        <p:cTn id="69" dur="600" decel="100000" fill="hold"/>
                                        <p:tgtEl>
                                          <p:spTgt spid="15"/>
                                        </p:tgtEl>
                                        <p:attrNameLst>
                                          <p:attrName>ppt_y</p:attrName>
                                        </p:attrNameLst>
                                      </p:cBhvr>
                                      <p:tavLst>
                                        <p:tav tm="0">
                                          <p:val>
                                            <p:strVal val="#ppt_y+.05"/>
                                          </p:val>
                                        </p:tav>
                                        <p:tav tm="100000">
                                          <p:val>
                                            <p:strVal val="#ppt_y"/>
                                          </p:val>
                                        </p:tav>
                                      </p:tavLst>
                                    </p:anim>
                                  </p:childTnLst>
                                </p:cTn>
                              </p:par>
                            </p:childTnLst>
                          </p:cTn>
                        </p:par>
                        <p:par>
                          <p:cTn id="70" fill="hold">
                            <p:stCondLst>
                              <p:cond delay="1600"/>
                            </p:stCondLst>
                            <p:childTnLst>
                              <p:par>
                                <p:cTn id="71" presetID="42" presetClass="entr" presetSubtype="0" fill="hold" grpId="0" nodeType="withEffect">
                                  <p:stCondLst>
                                    <p:cond delay="0"/>
                                  </p:stCondLst>
                                  <p:childTnLst>
                                    <p:set>
                                      <p:cBhvr>
                                        <p:cTn id="72" dur="1" fill="hold">
                                          <p:stCondLst>
                                            <p:cond delay="0"/>
                                          </p:stCondLst>
                                        </p:cTn>
                                        <p:tgtEl>
                                          <p:spTgt spid="16"/>
                                        </p:tgtEl>
                                        <p:attrNameLst>
                                          <p:attrName>style.visibility</p:attrName>
                                        </p:attrNameLst>
                                      </p:cBhvr>
                                      <p:to>
                                        <p:strVal val="visible"/>
                                      </p:to>
                                    </p:set>
                                    <p:animEffect transition="in" filter="fade">
                                      <p:cBhvr>
                                        <p:cTn id="73" dur="600"/>
                                        <p:tgtEl>
                                          <p:spTgt spid="16"/>
                                        </p:tgtEl>
                                      </p:cBhvr>
                                    </p:animEffect>
                                    <p:anim calcmode="lin" valueType="num">
                                      <p:cBhvr>
                                        <p:cTn id="74" dur="600" fill="hold"/>
                                        <p:tgtEl>
                                          <p:spTgt spid="16"/>
                                        </p:tgtEl>
                                        <p:attrNameLst>
                                          <p:attrName>ppt_x</p:attrName>
                                        </p:attrNameLst>
                                      </p:cBhvr>
                                      <p:tavLst>
                                        <p:tav tm="0">
                                          <p:val>
                                            <p:strVal val="#ppt_x"/>
                                          </p:val>
                                        </p:tav>
                                        <p:tav tm="100000">
                                          <p:val>
                                            <p:strVal val="#ppt_x"/>
                                          </p:val>
                                        </p:tav>
                                      </p:tavLst>
                                    </p:anim>
                                    <p:anim calcmode="lin" valueType="num">
                                      <p:cBhvr>
                                        <p:cTn id="75" dur="600" decel="100000" fill="hold"/>
                                        <p:tgtEl>
                                          <p:spTgt spid="16"/>
                                        </p:tgtEl>
                                        <p:attrNameLst>
                                          <p:attrName>ppt_y</p:attrName>
                                        </p:attrNameLst>
                                      </p:cBhvr>
                                      <p:tavLst>
                                        <p:tav tm="0">
                                          <p:val>
                                            <p:strVal val="#ppt_y+.05"/>
                                          </p:val>
                                        </p:tav>
                                        <p:tav tm="100000">
                                          <p:val>
                                            <p:strVal val="#ppt_y"/>
                                          </p:val>
                                        </p:tav>
                                      </p:tavLst>
                                    </p:anim>
                                  </p:childTnLst>
                                </p:cTn>
                              </p:par>
                            </p:childTnLst>
                          </p:cTn>
                        </p:par>
                        <p:par>
                          <p:cTn id="76" fill="hold">
                            <p:stCondLst>
                              <p:cond delay="1600"/>
                            </p:stCondLst>
                            <p:childTnLst>
                              <p:par>
                                <p:cTn id="77" presetID="42" presetClass="entr" presetSubtype="0" fill="hold" grpId="0" nodeType="withEffect">
                                  <p:stCondLst>
                                    <p:cond delay="0"/>
                                  </p:stCondLst>
                                  <p:childTnLst>
                                    <p:set>
                                      <p:cBhvr>
                                        <p:cTn id="78" dur="1" fill="hold">
                                          <p:stCondLst>
                                            <p:cond delay="0"/>
                                          </p:stCondLst>
                                        </p:cTn>
                                        <p:tgtEl>
                                          <p:spTgt spid="17"/>
                                        </p:tgtEl>
                                        <p:attrNameLst>
                                          <p:attrName>style.visibility</p:attrName>
                                        </p:attrNameLst>
                                      </p:cBhvr>
                                      <p:to>
                                        <p:strVal val="visible"/>
                                      </p:to>
                                    </p:set>
                                    <p:animEffect transition="in" filter="fade">
                                      <p:cBhvr>
                                        <p:cTn id="79" dur="600"/>
                                        <p:tgtEl>
                                          <p:spTgt spid="17"/>
                                        </p:tgtEl>
                                      </p:cBhvr>
                                    </p:animEffect>
                                    <p:anim calcmode="lin" valueType="num">
                                      <p:cBhvr>
                                        <p:cTn id="80" dur="600" fill="hold"/>
                                        <p:tgtEl>
                                          <p:spTgt spid="17"/>
                                        </p:tgtEl>
                                        <p:attrNameLst>
                                          <p:attrName>ppt_x</p:attrName>
                                        </p:attrNameLst>
                                      </p:cBhvr>
                                      <p:tavLst>
                                        <p:tav tm="0">
                                          <p:val>
                                            <p:strVal val="#ppt_x"/>
                                          </p:val>
                                        </p:tav>
                                        <p:tav tm="100000">
                                          <p:val>
                                            <p:strVal val="#ppt_x"/>
                                          </p:val>
                                        </p:tav>
                                      </p:tavLst>
                                    </p:anim>
                                    <p:anim calcmode="lin" valueType="num">
                                      <p:cBhvr>
                                        <p:cTn id="81" dur="600" decel="100000" fill="hold"/>
                                        <p:tgtEl>
                                          <p:spTgt spid="17"/>
                                        </p:tgtEl>
                                        <p:attrNameLst>
                                          <p:attrName>ppt_y</p:attrName>
                                        </p:attrNameLst>
                                      </p:cBhvr>
                                      <p:tavLst>
                                        <p:tav tm="0">
                                          <p:val>
                                            <p:strVal val="#ppt_y+.05"/>
                                          </p:val>
                                        </p:tav>
                                        <p:tav tm="100000">
                                          <p:val>
                                            <p:strVal val="#ppt_y"/>
                                          </p:val>
                                        </p:tav>
                                      </p:tavLst>
                                    </p:anim>
                                  </p:childTnLst>
                                </p:cTn>
                              </p:par>
                            </p:childTnLst>
                          </p:cTn>
                        </p:par>
                        <p:par>
                          <p:cTn id="82" fill="hold">
                            <p:stCondLst>
                              <p:cond delay="1600"/>
                            </p:stCondLst>
                            <p:childTnLst>
                              <p:par>
                                <p:cTn id="83" presetID="42" presetClass="entr" presetSubtype="0" fill="hold" grpId="0" nodeType="withEffect">
                                  <p:stCondLst>
                                    <p:cond delay="0"/>
                                  </p:stCondLst>
                                  <p:childTnLst>
                                    <p:set>
                                      <p:cBhvr>
                                        <p:cTn id="84" dur="1" fill="hold">
                                          <p:stCondLst>
                                            <p:cond delay="0"/>
                                          </p:stCondLst>
                                        </p:cTn>
                                        <p:tgtEl>
                                          <p:spTgt spid="18"/>
                                        </p:tgtEl>
                                        <p:attrNameLst>
                                          <p:attrName>style.visibility</p:attrName>
                                        </p:attrNameLst>
                                      </p:cBhvr>
                                      <p:to>
                                        <p:strVal val="visible"/>
                                      </p:to>
                                    </p:set>
                                    <p:animEffect transition="in" filter="fade">
                                      <p:cBhvr>
                                        <p:cTn id="85" dur="600"/>
                                        <p:tgtEl>
                                          <p:spTgt spid="18"/>
                                        </p:tgtEl>
                                      </p:cBhvr>
                                    </p:animEffect>
                                    <p:anim calcmode="lin" valueType="num">
                                      <p:cBhvr>
                                        <p:cTn id="86" dur="600" fill="hold"/>
                                        <p:tgtEl>
                                          <p:spTgt spid="18"/>
                                        </p:tgtEl>
                                        <p:attrNameLst>
                                          <p:attrName>ppt_x</p:attrName>
                                        </p:attrNameLst>
                                      </p:cBhvr>
                                      <p:tavLst>
                                        <p:tav tm="0">
                                          <p:val>
                                            <p:strVal val="#ppt_x"/>
                                          </p:val>
                                        </p:tav>
                                        <p:tav tm="100000">
                                          <p:val>
                                            <p:strVal val="#ppt_x"/>
                                          </p:val>
                                        </p:tav>
                                      </p:tavLst>
                                    </p:anim>
                                    <p:anim calcmode="lin" valueType="num">
                                      <p:cBhvr>
                                        <p:cTn id="87" dur="600" decel="100000" fill="hold"/>
                                        <p:tgtEl>
                                          <p:spTgt spid="18"/>
                                        </p:tgtEl>
                                        <p:attrNameLst>
                                          <p:attrName>ppt_y</p:attrName>
                                        </p:attrNameLst>
                                      </p:cBhvr>
                                      <p:tavLst>
                                        <p:tav tm="0">
                                          <p:val>
                                            <p:strVal val="#ppt_y+.05"/>
                                          </p:val>
                                        </p:tav>
                                        <p:tav tm="100000">
                                          <p:val>
                                            <p:strVal val="#ppt_y"/>
                                          </p:val>
                                        </p:tav>
                                      </p:tavLst>
                                    </p:anim>
                                  </p:childTnLst>
                                </p:cTn>
                              </p:par>
                            </p:childTnLst>
                          </p:cTn>
                        </p:par>
                        <p:par>
                          <p:cTn id="88" fill="hold">
                            <p:stCondLst>
                              <p:cond delay="2050"/>
                            </p:stCondLst>
                            <p:childTnLst>
                              <p:par>
                                <p:cTn id="89" presetID="42" presetClass="entr" presetSubtype="0" fill="hold" grpId="0" nodeType="withEffect">
                                  <p:stCondLst>
                                    <p:cond delay="0"/>
                                  </p:stCondLst>
                                  <p:childTnLst>
                                    <p:set>
                                      <p:cBhvr>
                                        <p:cTn id="90" dur="1" fill="hold">
                                          <p:stCondLst>
                                            <p:cond delay="0"/>
                                          </p:stCondLst>
                                        </p:cTn>
                                        <p:tgtEl>
                                          <p:spTgt spid="19"/>
                                        </p:tgtEl>
                                        <p:attrNameLst>
                                          <p:attrName>style.visibility</p:attrName>
                                        </p:attrNameLst>
                                      </p:cBhvr>
                                      <p:to>
                                        <p:strVal val="visible"/>
                                      </p:to>
                                    </p:set>
                                    <p:animEffect transition="in" filter="fade">
                                      <p:cBhvr>
                                        <p:cTn id="91" dur="600"/>
                                        <p:tgtEl>
                                          <p:spTgt spid="19"/>
                                        </p:tgtEl>
                                      </p:cBhvr>
                                    </p:animEffect>
                                    <p:anim calcmode="lin" valueType="num">
                                      <p:cBhvr>
                                        <p:cTn id="92" dur="600" fill="hold"/>
                                        <p:tgtEl>
                                          <p:spTgt spid="19"/>
                                        </p:tgtEl>
                                        <p:attrNameLst>
                                          <p:attrName>ppt_x</p:attrName>
                                        </p:attrNameLst>
                                      </p:cBhvr>
                                      <p:tavLst>
                                        <p:tav tm="0">
                                          <p:val>
                                            <p:strVal val="#ppt_x"/>
                                          </p:val>
                                        </p:tav>
                                        <p:tav tm="100000">
                                          <p:val>
                                            <p:strVal val="#ppt_x"/>
                                          </p:val>
                                        </p:tav>
                                      </p:tavLst>
                                    </p:anim>
                                    <p:anim calcmode="lin" valueType="num">
                                      <p:cBhvr>
                                        <p:cTn id="93" dur="600" decel="100000" fill="hold"/>
                                        <p:tgtEl>
                                          <p:spTgt spid="19"/>
                                        </p:tgtEl>
                                        <p:attrNameLst>
                                          <p:attrName>ppt_y</p:attrName>
                                        </p:attrNameLst>
                                      </p:cBhvr>
                                      <p:tavLst>
                                        <p:tav tm="0">
                                          <p:val>
                                            <p:strVal val="#ppt_y+.05"/>
                                          </p:val>
                                        </p:tav>
                                        <p:tav tm="100000">
                                          <p:val>
                                            <p:strVal val="#ppt_y"/>
                                          </p:val>
                                        </p:tav>
                                      </p:tavLst>
                                    </p:anim>
                                  </p:childTnLst>
                                </p:cTn>
                              </p:par>
                            </p:childTnLst>
                          </p:cTn>
                        </p:par>
                        <p:par>
                          <p:cTn id="94" fill="hold">
                            <p:stCondLst>
                              <p:cond delay="2500"/>
                            </p:stCondLst>
                            <p:childTnLst>
                              <p:par>
                                <p:cTn id="95" presetID="42" presetClass="entr" presetSubtype="0" fill="hold" grpId="0" nodeType="withEffect">
                                  <p:stCondLst>
                                    <p:cond delay="0"/>
                                  </p:stCondLst>
                                  <p:childTnLst>
                                    <p:set>
                                      <p:cBhvr>
                                        <p:cTn id="96" dur="1" fill="hold">
                                          <p:stCondLst>
                                            <p:cond delay="0"/>
                                          </p:stCondLst>
                                        </p:cTn>
                                        <p:tgtEl>
                                          <p:spTgt spid="20"/>
                                        </p:tgtEl>
                                        <p:attrNameLst>
                                          <p:attrName>style.visibility</p:attrName>
                                        </p:attrNameLst>
                                      </p:cBhvr>
                                      <p:to>
                                        <p:strVal val="visible"/>
                                      </p:to>
                                    </p:set>
                                    <p:animEffect transition="in" filter="fade">
                                      <p:cBhvr>
                                        <p:cTn id="97" dur="600"/>
                                        <p:tgtEl>
                                          <p:spTgt spid="20"/>
                                        </p:tgtEl>
                                      </p:cBhvr>
                                    </p:animEffect>
                                    <p:anim calcmode="lin" valueType="num">
                                      <p:cBhvr>
                                        <p:cTn id="98" dur="600" fill="hold"/>
                                        <p:tgtEl>
                                          <p:spTgt spid="20"/>
                                        </p:tgtEl>
                                        <p:attrNameLst>
                                          <p:attrName>ppt_x</p:attrName>
                                        </p:attrNameLst>
                                      </p:cBhvr>
                                      <p:tavLst>
                                        <p:tav tm="0">
                                          <p:val>
                                            <p:strVal val="#ppt_x"/>
                                          </p:val>
                                        </p:tav>
                                        <p:tav tm="100000">
                                          <p:val>
                                            <p:strVal val="#ppt_x"/>
                                          </p:val>
                                        </p:tav>
                                      </p:tavLst>
                                    </p:anim>
                                    <p:anim calcmode="lin" valueType="num">
                                      <p:cBhvr>
                                        <p:cTn id="99" dur="600" decel="100000" fill="hold"/>
                                        <p:tgtEl>
                                          <p:spTgt spid="20"/>
                                        </p:tgtEl>
                                        <p:attrNameLst>
                                          <p:attrName>ppt_y</p:attrName>
                                        </p:attrNameLst>
                                      </p:cBhvr>
                                      <p:tavLst>
                                        <p:tav tm="0">
                                          <p:val>
                                            <p:strVal val="#ppt_y+.05"/>
                                          </p:val>
                                        </p:tav>
                                        <p:tav tm="100000">
                                          <p:val>
                                            <p:strVal val="#ppt_y"/>
                                          </p:val>
                                        </p:tav>
                                      </p:tavLst>
                                    </p:anim>
                                  </p:childTnLst>
                                </p:cTn>
                              </p:par>
                            </p:childTnLst>
                          </p:cTn>
                        </p:par>
                        <p:par>
                          <p:cTn id="100" fill="hold">
                            <p:stCondLst>
                              <p:cond delay="2500"/>
                            </p:stCondLst>
                            <p:childTnLst>
                              <p:par>
                                <p:cTn id="101" presetID="42" presetClass="entr" presetSubtype="0" fill="hold" grpId="0" nodeType="withEffect">
                                  <p:stCondLst>
                                    <p:cond delay="0"/>
                                  </p:stCondLst>
                                  <p:childTnLst>
                                    <p:set>
                                      <p:cBhvr>
                                        <p:cTn id="102" dur="1" fill="hold">
                                          <p:stCondLst>
                                            <p:cond delay="0"/>
                                          </p:stCondLst>
                                        </p:cTn>
                                        <p:tgtEl>
                                          <p:spTgt spid="21"/>
                                        </p:tgtEl>
                                        <p:attrNameLst>
                                          <p:attrName>style.visibility</p:attrName>
                                        </p:attrNameLst>
                                      </p:cBhvr>
                                      <p:to>
                                        <p:strVal val="visible"/>
                                      </p:to>
                                    </p:set>
                                    <p:animEffect transition="in" filter="fade">
                                      <p:cBhvr>
                                        <p:cTn id="103" dur="600"/>
                                        <p:tgtEl>
                                          <p:spTgt spid="21"/>
                                        </p:tgtEl>
                                      </p:cBhvr>
                                    </p:animEffect>
                                    <p:anim calcmode="lin" valueType="num">
                                      <p:cBhvr>
                                        <p:cTn id="104" dur="600" fill="hold"/>
                                        <p:tgtEl>
                                          <p:spTgt spid="21"/>
                                        </p:tgtEl>
                                        <p:attrNameLst>
                                          <p:attrName>ppt_x</p:attrName>
                                        </p:attrNameLst>
                                      </p:cBhvr>
                                      <p:tavLst>
                                        <p:tav tm="0">
                                          <p:val>
                                            <p:strVal val="#ppt_x"/>
                                          </p:val>
                                        </p:tav>
                                        <p:tav tm="100000">
                                          <p:val>
                                            <p:strVal val="#ppt_x"/>
                                          </p:val>
                                        </p:tav>
                                      </p:tavLst>
                                    </p:anim>
                                    <p:anim calcmode="lin" valueType="num">
                                      <p:cBhvr>
                                        <p:cTn id="105" dur="600" decel="100000" fill="hold"/>
                                        <p:tgtEl>
                                          <p:spTgt spid="21"/>
                                        </p:tgtEl>
                                        <p:attrNameLst>
                                          <p:attrName>ppt_y</p:attrName>
                                        </p:attrNameLst>
                                      </p:cBhvr>
                                      <p:tavLst>
                                        <p:tav tm="0">
                                          <p:val>
                                            <p:strVal val="#ppt_y+.05"/>
                                          </p:val>
                                        </p:tav>
                                        <p:tav tm="100000">
                                          <p:val>
                                            <p:strVal val="#ppt_y"/>
                                          </p:val>
                                        </p:tav>
                                      </p:tavLst>
                                    </p:anim>
                                  </p:childTnLst>
                                </p:cTn>
                              </p:par>
                            </p:childTnLst>
                          </p:cTn>
                        </p:par>
                        <p:par>
                          <p:cTn id="106" fill="hold">
                            <p:stCondLst>
                              <p:cond delay="2500"/>
                            </p:stCondLst>
                            <p:childTnLst>
                              <p:par>
                                <p:cTn id="107" presetID="42" presetClass="entr" presetSubtype="0" fill="hold" grpId="0" nodeType="withEffect">
                                  <p:stCondLst>
                                    <p:cond delay="0"/>
                                  </p:stCondLst>
                                  <p:childTnLst>
                                    <p:set>
                                      <p:cBhvr>
                                        <p:cTn id="108" dur="1" fill="hold">
                                          <p:stCondLst>
                                            <p:cond delay="0"/>
                                          </p:stCondLst>
                                        </p:cTn>
                                        <p:tgtEl>
                                          <p:spTgt spid="22"/>
                                        </p:tgtEl>
                                        <p:attrNameLst>
                                          <p:attrName>style.visibility</p:attrName>
                                        </p:attrNameLst>
                                      </p:cBhvr>
                                      <p:to>
                                        <p:strVal val="visible"/>
                                      </p:to>
                                    </p:set>
                                    <p:animEffect transition="in" filter="fade">
                                      <p:cBhvr>
                                        <p:cTn id="109" dur="600"/>
                                        <p:tgtEl>
                                          <p:spTgt spid="22"/>
                                        </p:tgtEl>
                                      </p:cBhvr>
                                    </p:animEffect>
                                    <p:anim calcmode="lin" valueType="num">
                                      <p:cBhvr>
                                        <p:cTn id="110" dur="600" fill="hold"/>
                                        <p:tgtEl>
                                          <p:spTgt spid="22"/>
                                        </p:tgtEl>
                                        <p:attrNameLst>
                                          <p:attrName>ppt_x</p:attrName>
                                        </p:attrNameLst>
                                      </p:cBhvr>
                                      <p:tavLst>
                                        <p:tav tm="0">
                                          <p:val>
                                            <p:strVal val="#ppt_x"/>
                                          </p:val>
                                        </p:tav>
                                        <p:tav tm="100000">
                                          <p:val>
                                            <p:strVal val="#ppt_x"/>
                                          </p:val>
                                        </p:tav>
                                      </p:tavLst>
                                    </p:anim>
                                    <p:anim calcmode="lin" valueType="num">
                                      <p:cBhvr>
                                        <p:cTn id="111" dur="600" decel="100000" fill="hold"/>
                                        <p:tgtEl>
                                          <p:spTgt spid="22"/>
                                        </p:tgtEl>
                                        <p:attrNameLst>
                                          <p:attrName>ppt_y</p:attrName>
                                        </p:attrNameLst>
                                      </p:cBhvr>
                                      <p:tavLst>
                                        <p:tav tm="0">
                                          <p:val>
                                            <p:strVal val="#ppt_y+.05"/>
                                          </p:val>
                                        </p:tav>
                                        <p:tav tm="100000">
                                          <p:val>
                                            <p:strVal val="#ppt_y"/>
                                          </p:val>
                                        </p:tav>
                                      </p:tavLst>
                                    </p:anim>
                                  </p:childTnLst>
                                </p:cTn>
                              </p:par>
                            </p:childTnLst>
                          </p:cTn>
                        </p:par>
                        <p:par>
                          <p:cTn id="112" fill="hold">
                            <p:stCondLst>
                              <p:cond delay="2500"/>
                            </p:stCondLst>
                            <p:childTnLst>
                              <p:par>
                                <p:cTn id="113" presetID="42" presetClass="entr" presetSubtype="0" fill="hold" grpId="0" nodeType="withEffect">
                                  <p:stCondLst>
                                    <p:cond delay="0"/>
                                  </p:stCondLst>
                                  <p:childTnLst>
                                    <p:set>
                                      <p:cBhvr>
                                        <p:cTn id="114" dur="1" fill="hold">
                                          <p:stCondLst>
                                            <p:cond delay="0"/>
                                          </p:stCondLst>
                                        </p:cTn>
                                        <p:tgtEl>
                                          <p:spTgt spid="23"/>
                                        </p:tgtEl>
                                        <p:attrNameLst>
                                          <p:attrName>style.visibility</p:attrName>
                                        </p:attrNameLst>
                                      </p:cBhvr>
                                      <p:to>
                                        <p:strVal val="visible"/>
                                      </p:to>
                                    </p:set>
                                    <p:animEffect transition="in" filter="fade">
                                      <p:cBhvr>
                                        <p:cTn id="115" dur="600"/>
                                        <p:tgtEl>
                                          <p:spTgt spid="23"/>
                                        </p:tgtEl>
                                      </p:cBhvr>
                                    </p:animEffect>
                                    <p:anim calcmode="lin" valueType="num">
                                      <p:cBhvr>
                                        <p:cTn id="116" dur="600" fill="hold"/>
                                        <p:tgtEl>
                                          <p:spTgt spid="23"/>
                                        </p:tgtEl>
                                        <p:attrNameLst>
                                          <p:attrName>ppt_x</p:attrName>
                                        </p:attrNameLst>
                                      </p:cBhvr>
                                      <p:tavLst>
                                        <p:tav tm="0">
                                          <p:val>
                                            <p:strVal val="#ppt_x"/>
                                          </p:val>
                                        </p:tav>
                                        <p:tav tm="100000">
                                          <p:val>
                                            <p:strVal val="#ppt_x"/>
                                          </p:val>
                                        </p:tav>
                                      </p:tavLst>
                                    </p:anim>
                                    <p:anim calcmode="lin" valueType="num">
                                      <p:cBhvr>
                                        <p:cTn id="117" dur="600" decel="100000" fill="hold"/>
                                        <p:tgtEl>
                                          <p:spTgt spid="23"/>
                                        </p:tgtEl>
                                        <p:attrNameLst>
                                          <p:attrName>ppt_y</p:attrName>
                                        </p:attrNameLst>
                                      </p:cBhvr>
                                      <p:tavLst>
                                        <p:tav tm="0">
                                          <p:val>
                                            <p:strVal val="#ppt_y+.05"/>
                                          </p:val>
                                        </p:tav>
                                        <p:tav tm="100000">
                                          <p:val>
                                            <p:strVal val="#ppt_y"/>
                                          </p:val>
                                        </p:tav>
                                      </p:tavLst>
                                    </p:anim>
                                  </p:childTnLst>
                                </p:cTn>
                              </p:par>
                            </p:childTnLst>
                          </p:cTn>
                        </p:par>
                        <p:par>
                          <p:cTn id="118" fill="hold">
                            <p:stCondLst>
                              <p:cond delay="2500"/>
                            </p:stCondLst>
                            <p:childTnLst>
                              <p:par>
                                <p:cTn id="119" presetID="42" presetClass="entr" presetSubtype="0" fill="hold" grpId="0" nodeType="withEffect">
                                  <p:stCondLst>
                                    <p:cond delay="0"/>
                                  </p:stCondLst>
                                  <p:childTnLst>
                                    <p:set>
                                      <p:cBhvr>
                                        <p:cTn id="120" dur="1" fill="hold">
                                          <p:stCondLst>
                                            <p:cond delay="0"/>
                                          </p:stCondLst>
                                        </p:cTn>
                                        <p:tgtEl>
                                          <p:spTgt spid="24"/>
                                        </p:tgtEl>
                                        <p:attrNameLst>
                                          <p:attrName>style.visibility</p:attrName>
                                        </p:attrNameLst>
                                      </p:cBhvr>
                                      <p:to>
                                        <p:strVal val="visible"/>
                                      </p:to>
                                    </p:set>
                                    <p:animEffect transition="in" filter="fade">
                                      <p:cBhvr>
                                        <p:cTn id="121" dur="600"/>
                                        <p:tgtEl>
                                          <p:spTgt spid="24"/>
                                        </p:tgtEl>
                                      </p:cBhvr>
                                    </p:animEffect>
                                    <p:anim calcmode="lin" valueType="num">
                                      <p:cBhvr>
                                        <p:cTn id="122" dur="600" fill="hold"/>
                                        <p:tgtEl>
                                          <p:spTgt spid="24"/>
                                        </p:tgtEl>
                                        <p:attrNameLst>
                                          <p:attrName>ppt_x</p:attrName>
                                        </p:attrNameLst>
                                      </p:cBhvr>
                                      <p:tavLst>
                                        <p:tav tm="0">
                                          <p:val>
                                            <p:strVal val="#ppt_x"/>
                                          </p:val>
                                        </p:tav>
                                        <p:tav tm="100000">
                                          <p:val>
                                            <p:strVal val="#ppt_x"/>
                                          </p:val>
                                        </p:tav>
                                      </p:tavLst>
                                    </p:anim>
                                    <p:anim calcmode="lin" valueType="num">
                                      <p:cBhvr>
                                        <p:cTn id="123" dur="600" decel="100000" fill="hold"/>
                                        <p:tgtEl>
                                          <p:spTgt spid="24"/>
                                        </p:tgtEl>
                                        <p:attrNameLst>
                                          <p:attrName>ppt_y</p:attrName>
                                        </p:attrNameLst>
                                      </p:cBhvr>
                                      <p:tavLst>
                                        <p:tav tm="0">
                                          <p:val>
                                            <p:strVal val="#ppt_y+.05"/>
                                          </p:val>
                                        </p:tav>
                                        <p:tav tm="100000">
                                          <p:val>
                                            <p:strVal val="#ppt_y"/>
                                          </p:val>
                                        </p:tav>
                                      </p:tavLst>
                                    </p:anim>
                                  </p:childTnLst>
                                </p:cTn>
                              </p:par>
                            </p:childTnLst>
                          </p:cTn>
                        </p:par>
                        <p:par>
                          <p:cTn id="124" fill="hold">
                            <p:stCondLst>
                              <p:cond delay="2950"/>
                            </p:stCondLst>
                            <p:childTnLst>
                              <p:par>
                                <p:cTn id="125" presetID="42" presetClass="entr" presetSubtype="0" fill="hold" grpId="0" nodeType="withEffect">
                                  <p:stCondLst>
                                    <p:cond delay="0"/>
                                  </p:stCondLst>
                                  <p:childTnLst>
                                    <p:set>
                                      <p:cBhvr>
                                        <p:cTn id="126" dur="1" fill="hold">
                                          <p:stCondLst>
                                            <p:cond delay="0"/>
                                          </p:stCondLst>
                                        </p:cTn>
                                        <p:tgtEl>
                                          <p:spTgt spid="25"/>
                                        </p:tgtEl>
                                        <p:attrNameLst>
                                          <p:attrName>style.visibility</p:attrName>
                                        </p:attrNameLst>
                                      </p:cBhvr>
                                      <p:to>
                                        <p:strVal val="visible"/>
                                      </p:to>
                                    </p:set>
                                    <p:animEffect transition="in" filter="fade">
                                      <p:cBhvr>
                                        <p:cTn id="127" dur="600"/>
                                        <p:tgtEl>
                                          <p:spTgt spid="25"/>
                                        </p:tgtEl>
                                      </p:cBhvr>
                                    </p:animEffect>
                                    <p:anim calcmode="lin" valueType="num">
                                      <p:cBhvr>
                                        <p:cTn id="128" dur="600" fill="hold"/>
                                        <p:tgtEl>
                                          <p:spTgt spid="25"/>
                                        </p:tgtEl>
                                        <p:attrNameLst>
                                          <p:attrName>ppt_x</p:attrName>
                                        </p:attrNameLst>
                                      </p:cBhvr>
                                      <p:tavLst>
                                        <p:tav tm="0">
                                          <p:val>
                                            <p:strVal val="#ppt_x"/>
                                          </p:val>
                                        </p:tav>
                                        <p:tav tm="100000">
                                          <p:val>
                                            <p:strVal val="#ppt_x"/>
                                          </p:val>
                                        </p:tav>
                                      </p:tavLst>
                                    </p:anim>
                                    <p:anim calcmode="lin" valueType="num">
                                      <p:cBhvr>
                                        <p:cTn id="129" dur="600" decel="100000" fill="hold"/>
                                        <p:tgtEl>
                                          <p:spTgt spid="25"/>
                                        </p:tgtEl>
                                        <p:attrNameLst>
                                          <p:attrName>ppt_y</p:attrName>
                                        </p:attrNameLst>
                                      </p:cBhvr>
                                      <p:tavLst>
                                        <p:tav tm="0">
                                          <p:val>
                                            <p:strVal val="#ppt_y+.05"/>
                                          </p:val>
                                        </p:tav>
                                        <p:tav tm="100000">
                                          <p:val>
                                            <p:strVal val="#ppt_y"/>
                                          </p:val>
                                        </p:tav>
                                      </p:tavLst>
                                    </p:anim>
                                  </p:childTnLst>
                                </p:cTn>
                              </p:par>
                            </p:childTnLst>
                          </p:cTn>
                        </p:par>
                        <p:par>
                          <p:cTn id="130" fill="hold">
                            <p:stCondLst>
                              <p:cond delay="2950"/>
                            </p:stCondLst>
                            <p:childTnLst>
                              <p:par>
                                <p:cTn id="131" presetID="42" presetClass="entr" presetSubtype="0" fill="hold" grpId="0" nodeType="withEffect">
                                  <p:stCondLst>
                                    <p:cond delay="0"/>
                                  </p:stCondLst>
                                  <p:childTnLst>
                                    <p:set>
                                      <p:cBhvr>
                                        <p:cTn id="132" dur="1" fill="hold">
                                          <p:stCondLst>
                                            <p:cond delay="0"/>
                                          </p:stCondLst>
                                        </p:cTn>
                                        <p:tgtEl>
                                          <p:spTgt spid="26"/>
                                        </p:tgtEl>
                                        <p:attrNameLst>
                                          <p:attrName>style.visibility</p:attrName>
                                        </p:attrNameLst>
                                      </p:cBhvr>
                                      <p:to>
                                        <p:strVal val="visible"/>
                                      </p:to>
                                    </p:set>
                                    <p:animEffect transition="in" filter="fade">
                                      <p:cBhvr>
                                        <p:cTn id="133" dur="600"/>
                                        <p:tgtEl>
                                          <p:spTgt spid="26"/>
                                        </p:tgtEl>
                                      </p:cBhvr>
                                    </p:animEffect>
                                    <p:anim calcmode="lin" valueType="num">
                                      <p:cBhvr>
                                        <p:cTn id="134" dur="600" fill="hold"/>
                                        <p:tgtEl>
                                          <p:spTgt spid="26"/>
                                        </p:tgtEl>
                                        <p:attrNameLst>
                                          <p:attrName>ppt_x</p:attrName>
                                        </p:attrNameLst>
                                      </p:cBhvr>
                                      <p:tavLst>
                                        <p:tav tm="0">
                                          <p:val>
                                            <p:strVal val="#ppt_x"/>
                                          </p:val>
                                        </p:tav>
                                        <p:tav tm="100000">
                                          <p:val>
                                            <p:strVal val="#ppt_x"/>
                                          </p:val>
                                        </p:tav>
                                      </p:tavLst>
                                    </p:anim>
                                    <p:anim calcmode="lin" valueType="num">
                                      <p:cBhvr>
                                        <p:cTn id="135" dur="600" decel="100000" fill="hold"/>
                                        <p:tgtEl>
                                          <p:spTgt spid="26"/>
                                        </p:tgtEl>
                                        <p:attrNameLst>
                                          <p:attrName>ppt_y</p:attrName>
                                        </p:attrNameLst>
                                      </p:cBhvr>
                                      <p:tavLst>
                                        <p:tav tm="0">
                                          <p:val>
                                            <p:strVal val="#ppt_y+.05"/>
                                          </p:val>
                                        </p:tav>
                                        <p:tav tm="100000">
                                          <p:val>
                                            <p:strVal val="#ppt_y"/>
                                          </p:val>
                                        </p:tav>
                                      </p:tavLst>
                                    </p:anim>
                                  </p:childTnLst>
                                </p:cTn>
                              </p:par>
                            </p:childTnLst>
                          </p:cTn>
                        </p:par>
                        <p:par>
                          <p:cTn id="136" fill="hold">
                            <p:stCondLst>
                              <p:cond delay="2950"/>
                            </p:stCondLst>
                            <p:childTnLst>
                              <p:par>
                                <p:cTn id="137" presetID="42" presetClass="entr" presetSubtype="0" fill="hold" grpId="0" nodeType="withEffect">
                                  <p:stCondLst>
                                    <p:cond delay="0"/>
                                  </p:stCondLst>
                                  <p:childTnLst>
                                    <p:set>
                                      <p:cBhvr>
                                        <p:cTn id="138" dur="1" fill="hold">
                                          <p:stCondLst>
                                            <p:cond delay="0"/>
                                          </p:stCondLst>
                                        </p:cTn>
                                        <p:tgtEl>
                                          <p:spTgt spid="27"/>
                                        </p:tgtEl>
                                        <p:attrNameLst>
                                          <p:attrName>style.visibility</p:attrName>
                                        </p:attrNameLst>
                                      </p:cBhvr>
                                      <p:to>
                                        <p:strVal val="visible"/>
                                      </p:to>
                                    </p:set>
                                    <p:animEffect transition="in" filter="fade">
                                      <p:cBhvr>
                                        <p:cTn id="139" dur="600"/>
                                        <p:tgtEl>
                                          <p:spTgt spid="27"/>
                                        </p:tgtEl>
                                      </p:cBhvr>
                                    </p:animEffect>
                                    <p:anim calcmode="lin" valueType="num">
                                      <p:cBhvr>
                                        <p:cTn id="140" dur="600" fill="hold"/>
                                        <p:tgtEl>
                                          <p:spTgt spid="27"/>
                                        </p:tgtEl>
                                        <p:attrNameLst>
                                          <p:attrName>ppt_x</p:attrName>
                                        </p:attrNameLst>
                                      </p:cBhvr>
                                      <p:tavLst>
                                        <p:tav tm="0">
                                          <p:val>
                                            <p:strVal val="#ppt_x"/>
                                          </p:val>
                                        </p:tav>
                                        <p:tav tm="100000">
                                          <p:val>
                                            <p:strVal val="#ppt_x"/>
                                          </p:val>
                                        </p:tav>
                                      </p:tavLst>
                                    </p:anim>
                                    <p:anim calcmode="lin" valueType="num">
                                      <p:cBhvr>
                                        <p:cTn id="141" dur="600" decel="100000" fill="hold"/>
                                        <p:tgtEl>
                                          <p:spTgt spid="27"/>
                                        </p:tgtEl>
                                        <p:attrNameLst>
                                          <p:attrName>ppt_y</p:attrName>
                                        </p:attrNameLst>
                                      </p:cBhvr>
                                      <p:tavLst>
                                        <p:tav tm="0">
                                          <p:val>
                                            <p:strVal val="#ppt_y+.05"/>
                                          </p:val>
                                        </p:tav>
                                        <p:tav tm="100000">
                                          <p:val>
                                            <p:strVal val="#ppt_y"/>
                                          </p:val>
                                        </p:tav>
                                      </p:tavLst>
                                    </p:anim>
                                  </p:childTnLst>
                                </p:cTn>
                              </p:par>
                            </p:childTnLst>
                          </p:cTn>
                        </p:par>
                        <p:par>
                          <p:cTn id="142" fill="hold">
                            <p:stCondLst>
                              <p:cond delay="2950"/>
                            </p:stCondLst>
                            <p:childTnLst>
                              <p:par>
                                <p:cTn id="143" presetID="42" presetClass="entr" presetSubtype="0" fill="hold" grpId="0" nodeType="withEffect">
                                  <p:stCondLst>
                                    <p:cond delay="0"/>
                                  </p:stCondLst>
                                  <p:childTnLst>
                                    <p:set>
                                      <p:cBhvr>
                                        <p:cTn id="144" dur="1" fill="hold">
                                          <p:stCondLst>
                                            <p:cond delay="0"/>
                                          </p:stCondLst>
                                        </p:cTn>
                                        <p:tgtEl>
                                          <p:spTgt spid="28"/>
                                        </p:tgtEl>
                                        <p:attrNameLst>
                                          <p:attrName>style.visibility</p:attrName>
                                        </p:attrNameLst>
                                      </p:cBhvr>
                                      <p:to>
                                        <p:strVal val="visible"/>
                                      </p:to>
                                    </p:set>
                                    <p:animEffect transition="in" filter="fade">
                                      <p:cBhvr>
                                        <p:cTn id="145" dur="600"/>
                                        <p:tgtEl>
                                          <p:spTgt spid="28"/>
                                        </p:tgtEl>
                                      </p:cBhvr>
                                    </p:animEffect>
                                    <p:anim calcmode="lin" valueType="num">
                                      <p:cBhvr>
                                        <p:cTn id="146" dur="600" fill="hold"/>
                                        <p:tgtEl>
                                          <p:spTgt spid="28"/>
                                        </p:tgtEl>
                                        <p:attrNameLst>
                                          <p:attrName>ppt_x</p:attrName>
                                        </p:attrNameLst>
                                      </p:cBhvr>
                                      <p:tavLst>
                                        <p:tav tm="0">
                                          <p:val>
                                            <p:strVal val="#ppt_x"/>
                                          </p:val>
                                        </p:tav>
                                        <p:tav tm="100000">
                                          <p:val>
                                            <p:strVal val="#ppt_x"/>
                                          </p:val>
                                        </p:tav>
                                      </p:tavLst>
                                    </p:anim>
                                    <p:anim calcmode="lin" valueType="num">
                                      <p:cBhvr>
                                        <p:cTn id="147" dur="600" decel="100000" fill="hold"/>
                                        <p:tgtEl>
                                          <p:spTgt spid="28"/>
                                        </p:tgtEl>
                                        <p:attrNameLst>
                                          <p:attrName>ppt_y</p:attrName>
                                        </p:attrNameLst>
                                      </p:cBhvr>
                                      <p:tavLst>
                                        <p:tav tm="0">
                                          <p:val>
                                            <p:strVal val="#ppt_y+.05"/>
                                          </p:val>
                                        </p:tav>
                                        <p:tav tm="100000">
                                          <p:val>
                                            <p:strVal val="#ppt_y"/>
                                          </p:val>
                                        </p:tav>
                                      </p:tavLst>
                                    </p:anim>
                                  </p:childTnLst>
                                </p:cTn>
                              </p:par>
                            </p:childTnLst>
                          </p:cTn>
                        </p:par>
                        <p:par>
                          <p:cTn id="148" fill="hold">
                            <p:stCondLst>
                              <p:cond delay="2950"/>
                            </p:stCondLst>
                            <p:childTnLst>
                              <p:par>
                                <p:cTn id="149" presetID="42" presetClass="entr" presetSubtype="0" fill="hold" grpId="0" nodeType="withEffect">
                                  <p:stCondLst>
                                    <p:cond delay="0"/>
                                  </p:stCondLst>
                                  <p:childTnLst>
                                    <p:set>
                                      <p:cBhvr>
                                        <p:cTn id="150" dur="1" fill="hold">
                                          <p:stCondLst>
                                            <p:cond delay="0"/>
                                          </p:stCondLst>
                                        </p:cTn>
                                        <p:tgtEl>
                                          <p:spTgt spid="29"/>
                                        </p:tgtEl>
                                        <p:attrNameLst>
                                          <p:attrName>style.visibility</p:attrName>
                                        </p:attrNameLst>
                                      </p:cBhvr>
                                      <p:to>
                                        <p:strVal val="visible"/>
                                      </p:to>
                                    </p:set>
                                    <p:animEffect transition="in" filter="fade">
                                      <p:cBhvr>
                                        <p:cTn id="151" dur="600"/>
                                        <p:tgtEl>
                                          <p:spTgt spid="29"/>
                                        </p:tgtEl>
                                      </p:cBhvr>
                                    </p:animEffect>
                                    <p:anim calcmode="lin" valueType="num">
                                      <p:cBhvr>
                                        <p:cTn id="152" dur="600" fill="hold"/>
                                        <p:tgtEl>
                                          <p:spTgt spid="29"/>
                                        </p:tgtEl>
                                        <p:attrNameLst>
                                          <p:attrName>ppt_x</p:attrName>
                                        </p:attrNameLst>
                                      </p:cBhvr>
                                      <p:tavLst>
                                        <p:tav tm="0">
                                          <p:val>
                                            <p:strVal val="#ppt_x"/>
                                          </p:val>
                                        </p:tav>
                                        <p:tav tm="100000">
                                          <p:val>
                                            <p:strVal val="#ppt_x"/>
                                          </p:val>
                                        </p:tav>
                                      </p:tavLst>
                                    </p:anim>
                                    <p:anim calcmode="lin" valueType="num">
                                      <p:cBhvr>
                                        <p:cTn id="153" dur="600" decel="100000" fill="hold"/>
                                        <p:tgtEl>
                                          <p:spTgt spid="29"/>
                                        </p:tgtEl>
                                        <p:attrNameLst>
                                          <p:attrName>ppt_y</p:attrName>
                                        </p:attrNameLst>
                                      </p:cBhvr>
                                      <p:tavLst>
                                        <p:tav tm="0">
                                          <p:val>
                                            <p:strVal val="#ppt_y+.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9" grpId="0" animBg="1"/>
      <p:bldP spid="10" grpId="0" animBg="1"/>
      <p:bldP spid="11" grpId="0" animBg="1"/>
      <p:bldP spid="13" grpId="0" animBg="1"/>
      <p:bldP spid="14" grpId="0" animBg="1"/>
      <p:bldP spid="15" grpId="0" animBg="1"/>
      <p:bldP spid="17" grpId="0" animBg="1"/>
      <p:bldP spid="18" grpId="0" animBg="1"/>
      <p:bldP spid="19" grpId="0" animBg="1"/>
      <p:bldP spid="20" grpId="0" animBg="1"/>
      <p:bldP spid="21" grpId="0" animBg="1"/>
      <p:bldP spid="23" grpId="0" animBg="1"/>
      <p:bldP spid="24" grpId="0" animBg="1"/>
      <p:bldP spid="25" grpId="0" animBg="1"/>
      <p:bldP spid="26" grpId="0" animBg="1"/>
      <p:bldP spid="28" grpId="0" animBg="1"/>
      <p:bldP spid="29"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0"/>
          <p:cNvSpPr txBox="1"/>
          <p:nvPr/>
        </p:nvSpPr>
        <p:spPr>
          <a:xfrm>
            <a:off x="548640" y="292608"/>
            <a:ext cx="7315200" cy="292608"/>
          </a:xfrm>
          <a:prstGeom prst="rect">
            <a:avLst/>
          </a:prstGeom>
          <a:noFill/>
          <a:ln/>
        </p:spPr>
        <p:txBody>
          <a:bodyPr wrap="square" lIns="0" tIns="0" rIns="0" bIns="0" rtlCol="0" anchor="ctr"/>
          <a:lstStyle/>
          <a:p>
            <a:pPr indent="0" marL="0">
              <a:buNone/>
            </a:pPr>
            <a:r>
              <a:rPr lang="ru-RU" sz="1300" b="1" spc="200" kern="0" dirty="0">
                <a:solidFill>
                  <a:schemeClr val="accent1"/>
                </a:solidFill>
              </a:rPr>
              <a:t>05  ·  УНИТАРНЫЕ ПРЕДПРИЯТИЯ</a:t>
            </a:r>
            <a:endParaRPr lang="ru-RU" sz="1300" dirty="0"/>
          </a:p>
        </p:txBody>
      </p:sp>
      <p:sp>
        <p:nvSpPr>
          <p:cNvPr id="4" name="Text 0"/>
          <p:cNvSpPr/>
          <p:nvPr>
            <p:ph idx="100" type="title" hasCustomPrompt="1"/>
          </p:nvPr>
        </p:nvSpPr>
        <p:spPr>
          <a:xfrm>
            <a:off x="548640" y="566928"/>
            <a:ext cx="11064240" cy="731520"/>
          </a:xfrm>
          <a:prstGeom prst="rect">
            <a:avLst/>
          </a:prstGeom>
          <a:noFill/>
          <a:ln/>
        </p:spPr>
        <p:txBody>
          <a:bodyPr wrap="square" lIns="0" tIns="0" rIns="0" bIns="0" rtlCol="0" anchor="ctr"/>
          <a:lstStyle/>
          <a:p>
            <a:pPr algn="l" indent="0" marL="0">
              <a:buNone/>
            </a:pPr>
            <a:r>
              <a:rPr lang="ru-RU" sz="3400" b="1" dirty="0">
                <a:solidFill>
                  <a:schemeClr val="tx1"/>
                </a:solidFill>
                <a:latin typeface="Georgia" pitchFamily="34" charset="0"/>
                <a:ea typeface="Georgia" pitchFamily="34" charset="-122"/>
                <a:cs typeface="Georgia" pitchFamily="34" charset="-120"/>
              </a:rPr>
              <a:t>ГУП и МУП: имущество у государства</a:t>
            </a:r>
            <a:endParaRPr lang="ru-RU" sz="3400" dirty="0"/>
          </a:p>
        </p:txBody>
      </p:sp>
      <p:sp>
        <p:nvSpPr>
          <p:cNvPr id="5" name="a_01_own"/>
          <p:cNvSpPr/>
          <p:nvPr/>
        </p:nvSpPr>
        <p:spPr>
          <a:xfrm>
            <a:off x="548640" y="1508760"/>
            <a:ext cx="4206240" cy="2194560"/>
          </a:xfrm>
          <a:prstGeom prst="roundRect">
            <a:avLst>
              <a:gd name="adj" fmla="val 5000"/>
            </a:avLst>
          </a:prstGeom>
          <a:solidFill>
            <a:schemeClr val="tx1"/>
          </a:solidFill>
          <a:ln w="9525">
            <a:solidFill>
              <a:schemeClr val="tx1"/>
            </a:solidFill>
            <a:prstDash val="solid"/>
          </a:ln>
        </p:spPr>
      </p:sp>
      <p:sp>
        <p:nvSpPr>
          <p:cNvPr id="6" name="a_01_ownd_c"/>
          <p:cNvSpPr/>
          <p:nvPr/>
        </p:nvSpPr>
        <p:spPr>
          <a:xfrm>
            <a:off x="868680" y="1783080"/>
            <a:ext cx="822960" cy="822960"/>
          </a:xfrm>
          <a:prstGeom prst="ellipse">
            <a:avLst/>
          </a:prstGeom>
          <a:solidFill>
            <a:schemeClr val="accent3"/>
          </a:solidFill>
          <a:ln w="12700">
            <a:solidFill>
              <a:schemeClr val="accent3"/>
            </a:solidFill>
            <a:prstDash val="solid"/>
          </a:ln>
        </p:spPr>
      </p:sp>
      <p:pic>
        <p:nvPicPr>
          <p:cNvPr id="7" name="a_01_ownd_i" descr="/tmp/claude-0/-home-user-musor/c6980a0f-2a52-569f-a1fc-691d09a5d10f/scratchpad/biz/icons/landmark_w.png">    </p:cNvPr>
          <p:cNvPicPr>
            <a:picLocks noChangeAspect="1"/>
          </p:cNvPicPr>
          <p:nvPr/>
        </p:nvPicPr>
        <p:blipFill>
          <a:blip r:embed="rId1"/>
          <a:stretch>
            <a:fillRect/>
          </a:stretch>
        </p:blipFill>
        <p:spPr>
          <a:xfrm>
            <a:off x="1082650" y="1997050"/>
            <a:ext cx="395021" cy="395021"/>
          </a:xfrm>
          <a:prstGeom prst="rect">
            <a:avLst/>
          </a:prstGeom>
        </p:spPr>
      </p:pic>
      <p:sp>
        <p:nvSpPr>
          <p:cNvPr id="8" name="a_01_ownt"/>
          <p:cNvSpPr txBox="1"/>
          <p:nvPr/>
        </p:nvSpPr>
        <p:spPr>
          <a:xfrm>
            <a:off x="868680" y="2697480"/>
            <a:ext cx="3657600" cy="457200"/>
          </a:xfrm>
          <a:prstGeom prst="rect">
            <a:avLst/>
          </a:prstGeom>
          <a:noFill/>
          <a:ln/>
        </p:spPr>
        <p:txBody>
          <a:bodyPr wrap="square" lIns="0" tIns="0" rIns="0" bIns="0" rtlCol="0" anchor="ctr"/>
          <a:lstStyle/>
          <a:p>
            <a:pPr indent="0" marL="0">
              <a:buNone/>
            </a:pPr>
            <a:r>
              <a:rPr lang="ru-RU" sz="1800" b="1" dirty="0">
                <a:solidFill>
                  <a:schemeClr val="bg1"/>
                </a:solidFill>
              </a:rPr>
              <a:t>Государство или муниципалитет</a:t>
            </a:r>
            <a:endParaRPr lang="ru-RU" sz="1800" dirty="0"/>
          </a:p>
        </p:txBody>
      </p:sp>
      <p:sp>
        <p:nvSpPr>
          <p:cNvPr id="9" name="a_01_owns"/>
          <p:cNvSpPr txBox="1"/>
          <p:nvPr/>
        </p:nvSpPr>
        <p:spPr>
          <a:xfrm>
            <a:off x="868680" y="3154680"/>
            <a:ext cx="3657600" cy="365760"/>
          </a:xfrm>
          <a:prstGeom prst="rect">
            <a:avLst/>
          </a:prstGeom>
          <a:noFill/>
          <a:ln/>
        </p:spPr>
        <p:txBody>
          <a:bodyPr wrap="square" lIns="0" tIns="0" rIns="0" bIns="0" rtlCol="0" anchor="ctr"/>
          <a:lstStyle/>
          <a:p>
            <a:pPr indent="0" marL="0">
              <a:buNone/>
            </a:pPr>
            <a:r>
              <a:rPr lang="ru-RU" sz="1500" dirty="0">
                <a:solidFill>
                  <a:schemeClr val="accent6"/>
                </a:solidFill>
              </a:rPr>
              <a:t>собственник имущества</a:t>
            </a:r>
            <a:endParaRPr lang="ru-RU" sz="1500" dirty="0"/>
          </a:p>
        </p:txBody>
      </p:sp>
      <p:sp>
        <p:nvSpPr>
          <p:cNvPr id="10" name="a_02_arr"/>
          <p:cNvSpPr/>
          <p:nvPr/>
        </p:nvSpPr>
        <p:spPr>
          <a:xfrm>
            <a:off x="4983480" y="2286000"/>
            <a:ext cx="2194560" cy="640080"/>
          </a:xfrm>
          <a:prstGeom prst="rightArrow">
            <a:avLst/>
          </a:prstGeom>
          <a:solidFill>
            <a:schemeClr val="accent3"/>
          </a:solidFill>
          <a:ln w="12700">
            <a:solidFill>
              <a:schemeClr val="accent3"/>
            </a:solidFill>
            <a:prstDash val="solid"/>
          </a:ln>
        </p:spPr>
      </p:sp>
      <p:sp>
        <p:nvSpPr>
          <p:cNvPr id="11" name="a_02_arrt"/>
          <p:cNvSpPr txBox="1"/>
          <p:nvPr/>
        </p:nvSpPr>
        <p:spPr>
          <a:xfrm>
            <a:off x="4800600" y="3017520"/>
            <a:ext cx="2560320" cy="548640"/>
          </a:xfrm>
          <a:prstGeom prst="rect">
            <a:avLst/>
          </a:prstGeom>
          <a:noFill/>
          <a:ln/>
        </p:spPr>
        <p:txBody>
          <a:bodyPr wrap="square" lIns="0" tIns="0" rIns="0" bIns="0" rtlCol="0" anchor="t"/>
          <a:lstStyle/>
          <a:p>
            <a:pPr algn="ctr" indent="0" marL="0">
              <a:buNone/>
            </a:pPr>
            <a:r>
              <a:rPr lang="ru-RU" sz="1300" dirty="0">
                <a:solidFill>
                  <a:schemeClr val="tx2"/>
                </a:solidFill>
              </a:rPr>
              <a:t>передаёт в хозяйственное ведение</a:t>
            </a:r>
            <a:endParaRPr lang="ru-RU" sz="1300" dirty="0"/>
          </a:p>
        </p:txBody>
      </p:sp>
      <p:sp>
        <p:nvSpPr>
          <p:cNvPr id="12" name="a_03_ent"/>
          <p:cNvSpPr/>
          <p:nvPr/>
        </p:nvSpPr>
        <p:spPr>
          <a:xfrm>
            <a:off x="7406640" y="1508760"/>
            <a:ext cx="4206240" cy="2194560"/>
          </a:xfrm>
          <a:prstGeom prst="roundRect">
            <a:avLst>
              <a:gd name="adj" fmla="val 5000"/>
            </a:avLst>
          </a:prstGeom>
          <a:solidFill>
            <a:schemeClr val="bg2"/>
          </a:solidFill>
          <a:ln w="25400">
            <a:solidFill>
              <a:schemeClr val="accent1"/>
            </a:solidFill>
            <a:prstDash val="solid"/>
          </a:ln>
        </p:spPr>
      </p:sp>
      <p:sp>
        <p:nvSpPr>
          <p:cNvPr id="13" name="a_03_entd_c"/>
          <p:cNvSpPr/>
          <p:nvPr/>
        </p:nvSpPr>
        <p:spPr>
          <a:xfrm>
            <a:off x="7726680" y="1783080"/>
            <a:ext cx="822960" cy="822960"/>
          </a:xfrm>
          <a:prstGeom prst="ellipse">
            <a:avLst/>
          </a:prstGeom>
          <a:solidFill>
            <a:schemeClr val="accent1"/>
          </a:solidFill>
          <a:ln w="12700">
            <a:solidFill>
              <a:schemeClr val="accent1"/>
            </a:solidFill>
            <a:prstDash val="solid"/>
          </a:ln>
        </p:spPr>
      </p:sp>
      <p:pic>
        <p:nvPicPr>
          <p:cNvPr id="14" name="a_03_entd_i" descr="/tmp/claude-0/-home-user-musor/c6980a0f-2a52-569f-a1fc-691d09a5d10f/scratchpad/biz/icons/industry_w.png">    </p:cNvPr>
          <p:cNvPicPr>
            <a:picLocks noChangeAspect="1"/>
          </p:cNvPicPr>
          <p:nvPr/>
        </p:nvPicPr>
        <p:blipFill>
          <a:blip r:embed="rId2"/>
          <a:stretch>
            <a:fillRect/>
          </a:stretch>
        </p:blipFill>
        <p:spPr>
          <a:xfrm>
            <a:off x="7940650" y="1997050"/>
            <a:ext cx="395021" cy="395021"/>
          </a:xfrm>
          <a:prstGeom prst="rect">
            <a:avLst/>
          </a:prstGeom>
        </p:spPr>
      </p:pic>
      <p:sp>
        <p:nvSpPr>
          <p:cNvPr id="15" name="a_03_entt"/>
          <p:cNvSpPr txBox="1"/>
          <p:nvPr/>
        </p:nvSpPr>
        <p:spPr>
          <a:xfrm>
            <a:off x="7726680" y="2697480"/>
            <a:ext cx="3657600" cy="457200"/>
          </a:xfrm>
          <a:prstGeom prst="rect">
            <a:avLst/>
          </a:prstGeom>
          <a:noFill/>
          <a:ln/>
        </p:spPr>
        <p:txBody>
          <a:bodyPr wrap="square" lIns="0" tIns="0" rIns="0" bIns="0" rtlCol="0" anchor="ctr"/>
          <a:lstStyle/>
          <a:p>
            <a:pPr indent="0" marL="0">
              <a:buNone/>
            </a:pPr>
            <a:r>
              <a:rPr lang="ru-RU" sz="1800" b="1" dirty="0">
                <a:solidFill>
                  <a:schemeClr val="tx1"/>
                </a:solidFill>
              </a:rPr>
              <a:t>ГУП / МУП</a:t>
            </a:r>
            <a:endParaRPr lang="ru-RU" sz="1800" dirty="0"/>
          </a:p>
        </p:txBody>
      </p:sp>
      <p:sp>
        <p:nvSpPr>
          <p:cNvPr id="16" name="a_03_ents"/>
          <p:cNvSpPr txBox="1"/>
          <p:nvPr/>
        </p:nvSpPr>
        <p:spPr>
          <a:xfrm>
            <a:off x="7726680" y="3154680"/>
            <a:ext cx="3657600" cy="365760"/>
          </a:xfrm>
          <a:prstGeom prst="rect">
            <a:avLst/>
          </a:prstGeom>
          <a:noFill/>
          <a:ln/>
        </p:spPr>
        <p:txBody>
          <a:bodyPr wrap="square" lIns="0" tIns="0" rIns="0" bIns="0" rtlCol="0" anchor="ctr"/>
          <a:lstStyle/>
          <a:p>
            <a:pPr indent="0" marL="0">
              <a:buNone/>
            </a:pPr>
            <a:r>
              <a:rPr lang="ru-RU" sz="1500" dirty="0">
                <a:solidFill>
                  <a:schemeClr val="tx2"/>
                </a:solidFill>
              </a:rPr>
              <a:t>пользуется имуществом, но не владеет им</a:t>
            </a:r>
            <a:endParaRPr lang="ru-RU" sz="1500" dirty="0"/>
          </a:p>
        </p:txBody>
      </p:sp>
      <p:sp>
        <p:nvSpPr>
          <p:cNvPr id="17" name="a_04_e0"/>
          <p:cNvSpPr/>
          <p:nvPr/>
        </p:nvSpPr>
        <p:spPr>
          <a:xfrm>
            <a:off x="548640" y="3977640"/>
            <a:ext cx="3566160" cy="1188720"/>
          </a:xfrm>
          <a:prstGeom prst="roundRect">
            <a:avLst>
              <a:gd name="adj" fmla="val 9231"/>
            </a:avLst>
          </a:prstGeom>
          <a:solidFill>
            <a:schemeClr val="bg2"/>
          </a:solidFill>
          <a:ln w="9525">
            <a:solidFill>
              <a:schemeClr val="bg2"/>
            </a:solidFill>
            <a:prstDash val="solid"/>
          </a:ln>
        </p:spPr>
      </p:sp>
      <p:sp>
        <p:nvSpPr>
          <p:cNvPr id="18" name="a_04_ed0_c"/>
          <p:cNvSpPr/>
          <p:nvPr/>
        </p:nvSpPr>
        <p:spPr>
          <a:xfrm>
            <a:off x="777240" y="4206240"/>
            <a:ext cx="731520" cy="731520"/>
          </a:xfrm>
          <a:prstGeom prst="ellipse">
            <a:avLst/>
          </a:prstGeom>
          <a:solidFill>
            <a:schemeClr val="accent2"/>
          </a:solidFill>
          <a:ln w="12700">
            <a:solidFill>
              <a:schemeClr val="accent2"/>
            </a:solidFill>
            <a:prstDash val="solid"/>
          </a:ln>
        </p:spPr>
      </p:sp>
      <p:pic>
        <p:nvPicPr>
          <p:cNvPr id="19" name="a_04_ed0_i" descr="/tmp/claude-0/-home-user-musor/c6980a0f-2a52-569f-a1fc-691d09a5d10f/scratchpad/biz/icons/bus_w.png">    </p:cNvPr>
          <p:cNvPicPr>
            <a:picLocks noChangeAspect="1"/>
          </p:cNvPicPr>
          <p:nvPr/>
        </p:nvPicPr>
        <p:blipFill>
          <a:blip r:embed="rId3"/>
          <a:stretch>
            <a:fillRect/>
          </a:stretch>
        </p:blipFill>
        <p:spPr>
          <a:xfrm>
            <a:off x="967435" y="4396435"/>
            <a:ext cx="351130" cy="351130"/>
          </a:xfrm>
          <a:prstGeom prst="rect">
            <a:avLst/>
          </a:prstGeom>
        </p:spPr>
      </p:pic>
      <p:sp>
        <p:nvSpPr>
          <p:cNvPr id="20" name="a_04_et0"/>
          <p:cNvSpPr txBox="1"/>
          <p:nvPr/>
        </p:nvSpPr>
        <p:spPr>
          <a:xfrm>
            <a:off x="1691640" y="4160520"/>
            <a:ext cx="2331720" cy="411480"/>
          </a:xfrm>
          <a:prstGeom prst="rect">
            <a:avLst/>
          </a:prstGeom>
          <a:noFill/>
          <a:ln/>
        </p:spPr>
        <p:txBody>
          <a:bodyPr wrap="square" lIns="0" tIns="0" rIns="0" bIns="0" rtlCol="0" anchor="ctr"/>
          <a:lstStyle/>
          <a:p>
            <a:pPr indent="0" marL="0">
              <a:buNone/>
            </a:pPr>
            <a:r>
              <a:rPr lang="ru-RU" sz="1600" b="1" dirty="0">
                <a:solidFill>
                  <a:schemeClr val="tx1"/>
                </a:solidFill>
              </a:rPr>
              <a:t>ГУП «Мосгортранс»</a:t>
            </a:r>
            <a:endParaRPr lang="ru-RU" sz="1600" dirty="0"/>
          </a:p>
        </p:txBody>
      </p:sp>
      <p:sp>
        <p:nvSpPr>
          <p:cNvPr id="21" name="a_04_ex0"/>
          <p:cNvSpPr txBox="1"/>
          <p:nvPr/>
        </p:nvSpPr>
        <p:spPr>
          <a:xfrm>
            <a:off x="1691640" y="4572000"/>
            <a:ext cx="2331720" cy="411480"/>
          </a:xfrm>
          <a:prstGeom prst="rect">
            <a:avLst/>
          </a:prstGeom>
          <a:noFill/>
          <a:ln/>
        </p:spPr>
        <p:txBody>
          <a:bodyPr wrap="square" lIns="0" tIns="0" rIns="0" bIns="0" rtlCol="0" anchor="ctr"/>
          <a:lstStyle/>
          <a:p>
            <a:pPr indent="0" marL="0">
              <a:buNone/>
            </a:pPr>
            <a:r>
              <a:rPr lang="ru-RU" sz="1400" dirty="0">
                <a:solidFill>
                  <a:schemeClr val="tx2"/>
                </a:solidFill>
              </a:rPr>
              <a:t>автобусы Москвы</a:t>
            </a:r>
            <a:endParaRPr lang="ru-RU" sz="1400" dirty="0"/>
          </a:p>
        </p:txBody>
      </p:sp>
      <p:sp>
        <p:nvSpPr>
          <p:cNvPr id="22" name="a_05_e1"/>
          <p:cNvSpPr/>
          <p:nvPr/>
        </p:nvSpPr>
        <p:spPr>
          <a:xfrm>
            <a:off x="4297680" y="3977640"/>
            <a:ext cx="3566160" cy="1188720"/>
          </a:xfrm>
          <a:prstGeom prst="roundRect">
            <a:avLst>
              <a:gd name="adj" fmla="val 9231"/>
            </a:avLst>
          </a:prstGeom>
          <a:solidFill>
            <a:schemeClr val="bg2"/>
          </a:solidFill>
          <a:ln w="9525">
            <a:solidFill>
              <a:schemeClr val="bg2"/>
            </a:solidFill>
            <a:prstDash val="solid"/>
          </a:ln>
        </p:spPr>
      </p:sp>
      <p:sp>
        <p:nvSpPr>
          <p:cNvPr id="23" name="a_05_ed1_c"/>
          <p:cNvSpPr/>
          <p:nvPr/>
        </p:nvSpPr>
        <p:spPr>
          <a:xfrm>
            <a:off x="4526280" y="4206240"/>
            <a:ext cx="731520" cy="731520"/>
          </a:xfrm>
          <a:prstGeom prst="ellipse">
            <a:avLst/>
          </a:prstGeom>
          <a:solidFill>
            <a:schemeClr val="accent1"/>
          </a:solidFill>
          <a:ln w="12700">
            <a:solidFill>
              <a:schemeClr val="accent1"/>
            </a:solidFill>
            <a:prstDash val="solid"/>
          </a:ln>
        </p:spPr>
      </p:sp>
      <p:pic>
        <p:nvPicPr>
          <p:cNvPr id="24" name="a_05_ed1_i" descr="/tmp/claude-0/-home-user-musor/c6980a0f-2a52-569f-a1fc-691d09a5d10f/scratchpad/biz/icons/tint_w.png">    </p:cNvPr>
          <p:cNvPicPr>
            <a:picLocks noChangeAspect="1"/>
          </p:cNvPicPr>
          <p:nvPr/>
        </p:nvPicPr>
        <p:blipFill>
          <a:blip r:embed="rId4"/>
          <a:stretch>
            <a:fillRect/>
          </a:stretch>
        </p:blipFill>
        <p:spPr>
          <a:xfrm>
            <a:off x="4716475" y="4396435"/>
            <a:ext cx="351130" cy="351130"/>
          </a:xfrm>
          <a:prstGeom prst="rect">
            <a:avLst/>
          </a:prstGeom>
        </p:spPr>
      </p:pic>
      <p:sp>
        <p:nvSpPr>
          <p:cNvPr id="25" name="a_05_et1"/>
          <p:cNvSpPr txBox="1"/>
          <p:nvPr/>
        </p:nvSpPr>
        <p:spPr>
          <a:xfrm>
            <a:off x="5440680" y="4160520"/>
            <a:ext cx="2331720" cy="411480"/>
          </a:xfrm>
          <a:prstGeom prst="rect">
            <a:avLst/>
          </a:prstGeom>
          <a:noFill/>
          <a:ln/>
        </p:spPr>
        <p:txBody>
          <a:bodyPr wrap="square" lIns="0" tIns="0" rIns="0" bIns="0" rtlCol="0" anchor="ctr"/>
          <a:lstStyle/>
          <a:p>
            <a:pPr indent="0" marL="0">
              <a:buNone/>
            </a:pPr>
            <a:r>
              <a:rPr lang="ru-RU" sz="1600" b="1" dirty="0">
                <a:solidFill>
                  <a:schemeClr val="tx1"/>
                </a:solidFill>
              </a:rPr>
              <a:t>МУП «Водоканал»</a:t>
            </a:r>
            <a:endParaRPr lang="ru-RU" sz="1600" dirty="0"/>
          </a:p>
        </p:txBody>
      </p:sp>
      <p:sp>
        <p:nvSpPr>
          <p:cNvPr id="26" name="a_05_ex1"/>
          <p:cNvSpPr txBox="1"/>
          <p:nvPr/>
        </p:nvSpPr>
        <p:spPr>
          <a:xfrm>
            <a:off x="5440680" y="4572000"/>
            <a:ext cx="2331720" cy="411480"/>
          </a:xfrm>
          <a:prstGeom prst="rect">
            <a:avLst/>
          </a:prstGeom>
          <a:noFill/>
          <a:ln/>
        </p:spPr>
        <p:txBody>
          <a:bodyPr wrap="square" lIns="0" tIns="0" rIns="0" bIns="0" rtlCol="0" anchor="ctr"/>
          <a:lstStyle/>
          <a:p>
            <a:pPr indent="0" marL="0">
              <a:buNone/>
            </a:pPr>
            <a:r>
              <a:rPr lang="ru-RU" sz="1400" dirty="0">
                <a:solidFill>
                  <a:schemeClr val="tx2"/>
                </a:solidFill>
              </a:rPr>
              <a:t>вода в городах</a:t>
            </a:r>
            <a:endParaRPr lang="ru-RU" sz="1400" dirty="0"/>
          </a:p>
        </p:txBody>
      </p:sp>
      <p:sp>
        <p:nvSpPr>
          <p:cNvPr id="27" name="a_06_e2"/>
          <p:cNvSpPr/>
          <p:nvPr/>
        </p:nvSpPr>
        <p:spPr>
          <a:xfrm>
            <a:off x="8046720" y="3977640"/>
            <a:ext cx="3566160" cy="1188720"/>
          </a:xfrm>
          <a:prstGeom prst="roundRect">
            <a:avLst>
              <a:gd name="adj" fmla="val 9231"/>
            </a:avLst>
          </a:prstGeom>
          <a:solidFill>
            <a:schemeClr val="bg2"/>
          </a:solidFill>
          <a:ln w="9525">
            <a:solidFill>
              <a:schemeClr val="bg2"/>
            </a:solidFill>
            <a:prstDash val="solid"/>
          </a:ln>
        </p:spPr>
      </p:sp>
      <p:sp>
        <p:nvSpPr>
          <p:cNvPr id="28" name="a_06_ed2_c"/>
          <p:cNvSpPr/>
          <p:nvPr/>
        </p:nvSpPr>
        <p:spPr>
          <a:xfrm>
            <a:off x="8275320" y="4206240"/>
            <a:ext cx="731520" cy="731520"/>
          </a:xfrm>
          <a:prstGeom prst="ellipse">
            <a:avLst/>
          </a:prstGeom>
          <a:solidFill>
            <a:schemeClr val="accent4"/>
          </a:solidFill>
          <a:ln w="12700">
            <a:solidFill>
              <a:schemeClr val="accent4"/>
            </a:solidFill>
            <a:prstDash val="solid"/>
          </a:ln>
        </p:spPr>
      </p:sp>
      <p:pic>
        <p:nvPicPr>
          <p:cNvPr id="29" name="a_06_ed2_i" descr="/tmp/claude-0/-home-user-musor/c6980a0f-2a52-569f-a1fc-691d09a5d10f/scratchpad/biz/icons/mail_w.png">    </p:cNvPr>
          <p:cNvPicPr>
            <a:picLocks noChangeAspect="1"/>
          </p:cNvPicPr>
          <p:nvPr/>
        </p:nvPicPr>
        <p:blipFill>
          <a:blip r:embed="rId5"/>
          <a:stretch>
            <a:fillRect/>
          </a:stretch>
        </p:blipFill>
        <p:spPr>
          <a:xfrm>
            <a:off x="8465515" y="4396435"/>
            <a:ext cx="351130" cy="351130"/>
          </a:xfrm>
          <a:prstGeom prst="rect">
            <a:avLst/>
          </a:prstGeom>
        </p:spPr>
      </p:pic>
      <p:sp>
        <p:nvSpPr>
          <p:cNvPr id="30" name="a_06_et2"/>
          <p:cNvSpPr txBox="1"/>
          <p:nvPr/>
        </p:nvSpPr>
        <p:spPr>
          <a:xfrm>
            <a:off x="9189720" y="4160520"/>
            <a:ext cx="2331720" cy="411480"/>
          </a:xfrm>
          <a:prstGeom prst="rect">
            <a:avLst/>
          </a:prstGeom>
          <a:noFill/>
          <a:ln/>
        </p:spPr>
        <p:txBody>
          <a:bodyPr wrap="square" lIns="0" tIns="0" rIns="0" bIns="0" rtlCol="0" anchor="ctr"/>
          <a:lstStyle/>
          <a:p>
            <a:pPr indent="0" marL="0">
              <a:buNone/>
            </a:pPr>
            <a:r>
              <a:rPr lang="ru-RU" sz="1600" b="1" dirty="0">
                <a:solidFill>
                  <a:schemeClr val="tx1"/>
                </a:solidFill>
              </a:rPr>
              <a:t>«Почта России»</a:t>
            </a:r>
            <a:endParaRPr lang="ru-RU" sz="1600" dirty="0"/>
          </a:p>
        </p:txBody>
      </p:sp>
      <p:sp>
        <p:nvSpPr>
          <p:cNvPr id="31" name="a_06_ex2"/>
          <p:cNvSpPr txBox="1"/>
          <p:nvPr/>
        </p:nvSpPr>
        <p:spPr>
          <a:xfrm>
            <a:off x="9189720" y="4572000"/>
            <a:ext cx="2331720" cy="411480"/>
          </a:xfrm>
          <a:prstGeom prst="rect">
            <a:avLst/>
          </a:prstGeom>
          <a:noFill/>
          <a:ln/>
        </p:spPr>
        <p:txBody>
          <a:bodyPr wrap="square" lIns="0" tIns="0" rIns="0" bIns="0" rtlCol="0" anchor="ctr"/>
          <a:lstStyle/>
          <a:p>
            <a:pPr indent="0" marL="0">
              <a:buNone/>
            </a:pPr>
            <a:r>
              <a:rPr lang="ru-RU" sz="1400" dirty="0">
                <a:solidFill>
                  <a:schemeClr val="tx2"/>
                </a:solidFill>
              </a:rPr>
              <a:t>ФГУП → АО в 2019 году</a:t>
            </a:r>
            <a:endParaRPr lang="ru-RU" sz="1400" dirty="0"/>
          </a:p>
        </p:txBody>
      </p:sp>
      <p:sp>
        <p:nvSpPr>
          <p:cNvPr id="32" name="a_07_rib"/>
          <p:cNvSpPr/>
          <p:nvPr/>
        </p:nvSpPr>
        <p:spPr>
          <a:xfrm>
            <a:off x="548640" y="5394960"/>
            <a:ext cx="11064240" cy="731520"/>
          </a:xfrm>
          <a:prstGeom prst="roundRect">
            <a:avLst>
              <a:gd name="adj" fmla="val 15000"/>
            </a:avLst>
          </a:prstGeom>
          <a:solidFill>
            <a:schemeClr val="accent3"/>
          </a:solidFill>
          <a:ln w="9525">
            <a:solidFill>
              <a:schemeClr val="accent3"/>
            </a:solidFill>
            <a:prstDash val="solid"/>
          </a:ln>
        </p:spPr>
      </p:sp>
      <p:sp>
        <p:nvSpPr>
          <p:cNvPr id="33" name="a_07_ribt"/>
          <p:cNvSpPr txBox="1"/>
          <p:nvPr/>
        </p:nvSpPr>
        <p:spPr>
          <a:xfrm>
            <a:off x="822960" y="5394960"/>
            <a:ext cx="10607040" cy="731520"/>
          </a:xfrm>
          <a:prstGeom prst="rect">
            <a:avLst/>
          </a:prstGeom>
          <a:noFill/>
          <a:ln/>
        </p:spPr>
        <p:txBody>
          <a:bodyPr wrap="square" lIns="0" tIns="0" rIns="0" bIns="0" rtlCol="0" anchor="ctr"/>
          <a:lstStyle/>
          <a:p>
            <a:pPr indent="0" marL="0">
              <a:buNone/>
            </a:pPr>
            <a:r>
              <a:rPr lang="ru-RU" sz="1500" b="1" dirty="0">
                <a:solidFill>
                  <a:schemeClr val="tx1"/>
                </a:solidFill>
              </a:rPr>
              <a:t>Закон 2019 года: новые ГУП и МУП на конкурентных рынках создавать нельзя — государство сокращает их число</a:t>
            </a:r>
            <a:endParaRPr lang="ru-RU"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ru-RU"/>
              <a:t>7</a:t>
            </a:fld>
            <a:endParaRPr lang="ru-RU"/>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25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00"/>
                                        <p:tgtEl>
                                          <p:spTgt spid="5"/>
                                        </p:tgtEl>
                                      </p:cBhvr>
                                    </p:animEffect>
                                    <p:anim calcmode="lin" valueType="num">
                                      <p:cBhvr>
                                        <p:cTn id="8" dur="600" fill="hold"/>
                                        <p:tgtEl>
                                          <p:spTgt spid="5"/>
                                        </p:tgtEl>
                                        <p:attrNameLst>
                                          <p:attrName>ppt_x</p:attrName>
                                        </p:attrNameLst>
                                      </p:cBhvr>
                                      <p:tavLst>
                                        <p:tav tm="0">
                                          <p:val>
                                            <p:strVal val="#ppt_x"/>
                                          </p:val>
                                        </p:tav>
                                        <p:tav tm="100000">
                                          <p:val>
                                            <p:strVal val="#ppt_x"/>
                                          </p:val>
                                        </p:tav>
                                      </p:tavLst>
                                    </p:anim>
                                    <p:anim calcmode="lin" valueType="num">
                                      <p:cBhvr>
                                        <p:cTn id="9" dur="600" decel="100000" fill="hold"/>
                                        <p:tgtEl>
                                          <p:spTgt spid="5"/>
                                        </p:tgtEl>
                                        <p:attrNameLst>
                                          <p:attrName>ppt_y</p:attrName>
                                        </p:attrNameLst>
                                      </p:cBhvr>
                                      <p:tavLst>
                                        <p:tav tm="0">
                                          <p:val>
                                            <p:strVal val="#ppt_y+.05"/>
                                          </p:val>
                                        </p:tav>
                                        <p:tav tm="100000">
                                          <p:val>
                                            <p:strVal val="#ppt_y"/>
                                          </p:val>
                                        </p:tav>
                                      </p:tavLst>
                                    </p:anim>
                                  </p:childTnLst>
                                </p:cTn>
                              </p:par>
                            </p:childTnLst>
                          </p:cTn>
                        </p:par>
                        <p:par>
                          <p:cTn id="10" fill="hold">
                            <p:stCondLst>
                              <p:cond delay="250"/>
                            </p:stCondLst>
                            <p:childTnLst>
                              <p:par>
                                <p:cTn id="11" presetID="42"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600"/>
                                        <p:tgtEl>
                                          <p:spTgt spid="6"/>
                                        </p:tgtEl>
                                      </p:cBhvr>
                                    </p:animEffect>
                                    <p:anim calcmode="lin" valueType="num">
                                      <p:cBhvr>
                                        <p:cTn id="14" dur="600" fill="hold"/>
                                        <p:tgtEl>
                                          <p:spTgt spid="6"/>
                                        </p:tgtEl>
                                        <p:attrNameLst>
                                          <p:attrName>ppt_x</p:attrName>
                                        </p:attrNameLst>
                                      </p:cBhvr>
                                      <p:tavLst>
                                        <p:tav tm="0">
                                          <p:val>
                                            <p:strVal val="#ppt_x"/>
                                          </p:val>
                                        </p:tav>
                                        <p:tav tm="100000">
                                          <p:val>
                                            <p:strVal val="#ppt_x"/>
                                          </p:val>
                                        </p:tav>
                                      </p:tavLst>
                                    </p:anim>
                                    <p:anim calcmode="lin" valueType="num">
                                      <p:cBhvr>
                                        <p:cTn id="15" dur="600" decel="100000" fill="hold"/>
                                        <p:tgtEl>
                                          <p:spTgt spid="6"/>
                                        </p:tgtEl>
                                        <p:attrNameLst>
                                          <p:attrName>ppt_y</p:attrName>
                                        </p:attrNameLst>
                                      </p:cBhvr>
                                      <p:tavLst>
                                        <p:tav tm="0">
                                          <p:val>
                                            <p:strVal val="#ppt_y+.05"/>
                                          </p:val>
                                        </p:tav>
                                        <p:tav tm="100000">
                                          <p:val>
                                            <p:strVal val="#ppt_y"/>
                                          </p:val>
                                        </p:tav>
                                      </p:tavLst>
                                    </p:anim>
                                  </p:childTnLst>
                                </p:cTn>
                              </p:par>
                            </p:childTnLst>
                          </p:cTn>
                        </p:par>
                        <p:par>
                          <p:cTn id="16" fill="hold">
                            <p:stCondLst>
                              <p:cond delay="250"/>
                            </p:stCondLst>
                            <p:childTnLst>
                              <p:par>
                                <p:cTn id="17" presetID="42"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600"/>
                                        <p:tgtEl>
                                          <p:spTgt spid="7"/>
                                        </p:tgtEl>
                                      </p:cBhvr>
                                    </p:animEffect>
                                    <p:anim calcmode="lin" valueType="num">
                                      <p:cBhvr>
                                        <p:cTn id="20" dur="600" fill="hold"/>
                                        <p:tgtEl>
                                          <p:spTgt spid="7"/>
                                        </p:tgtEl>
                                        <p:attrNameLst>
                                          <p:attrName>ppt_x</p:attrName>
                                        </p:attrNameLst>
                                      </p:cBhvr>
                                      <p:tavLst>
                                        <p:tav tm="0">
                                          <p:val>
                                            <p:strVal val="#ppt_x"/>
                                          </p:val>
                                        </p:tav>
                                        <p:tav tm="100000">
                                          <p:val>
                                            <p:strVal val="#ppt_x"/>
                                          </p:val>
                                        </p:tav>
                                      </p:tavLst>
                                    </p:anim>
                                    <p:anim calcmode="lin" valueType="num">
                                      <p:cBhvr>
                                        <p:cTn id="21" dur="600" decel="100000" fill="hold"/>
                                        <p:tgtEl>
                                          <p:spTgt spid="7"/>
                                        </p:tgtEl>
                                        <p:attrNameLst>
                                          <p:attrName>ppt_y</p:attrName>
                                        </p:attrNameLst>
                                      </p:cBhvr>
                                      <p:tavLst>
                                        <p:tav tm="0">
                                          <p:val>
                                            <p:strVal val="#ppt_y+.05"/>
                                          </p:val>
                                        </p:tav>
                                        <p:tav tm="100000">
                                          <p:val>
                                            <p:strVal val="#ppt_y"/>
                                          </p:val>
                                        </p:tav>
                                      </p:tavLst>
                                    </p:anim>
                                  </p:childTnLst>
                                </p:cTn>
                              </p:par>
                            </p:childTnLst>
                          </p:cTn>
                        </p:par>
                        <p:par>
                          <p:cTn id="22" fill="hold">
                            <p:stCondLst>
                              <p:cond delay="250"/>
                            </p:stCondLst>
                            <p:childTnLst>
                              <p:par>
                                <p:cTn id="23" presetID="42" presetClass="entr" presetSubtype="0"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600"/>
                                        <p:tgtEl>
                                          <p:spTgt spid="8"/>
                                        </p:tgtEl>
                                      </p:cBhvr>
                                    </p:animEffect>
                                    <p:anim calcmode="lin" valueType="num">
                                      <p:cBhvr>
                                        <p:cTn id="26" dur="600" fill="hold"/>
                                        <p:tgtEl>
                                          <p:spTgt spid="8"/>
                                        </p:tgtEl>
                                        <p:attrNameLst>
                                          <p:attrName>ppt_x</p:attrName>
                                        </p:attrNameLst>
                                      </p:cBhvr>
                                      <p:tavLst>
                                        <p:tav tm="0">
                                          <p:val>
                                            <p:strVal val="#ppt_x"/>
                                          </p:val>
                                        </p:tav>
                                        <p:tav tm="100000">
                                          <p:val>
                                            <p:strVal val="#ppt_x"/>
                                          </p:val>
                                        </p:tav>
                                      </p:tavLst>
                                    </p:anim>
                                    <p:anim calcmode="lin" valueType="num">
                                      <p:cBhvr>
                                        <p:cTn id="27" dur="600" decel="100000" fill="hold"/>
                                        <p:tgtEl>
                                          <p:spTgt spid="8"/>
                                        </p:tgtEl>
                                        <p:attrNameLst>
                                          <p:attrName>ppt_y</p:attrName>
                                        </p:attrNameLst>
                                      </p:cBhvr>
                                      <p:tavLst>
                                        <p:tav tm="0">
                                          <p:val>
                                            <p:strVal val="#ppt_y+.05"/>
                                          </p:val>
                                        </p:tav>
                                        <p:tav tm="100000">
                                          <p:val>
                                            <p:strVal val="#ppt_y"/>
                                          </p:val>
                                        </p:tav>
                                      </p:tavLst>
                                    </p:anim>
                                  </p:childTnLst>
                                </p:cTn>
                              </p:par>
                            </p:childTnLst>
                          </p:cTn>
                        </p:par>
                        <p:par>
                          <p:cTn id="28" fill="hold">
                            <p:stCondLst>
                              <p:cond delay="250"/>
                            </p:stCondLst>
                            <p:childTnLst>
                              <p:par>
                                <p:cTn id="29" presetID="42" presetClass="entr" presetSubtype="0" fill="hold" grpId="0" nodeType="with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fade">
                                      <p:cBhvr>
                                        <p:cTn id="31" dur="600"/>
                                        <p:tgtEl>
                                          <p:spTgt spid="9"/>
                                        </p:tgtEl>
                                      </p:cBhvr>
                                    </p:animEffect>
                                    <p:anim calcmode="lin" valueType="num">
                                      <p:cBhvr>
                                        <p:cTn id="32" dur="600" fill="hold"/>
                                        <p:tgtEl>
                                          <p:spTgt spid="9"/>
                                        </p:tgtEl>
                                        <p:attrNameLst>
                                          <p:attrName>ppt_x</p:attrName>
                                        </p:attrNameLst>
                                      </p:cBhvr>
                                      <p:tavLst>
                                        <p:tav tm="0">
                                          <p:val>
                                            <p:strVal val="#ppt_x"/>
                                          </p:val>
                                        </p:tav>
                                        <p:tav tm="100000">
                                          <p:val>
                                            <p:strVal val="#ppt_x"/>
                                          </p:val>
                                        </p:tav>
                                      </p:tavLst>
                                    </p:anim>
                                    <p:anim calcmode="lin" valueType="num">
                                      <p:cBhvr>
                                        <p:cTn id="33" dur="600" decel="100000" fill="hold"/>
                                        <p:tgtEl>
                                          <p:spTgt spid="9"/>
                                        </p:tgtEl>
                                        <p:attrNameLst>
                                          <p:attrName>ppt_y</p:attrName>
                                        </p:attrNameLst>
                                      </p:cBhvr>
                                      <p:tavLst>
                                        <p:tav tm="0">
                                          <p:val>
                                            <p:strVal val="#ppt_y+.05"/>
                                          </p:val>
                                        </p:tav>
                                        <p:tav tm="100000">
                                          <p:val>
                                            <p:strVal val="#ppt_y"/>
                                          </p:val>
                                        </p:tav>
                                      </p:tavLst>
                                    </p:anim>
                                  </p:childTnLst>
                                </p:cTn>
                              </p:par>
                            </p:childTnLst>
                          </p:cTn>
                        </p:par>
                        <p:par>
                          <p:cTn id="34" fill="hold">
                            <p:stCondLst>
                              <p:cond delay="700"/>
                            </p:stCondLst>
                            <p:childTnLst>
                              <p:par>
                                <p:cTn id="35" presetID="42" presetClass="entr" presetSubtype="0" fill="hold" grpId="0" nodeType="with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600"/>
                                        <p:tgtEl>
                                          <p:spTgt spid="10"/>
                                        </p:tgtEl>
                                      </p:cBhvr>
                                    </p:animEffect>
                                    <p:anim calcmode="lin" valueType="num">
                                      <p:cBhvr>
                                        <p:cTn id="38" dur="600" fill="hold"/>
                                        <p:tgtEl>
                                          <p:spTgt spid="10"/>
                                        </p:tgtEl>
                                        <p:attrNameLst>
                                          <p:attrName>ppt_x</p:attrName>
                                        </p:attrNameLst>
                                      </p:cBhvr>
                                      <p:tavLst>
                                        <p:tav tm="0">
                                          <p:val>
                                            <p:strVal val="#ppt_x"/>
                                          </p:val>
                                        </p:tav>
                                        <p:tav tm="100000">
                                          <p:val>
                                            <p:strVal val="#ppt_x"/>
                                          </p:val>
                                        </p:tav>
                                      </p:tavLst>
                                    </p:anim>
                                    <p:anim calcmode="lin" valueType="num">
                                      <p:cBhvr>
                                        <p:cTn id="39" dur="600" decel="100000" fill="hold"/>
                                        <p:tgtEl>
                                          <p:spTgt spid="10"/>
                                        </p:tgtEl>
                                        <p:attrNameLst>
                                          <p:attrName>ppt_y</p:attrName>
                                        </p:attrNameLst>
                                      </p:cBhvr>
                                      <p:tavLst>
                                        <p:tav tm="0">
                                          <p:val>
                                            <p:strVal val="#ppt_y+.05"/>
                                          </p:val>
                                        </p:tav>
                                        <p:tav tm="100000">
                                          <p:val>
                                            <p:strVal val="#ppt_y"/>
                                          </p:val>
                                        </p:tav>
                                      </p:tavLst>
                                    </p:anim>
                                  </p:childTnLst>
                                </p:cTn>
                              </p:par>
                            </p:childTnLst>
                          </p:cTn>
                        </p:par>
                        <p:par>
                          <p:cTn id="40" fill="hold">
                            <p:stCondLst>
                              <p:cond delay="700"/>
                            </p:stCondLst>
                            <p:childTnLst>
                              <p:par>
                                <p:cTn id="41" presetID="42" presetClass="entr" presetSubtype="0" fill="hold" grpId="0" nodeType="withEffect">
                                  <p:stCondLst>
                                    <p:cond delay="0"/>
                                  </p:stCondLst>
                                  <p:childTnLst>
                                    <p:set>
                                      <p:cBhvr>
                                        <p:cTn id="42" dur="1" fill="hold">
                                          <p:stCondLst>
                                            <p:cond delay="0"/>
                                          </p:stCondLst>
                                        </p:cTn>
                                        <p:tgtEl>
                                          <p:spTgt spid="11"/>
                                        </p:tgtEl>
                                        <p:attrNameLst>
                                          <p:attrName>style.visibility</p:attrName>
                                        </p:attrNameLst>
                                      </p:cBhvr>
                                      <p:to>
                                        <p:strVal val="visible"/>
                                      </p:to>
                                    </p:set>
                                    <p:animEffect transition="in" filter="fade">
                                      <p:cBhvr>
                                        <p:cTn id="43" dur="600"/>
                                        <p:tgtEl>
                                          <p:spTgt spid="11"/>
                                        </p:tgtEl>
                                      </p:cBhvr>
                                    </p:animEffect>
                                    <p:anim calcmode="lin" valueType="num">
                                      <p:cBhvr>
                                        <p:cTn id="44" dur="600" fill="hold"/>
                                        <p:tgtEl>
                                          <p:spTgt spid="11"/>
                                        </p:tgtEl>
                                        <p:attrNameLst>
                                          <p:attrName>ppt_x</p:attrName>
                                        </p:attrNameLst>
                                      </p:cBhvr>
                                      <p:tavLst>
                                        <p:tav tm="0">
                                          <p:val>
                                            <p:strVal val="#ppt_x"/>
                                          </p:val>
                                        </p:tav>
                                        <p:tav tm="100000">
                                          <p:val>
                                            <p:strVal val="#ppt_x"/>
                                          </p:val>
                                        </p:tav>
                                      </p:tavLst>
                                    </p:anim>
                                    <p:anim calcmode="lin" valueType="num">
                                      <p:cBhvr>
                                        <p:cTn id="45" dur="600" decel="100000" fill="hold"/>
                                        <p:tgtEl>
                                          <p:spTgt spid="11"/>
                                        </p:tgtEl>
                                        <p:attrNameLst>
                                          <p:attrName>ppt_y</p:attrName>
                                        </p:attrNameLst>
                                      </p:cBhvr>
                                      <p:tavLst>
                                        <p:tav tm="0">
                                          <p:val>
                                            <p:strVal val="#ppt_y+.05"/>
                                          </p:val>
                                        </p:tav>
                                        <p:tav tm="100000">
                                          <p:val>
                                            <p:strVal val="#ppt_y"/>
                                          </p:val>
                                        </p:tav>
                                      </p:tavLst>
                                    </p:anim>
                                  </p:childTnLst>
                                </p:cTn>
                              </p:par>
                            </p:childTnLst>
                          </p:cTn>
                        </p:par>
                        <p:par>
                          <p:cTn id="46" fill="hold">
                            <p:stCondLst>
                              <p:cond delay="1150"/>
                            </p:stCondLst>
                            <p:childTnLst>
                              <p:par>
                                <p:cTn id="47" presetID="42" presetClass="entr" presetSubtype="0" fill="hold" grpId="0" nodeType="withEffect">
                                  <p:stCondLst>
                                    <p:cond delay="0"/>
                                  </p:stCondLst>
                                  <p:childTnLst>
                                    <p:set>
                                      <p:cBhvr>
                                        <p:cTn id="48" dur="1" fill="hold">
                                          <p:stCondLst>
                                            <p:cond delay="0"/>
                                          </p:stCondLst>
                                        </p:cTn>
                                        <p:tgtEl>
                                          <p:spTgt spid="12"/>
                                        </p:tgtEl>
                                        <p:attrNameLst>
                                          <p:attrName>style.visibility</p:attrName>
                                        </p:attrNameLst>
                                      </p:cBhvr>
                                      <p:to>
                                        <p:strVal val="visible"/>
                                      </p:to>
                                    </p:set>
                                    <p:animEffect transition="in" filter="fade">
                                      <p:cBhvr>
                                        <p:cTn id="49" dur="600"/>
                                        <p:tgtEl>
                                          <p:spTgt spid="12"/>
                                        </p:tgtEl>
                                      </p:cBhvr>
                                    </p:animEffect>
                                    <p:anim calcmode="lin" valueType="num">
                                      <p:cBhvr>
                                        <p:cTn id="50" dur="600" fill="hold"/>
                                        <p:tgtEl>
                                          <p:spTgt spid="12"/>
                                        </p:tgtEl>
                                        <p:attrNameLst>
                                          <p:attrName>ppt_x</p:attrName>
                                        </p:attrNameLst>
                                      </p:cBhvr>
                                      <p:tavLst>
                                        <p:tav tm="0">
                                          <p:val>
                                            <p:strVal val="#ppt_x"/>
                                          </p:val>
                                        </p:tav>
                                        <p:tav tm="100000">
                                          <p:val>
                                            <p:strVal val="#ppt_x"/>
                                          </p:val>
                                        </p:tav>
                                      </p:tavLst>
                                    </p:anim>
                                    <p:anim calcmode="lin" valueType="num">
                                      <p:cBhvr>
                                        <p:cTn id="51" dur="600" decel="100000" fill="hold"/>
                                        <p:tgtEl>
                                          <p:spTgt spid="12"/>
                                        </p:tgtEl>
                                        <p:attrNameLst>
                                          <p:attrName>ppt_y</p:attrName>
                                        </p:attrNameLst>
                                      </p:cBhvr>
                                      <p:tavLst>
                                        <p:tav tm="0">
                                          <p:val>
                                            <p:strVal val="#ppt_y+.05"/>
                                          </p:val>
                                        </p:tav>
                                        <p:tav tm="100000">
                                          <p:val>
                                            <p:strVal val="#ppt_y"/>
                                          </p:val>
                                        </p:tav>
                                      </p:tavLst>
                                    </p:anim>
                                  </p:childTnLst>
                                </p:cTn>
                              </p:par>
                            </p:childTnLst>
                          </p:cTn>
                        </p:par>
                        <p:par>
                          <p:cTn id="52" fill="hold">
                            <p:stCondLst>
                              <p:cond delay="1150"/>
                            </p:stCondLst>
                            <p:childTnLst>
                              <p:par>
                                <p:cTn id="53" presetID="42" presetClass="entr" presetSubtype="0" fill="hold" grpId="0" nodeType="withEffect">
                                  <p:stCondLst>
                                    <p:cond delay="0"/>
                                  </p:stCondLst>
                                  <p:childTnLst>
                                    <p:set>
                                      <p:cBhvr>
                                        <p:cTn id="54" dur="1" fill="hold">
                                          <p:stCondLst>
                                            <p:cond delay="0"/>
                                          </p:stCondLst>
                                        </p:cTn>
                                        <p:tgtEl>
                                          <p:spTgt spid="13"/>
                                        </p:tgtEl>
                                        <p:attrNameLst>
                                          <p:attrName>style.visibility</p:attrName>
                                        </p:attrNameLst>
                                      </p:cBhvr>
                                      <p:to>
                                        <p:strVal val="visible"/>
                                      </p:to>
                                    </p:set>
                                    <p:animEffect transition="in" filter="fade">
                                      <p:cBhvr>
                                        <p:cTn id="55" dur="600"/>
                                        <p:tgtEl>
                                          <p:spTgt spid="13"/>
                                        </p:tgtEl>
                                      </p:cBhvr>
                                    </p:animEffect>
                                    <p:anim calcmode="lin" valueType="num">
                                      <p:cBhvr>
                                        <p:cTn id="56" dur="600" fill="hold"/>
                                        <p:tgtEl>
                                          <p:spTgt spid="13"/>
                                        </p:tgtEl>
                                        <p:attrNameLst>
                                          <p:attrName>ppt_x</p:attrName>
                                        </p:attrNameLst>
                                      </p:cBhvr>
                                      <p:tavLst>
                                        <p:tav tm="0">
                                          <p:val>
                                            <p:strVal val="#ppt_x"/>
                                          </p:val>
                                        </p:tav>
                                        <p:tav tm="100000">
                                          <p:val>
                                            <p:strVal val="#ppt_x"/>
                                          </p:val>
                                        </p:tav>
                                      </p:tavLst>
                                    </p:anim>
                                    <p:anim calcmode="lin" valueType="num">
                                      <p:cBhvr>
                                        <p:cTn id="57" dur="600" decel="100000" fill="hold"/>
                                        <p:tgtEl>
                                          <p:spTgt spid="13"/>
                                        </p:tgtEl>
                                        <p:attrNameLst>
                                          <p:attrName>ppt_y</p:attrName>
                                        </p:attrNameLst>
                                      </p:cBhvr>
                                      <p:tavLst>
                                        <p:tav tm="0">
                                          <p:val>
                                            <p:strVal val="#ppt_y+.05"/>
                                          </p:val>
                                        </p:tav>
                                        <p:tav tm="100000">
                                          <p:val>
                                            <p:strVal val="#ppt_y"/>
                                          </p:val>
                                        </p:tav>
                                      </p:tavLst>
                                    </p:anim>
                                  </p:childTnLst>
                                </p:cTn>
                              </p:par>
                            </p:childTnLst>
                          </p:cTn>
                        </p:par>
                        <p:par>
                          <p:cTn id="58" fill="hold">
                            <p:stCondLst>
                              <p:cond delay="1150"/>
                            </p:stCondLst>
                            <p:childTnLst>
                              <p:par>
                                <p:cTn id="59" presetID="42" presetClass="entr" presetSubtype="0" fill="hold" grpId="0" nodeType="withEffect">
                                  <p:stCondLst>
                                    <p:cond delay="0"/>
                                  </p:stCondLst>
                                  <p:childTnLst>
                                    <p:set>
                                      <p:cBhvr>
                                        <p:cTn id="60" dur="1" fill="hold">
                                          <p:stCondLst>
                                            <p:cond delay="0"/>
                                          </p:stCondLst>
                                        </p:cTn>
                                        <p:tgtEl>
                                          <p:spTgt spid="14"/>
                                        </p:tgtEl>
                                        <p:attrNameLst>
                                          <p:attrName>style.visibility</p:attrName>
                                        </p:attrNameLst>
                                      </p:cBhvr>
                                      <p:to>
                                        <p:strVal val="visible"/>
                                      </p:to>
                                    </p:set>
                                    <p:animEffect transition="in" filter="fade">
                                      <p:cBhvr>
                                        <p:cTn id="61" dur="600"/>
                                        <p:tgtEl>
                                          <p:spTgt spid="14"/>
                                        </p:tgtEl>
                                      </p:cBhvr>
                                    </p:animEffect>
                                    <p:anim calcmode="lin" valueType="num">
                                      <p:cBhvr>
                                        <p:cTn id="62" dur="600" fill="hold"/>
                                        <p:tgtEl>
                                          <p:spTgt spid="14"/>
                                        </p:tgtEl>
                                        <p:attrNameLst>
                                          <p:attrName>ppt_x</p:attrName>
                                        </p:attrNameLst>
                                      </p:cBhvr>
                                      <p:tavLst>
                                        <p:tav tm="0">
                                          <p:val>
                                            <p:strVal val="#ppt_x"/>
                                          </p:val>
                                        </p:tav>
                                        <p:tav tm="100000">
                                          <p:val>
                                            <p:strVal val="#ppt_x"/>
                                          </p:val>
                                        </p:tav>
                                      </p:tavLst>
                                    </p:anim>
                                    <p:anim calcmode="lin" valueType="num">
                                      <p:cBhvr>
                                        <p:cTn id="63" dur="600" decel="100000" fill="hold"/>
                                        <p:tgtEl>
                                          <p:spTgt spid="14"/>
                                        </p:tgtEl>
                                        <p:attrNameLst>
                                          <p:attrName>ppt_y</p:attrName>
                                        </p:attrNameLst>
                                      </p:cBhvr>
                                      <p:tavLst>
                                        <p:tav tm="0">
                                          <p:val>
                                            <p:strVal val="#ppt_y+.05"/>
                                          </p:val>
                                        </p:tav>
                                        <p:tav tm="100000">
                                          <p:val>
                                            <p:strVal val="#ppt_y"/>
                                          </p:val>
                                        </p:tav>
                                      </p:tavLst>
                                    </p:anim>
                                  </p:childTnLst>
                                </p:cTn>
                              </p:par>
                            </p:childTnLst>
                          </p:cTn>
                        </p:par>
                        <p:par>
                          <p:cTn id="64" fill="hold">
                            <p:stCondLst>
                              <p:cond delay="1150"/>
                            </p:stCondLst>
                            <p:childTnLst>
                              <p:par>
                                <p:cTn id="65" presetID="42" presetClass="entr" presetSubtype="0" fill="hold" grpId="0" nodeType="withEffect">
                                  <p:stCondLst>
                                    <p:cond delay="0"/>
                                  </p:stCondLst>
                                  <p:childTnLst>
                                    <p:set>
                                      <p:cBhvr>
                                        <p:cTn id="66" dur="1" fill="hold">
                                          <p:stCondLst>
                                            <p:cond delay="0"/>
                                          </p:stCondLst>
                                        </p:cTn>
                                        <p:tgtEl>
                                          <p:spTgt spid="15"/>
                                        </p:tgtEl>
                                        <p:attrNameLst>
                                          <p:attrName>style.visibility</p:attrName>
                                        </p:attrNameLst>
                                      </p:cBhvr>
                                      <p:to>
                                        <p:strVal val="visible"/>
                                      </p:to>
                                    </p:set>
                                    <p:animEffect transition="in" filter="fade">
                                      <p:cBhvr>
                                        <p:cTn id="67" dur="600"/>
                                        <p:tgtEl>
                                          <p:spTgt spid="15"/>
                                        </p:tgtEl>
                                      </p:cBhvr>
                                    </p:animEffect>
                                    <p:anim calcmode="lin" valueType="num">
                                      <p:cBhvr>
                                        <p:cTn id="68" dur="600" fill="hold"/>
                                        <p:tgtEl>
                                          <p:spTgt spid="15"/>
                                        </p:tgtEl>
                                        <p:attrNameLst>
                                          <p:attrName>ppt_x</p:attrName>
                                        </p:attrNameLst>
                                      </p:cBhvr>
                                      <p:tavLst>
                                        <p:tav tm="0">
                                          <p:val>
                                            <p:strVal val="#ppt_x"/>
                                          </p:val>
                                        </p:tav>
                                        <p:tav tm="100000">
                                          <p:val>
                                            <p:strVal val="#ppt_x"/>
                                          </p:val>
                                        </p:tav>
                                      </p:tavLst>
                                    </p:anim>
                                    <p:anim calcmode="lin" valueType="num">
                                      <p:cBhvr>
                                        <p:cTn id="69" dur="600" decel="100000" fill="hold"/>
                                        <p:tgtEl>
                                          <p:spTgt spid="15"/>
                                        </p:tgtEl>
                                        <p:attrNameLst>
                                          <p:attrName>ppt_y</p:attrName>
                                        </p:attrNameLst>
                                      </p:cBhvr>
                                      <p:tavLst>
                                        <p:tav tm="0">
                                          <p:val>
                                            <p:strVal val="#ppt_y+.05"/>
                                          </p:val>
                                        </p:tav>
                                        <p:tav tm="100000">
                                          <p:val>
                                            <p:strVal val="#ppt_y"/>
                                          </p:val>
                                        </p:tav>
                                      </p:tavLst>
                                    </p:anim>
                                  </p:childTnLst>
                                </p:cTn>
                              </p:par>
                            </p:childTnLst>
                          </p:cTn>
                        </p:par>
                        <p:par>
                          <p:cTn id="70" fill="hold">
                            <p:stCondLst>
                              <p:cond delay="1150"/>
                            </p:stCondLst>
                            <p:childTnLst>
                              <p:par>
                                <p:cTn id="71" presetID="42" presetClass="entr" presetSubtype="0" fill="hold" grpId="0" nodeType="withEffect">
                                  <p:stCondLst>
                                    <p:cond delay="0"/>
                                  </p:stCondLst>
                                  <p:childTnLst>
                                    <p:set>
                                      <p:cBhvr>
                                        <p:cTn id="72" dur="1" fill="hold">
                                          <p:stCondLst>
                                            <p:cond delay="0"/>
                                          </p:stCondLst>
                                        </p:cTn>
                                        <p:tgtEl>
                                          <p:spTgt spid="16"/>
                                        </p:tgtEl>
                                        <p:attrNameLst>
                                          <p:attrName>style.visibility</p:attrName>
                                        </p:attrNameLst>
                                      </p:cBhvr>
                                      <p:to>
                                        <p:strVal val="visible"/>
                                      </p:to>
                                    </p:set>
                                    <p:animEffect transition="in" filter="fade">
                                      <p:cBhvr>
                                        <p:cTn id="73" dur="600"/>
                                        <p:tgtEl>
                                          <p:spTgt spid="16"/>
                                        </p:tgtEl>
                                      </p:cBhvr>
                                    </p:animEffect>
                                    <p:anim calcmode="lin" valueType="num">
                                      <p:cBhvr>
                                        <p:cTn id="74" dur="600" fill="hold"/>
                                        <p:tgtEl>
                                          <p:spTgt spid="16"/>
                                        </p:tgtEl>
                                        <p:attrNameLst>
                                          <p:attrName>ppt_x</p:attrName>
                                        </p:attrNameLst>
                                      </p:cBhvr>
                                      <p:tavLst>
                                        <p:tav tm="0">
                                          <p:val>
                                            <p:strVal val="#ppt_x"/>
                                          </p:val>
                                        </p:tav>
                                        <p:tav tm="100000">
                                          <p:val>
                                            <p:strVal val="#ppt_x"/>
                                          </p:val>
                                        </p:tav>
                                      </p:tavLst>
                                    </p:anim>
                                    <p:anim calcmode="lin" valueType="num">
                                      <p:cBhvr>
                                        <p:cTn id="75" dur="600" decel="100000" fill="hold"/>
                                        <p:tgtEl>
                                          <p:spTgt spid="16"/>
                                        </p:tgtEl>
                                        <p:attrNameLst>
                                          <p:attrName>ppt_y</p:attrName>
                                        </p:attrNameLst>
                                      </p:cBhvr>
                                      <p:tavLst>
                                        <p:tav tm="0">
                                          <p:val>
                                            <p:strVal val="#ppt_y+.05"/>
                                          </p:val>
                                        </p:tav>
                                        <p:tav tm="100000">
                                          <p:val>
                                            <p:strVal val="#ppt_y"/>
                                          </p:val>
                                        </p:tav>
                                      </p:tavLst>
                                    </p:anim>
                                  </p:childTnLst>
                                </p:cTn>
                              </p:par>
                            </p:childTnLst>
                          </p:cTn>
                        </p:par>
                        <p:par>
                          <p:cTn id="76" fill="hold">
                            <p:stCondLst>
                              <p:cond delay="1600"/>
                            </p:stCondLst>
                            <p:childTnLst>
                              <p:par>
                                <p:cTn id="77" presetID="42" presetClass="entr" presetSubtype="0" fill="hold" grpId="0" nodeType="withEffect">
                                  <p:stCondLst>
                                    <p:cond delay="0"/>
                                  </p:stCondLst>
                                  <p:childTnLst>
                                    <p:set>
                                      <p:cBhvr>
                                        <p:cTn id="78" dur="1" fill="hold">
                                          <p:stCondLst>
                                            <p:cond delay="0"/>
                                          </p:stCondLst>
                                        </p:cTn>
                                        <p:tgtEl>
                                          <p:spTgt spid="17"/>
                                        </p:tgtEl>
                                        <p:attrNameLst>
                                          <p:attrName>style.visibility</p:attrName>
                                        </p:attrNameLst>
                                      </p:cBhvr>
                                      <p:to>
                                        <p:strVal val="visible"/>
                                      </p:to>
                                    </p:set>
                                    <p:animEffect transition="in" filter="fade">
                                      <p:cBhvr>
                                        <p:cTn id="79" dur="600"/>
                                        <p:tgtEl>
                                          <p:spTgt spid="17"/>
                                        </p:tgtEl>
                                      </p:cBhvr>
                                    </p:animEffect>
                                    <p:anim calcmode="lin" valueType="num">
                                      <p:cBhvr>
                                        <p:cTn id="80" dur="600" fill="hold"/>
                                        <p:tgtEl>
                                          <p:spTgt spid="17"/>
                                        </p:tgtEl>
                                        <p:attrNameLst>
                                          <p:attrName>ppt_x</p:attrName>
                                        </p:attrNameLst>
                                      </p:cBhvr>
                                      <p:tavLst>
                                        <p:tav tm="0">
                                          <p:val>
                                            <p:strVal val="#ppt_x"/>
                                          </p:val>
                                        </p:tav>
                                        <p:tav tm="100000">
                                          <p:val>
                                            <p:strVal val="#ppt_x"/>
                                          </p:val>
                                        </p:tav>
                                      </p:tavLst>
                                    </p:anim>
                                    <p:anim calcmode="lin" valueType="num">
                                      <p:cBhvr>
                                        <p:cTn id="81" dur="600" decel="100000" fill="hold"/>
                                        <p:tgtEl>
                                          <p:spTgt spid="17"/>
                                        </p:tgtEl>
                                        <p:attrNameLst>
                                          <p:attrName>ppt_y</p:attrName>
                                        </p:attrNameLst>
                                      </p:cBhvr>
                                      <p:tavLst>
                                        <p:tav tm="0">
                                          <p:val>
                                            <p:strVal val="#ppt_y+.05"/>
                                          </p:val>
                                        </p:tav>
                                        <p:tav tm="100000">
                                          <p:val>
                                            <p:strVal val="#ppt_y"/>
                                          </p:val>
                                        </p:tav>
                                      </p:tavLst>
                                    </p:anim>
                                  </p:childTnLst>
                                </p:cTn>
                              </p:par>
                            </p:childTnLst>
                          </p:cTn>
                        </p:par>
                        <p:par>
                          <p:cTn id="82" fill="hold">
                            <p:stCondLst>
                              <p:cond delay="1600"/>
                            </p:stCondLst>
                            <p:childTnLst>
                              <p:par>
                                <p:cTn id="83" presetID="42" presetClass="entr" presetSubtype="0" fill="hold" grpId="0" nodeType="withEffect">
                                  <p:stCondLst>
                                    <p:cond delay="0"/>
                                  </p:stCondLst>
                                  <p:childTnLst>
                                    <p:set>
                                      <p:cBhvr>
                                        <p:cTn id="84" dur="1" fill="hold">
                                          <p:stCondLst>
                                            <p:cond delay="0"/>
                                          </p:stCondLst>
                                        </p:cTn>
                                        <p:tgtEl>
                                          <p:spTgt spid="18"/>
                                        </p:tgtEl>
                                        <p:attrNameLst>
                                          <p:attrName>style.visibility</p:attrName>
                                        </p:attrNameLst>
                                      </p:cBhvr>
                                      <p:to>
                                        <p:strVal val="visible"/>
                                      </p:to>
                                    </p:set>
                                    <p:animEffect transition="in" filter="fade">
                                      <p:cBhvr>
                                        <p:cTn id="85" dur="600"/>
                                        <p:tgtEl>
                                          <p:spTgt spid="18"/>
                                        </p:tgtEl>
                                      </p:cBhvr>
                                    </p:animEffect>
                                    <p:anim calcmode="lin" valueType="num">
                                      <p:cBhvr>
                                        <p:cTn id="86" dur="600" fill="hold"/>
                                        <p:tgtEl>
                                          <p:spTgt spid="18"/>
                                        </p:tgtEl>
                                        <p:attrNameLst>
                                          <p:attrName>ppt_x</p:attrName>
                                        </p:attrNameLst>
                                      </p:cBhvr>
                                      <p:tavLst>
                                        <p:tav tm="0">
                                          <p:val>
                                            <p:strVal val="#ppt_x"/>
                                          </p:val>
                                        </p:tav>
                                        <p:tav tm="100000">
                                          <p:val>
                                            <p:strVal val="#ppt_x"/>
                                          </p:val>
                                        </p:tav>
                                      </p:tavLst>
                                    </p:anim>
                                    <p:anim calcmode="lin" valueType="num">
                                      <p:cBhvr>
                                        <p:cTn id="87" dur="600" decel="100000" fill="hold"/>
                                        <p:tgtEl>
                                          <p:spTgt spid="18"/>
                                        </p:tgtEl>
                                        <p:attrNameLst>
                                          <p:attrName>ppt_y</p:attrName>
                                        </p:attrNameLst>
                                      </p:cBhvr>
                                      <p:tavLst>
                                        <p:tav tm="0">
                                          <p:val>
                                            <p:strVal val="#ppt_y+.05"/>
                                          </p:val>
                                        </p:tav>
                                        <p:tav tm="100000">
                                          <p:val>
                                            <p:strVal val="#ppt_y"/>
                                          </p:val>
                                        </p:tav>
                                      </p:tavLst>
                                    </p:anim>
                                  </p:childTnLst>
                                </p:cTn>
                              </p:par>
                            </p:childTnLst>
                          </p:cTn>
                        </p:par>
                        <p:par>
                          <p:cTn id="88" fill="hold">
                            <p:stCondLst>
                              <p:cond delay="1600"/>
                            </p:stCondLst>
                            <p:childTnLst>
                              <p:par>
                                <p:cTn id="89" presetID="42" presetClass="entr" presetSubtype="0" fill="hold" grpId="0" nodeType="withEffect">
                                  <p:stCondLst>
                                    <p:cond delay="0"/>
                                  </p:stCondLst>
                                  <p:childTnLst>
                                    <p:set>
                                      <p:cBhvr>
                                        <p:cTn id="90" dur="1" fill="hold">
                                          <p:stCondLst>
                                            <p:cond delay="0"/>
                                          </p:stCondLst>
                                        </p:cTn>
                                        <p:tgtEl>
                                          <p:spTgt spid="19"/>
                                        </p:tgtEl>
                                        <p:attrNameLst>
                                          <p:attrName>style.visibility</p:attrName>
                                        </p:attrNameLst>
                                      </p:cBhvr>
                                      <p:to>
                                        <p:strVal val="visible"/>
                                      </p:to>
                                    </p:set>
                                    <p:animEffect transition="in" filter="fade">
                                      <p:cBhvr>
                                        <p:cTn id="91" dur="600"/>
                                        <p:tgtEl>
                                          <p:spTgt spid="19"/>
                                        </p:tgtEl>
                                      </p:cBhvr>
                                    </p:animEffect>
                                    <p:anim calcmode="lin" valueType="num">
                                      <p:cBhvr>
                                        <p:cTn id="92" dur="600" fill="hold"/>
                                        <p:tgtEl>
                                          <p:spTgt spid="19"/>
                                        </p:tgtEl>
                                        <p:attrNameLst>
                                          <p:attrName>ppt_x</p:attrName>
                                        </p:attrNameLst>
                                      </p:cBhvr>
                                      <p:tavLst>
                                        <p:tav tm="0">
                                          <p:val>
                                            <p:strVal val="#ppt_x"/>
                                          </p:val>
                                        </p:tav>
                                        <p:tav tm="100000">
                                          <p:val>
                                            <p:strVal val="#ppt_x"/>
                                          </p:val>
                                        </p:tav>
                                      </p:tavLst>
                                    </p:anim>
                                    <p:anim calcmode="lin" valueType="num">
                                      <p:cBhvr>
                                        <p:cTn id="93" dur="600" decel="100000" fill="hold"/>
                                        <p:tgtEl>
                                          <p:spTgt spid="19"/>
                                        </p:tgtEl>
                                        <p:attrNameLst>
                                          <p:attrName>ppt_y</p:attrName>
                                        </p:attrNameLst>
                                      </p:cBhvr>
                                      <p:tavLst>
                                        <p:tav tm="0">
                                          <p:val>
                                            <p:strVal val="#ppt_y+.05"/>
                                          </p:val>
                                        </p:tav>
                                        <p:tav tm="100000">
                                          <p:val>
                                            <p:strVal val="#ppt_y"/>
                                          </p:val>
                                        </p:tav>
                                      </p:tavLst>
                                    </p:anim>
                                  </p:childTnLst>
                                </p:cTn>
                              </p:par>
                            </p:childTnLst>
                          </p:cTn>
                        </p:par>
                        <p:par>
                          <p:cTn id="94" fill="hold">
                            <p:stCondLst>
                              <p:cond delay="1600"/>
                            </p:stCondLst>
                            <p:childTnLst>
                              <p:par>
                                <p:cTn id="95" presetID="42" presetClass="entr" presetSubtype="0" fill="hold" grpId="0" nodeType="withEffect">
                                  <p:stCondLst>
                                    <p:cond delay="0"/>
                                  </p:stCondLst>
                                  <p:childTnLst>
                                    <p:set>
                                      <p:cBhvr>
                                        <p:cTn id="96" dur="1" fill="hold">
                                          <p:stCondLst>
                                            <p:cond delay="0"/>
                                          </p:stCondLst>
                                        </p:cTn>
                                        <p:tgtEl>
                                          <p:spTgt spid="20"/>
                                        </p:tgtEl>
                                        <p:attrNameLst>
                                          <p:attrName>style.visibility</p:attrName>
                                        </p:attrNameLst>
                                      </p:cBhvr>
                                      <p:to>
                                        <p:strVal val="visible"/>
                                      </p:to>
                                    </p:set>
                                    <p:animEffect transition="in" filter="fade">
                                      <p:cBhvr>
                                        <p:cTn id="97" dur="600"/>
                                        <p:tgtEl>
                                          <p:spTgt spid="20"/>
                                        </p:tgtEl>
                                      </p:cBhvr>
                                    </p:animEffect>
                                    <p:anim calcmode="lin" valueType="num">
                                      <p:cBhvr>
                                        <p:cTn id="98" dur="600" fill="hold"/>
                                        <p:tgtEl>
                                          <p:spTgt spid="20"/>
                                        </p:tgtEl>
                                        <p:attrNameLst>
                                          <p:attrName>ppt_x</p:attrName>
                                        </p:attrNameLst>
                                      </p:cBhvr>
                                      <p:tavLst>
                                        <p:tav tm="0">
                                          <p:val>
                                            <p:strVal val="#ppt_x"/>
                                          </p:val>
                                        </p:tav>
                                        <p:tav tm="100000">
                                          <p:val>
                                            <p:strVal val="#ppt_x"/>
                                          </p:val>
                                        </p:tav>
                                      </p:tavLst>
                                    </p:anim>
                                    <p:anim calcmode="lin" valueType="num">
                                      <p:cBhvr>
                                        <p:cTn id="99" dur="600" decel="100000" fill="hold"/>
                                        <p:tgtEl>
                                          <p:spTgt spid="20"/>
                                        </p:tgtEl>
                                        <p:attrNameLst>
                                          <p:attrName>ppt_y</p:attrName>
                                        </p:attrNameLst>
                                      </p:cBhvr>
                                      <p:tavLst>
                                        <p:tav tm="0">
                                          <p:val>
                                            <p:strVal val="#ppt_y+.05"/>
                                          </p:val>
                                        </p:tav>
                                        <p:tav tm="100000">
                                          <p:val>
                                            <p:strVal val="#ppt_y"/>
                                          </p:val>
                                        </p:tav>
                                      </p:tavLst>
                                    </p:anim>
                                  </p:childTnLst>
                                </p:cTn>
                              </p:par>
                            </p:childTnLst>
                          </p:cTn>
                        </p:par>
                        <p:par>
                          <p:cTn id="100" fill="hold">
                            <p:stCondLst>
                              <p:cond delay="1600"/>
                            </p:stCondLst>
                            <p:childTnLst>
                              <p:par>
                                <p:cTn id="101" presetID="42" presetClass="entr" presetSubtype="0" fill="hold" grpId="0" nodeType="withEffect">
                                  <p:stCondLst>
                                    <p:cond delay="0"/>
                                  </p:stCondLst>
                                  <p:childTnLst>
                                    <p:set>
                                      <p:cBhvr>
                                        <p:cTn id="102" dur="1" fill="hold">
                                          <p:stCondLst>
                                            <p:cond delay="0"/>
                                          </p:stCondLst>
                                        </p:cTn>
                                        <p:tgtEl>
                                          <p:spTgt spid="21"/>
                                        </p:tgtEl>
                                        <p:attrNameLst>
                                          <p:attrName>style.visibility</p:attrName>
                                        </p:attrNameLst>
                                      </p:cBhvr>
                                      <p:to>
                                        <p:strVal val="visible"/>
                                      </p:to>
                                    </p:set>
                                    <p:animEffect transition="in" filter="fade">
                                      <p:cBhvr>
                                        <p:cTn id="103" dur="600"/>
                                        <p:tgtEl>
                                          <p:spTgt spid="21"/>
                                        </p:tgtEl>
                                      </p:cBhvr>
                                    </p:animEffect>
                                    <p:anim calcmode="lin" valueType="num">
                                      <p:cBhvr>
                                        <p:cTn id="104" dur="600" fill="hold"/>
                                        <p:tgtEl>
                                          <p:spTgt spid="21"/>
                                        </p:tgtEl>
                                        <p:attrNameLst>
                                          <p:attrName>ppt_x</p:attrName>
                                        </p:attrNameLst>
                                      </p:cBhvr>
                                      <p:tavLst>
                                        <p:tav tm="0">
                                          <p:val>
                                            <p:strVal val="#ppt_x"/>
                                          </p:val>
                                        </p:tav>
                                        <p:tav tm="100000">
                                          <p:val>
                                            <p:strVal val="#ppt_x"/>
                                          </p:val>
                                        </p:tav>
                                      </p:tavLst>
                                    </p:anim>
                                    <p:anim calcmode="lin" valueType="num">
                                      <p:cBhvr>
                                        <p:cTn id="105" dur="600" decel="100000" fill="hold"/>
                                        <p:tgtEl>
                                          <p:spTgt spid="21"/>
                                        </p:tgtEl>
                                        <p:attrNameLst>
                                          <p:attrName>ppt_y</p:attrName>
                                        </p:attrNameLst>
                                      </p:cBhvr>
                                      <p:tavLst>
                                        <p:tav tm="0">
                                          <p:val>
                                            <p:strVal val="#ppt_y+.05"/>
                                          </p:val>
                                        </p:tav>
                                        <p:tav tm="100000">
                                          <p:val>
                                            <p:strVal val="#ppt_y"/>
                                          </p:val>
                                        </p:tav>
                                      </p:tavLst>
                                    </p:anim>
                                  </p:childTnLst>
                                </p:cTn>
                              </p:par>
                            </p:childTnLst>
                          </p:cTn>
                        </p:par>
                        <p:par>
                          <p:cTn id="106" fill="hold">
                            <p:stCondLst>
                              <p:cond delay="2050"/>
                            </p:stCondLst>
                            <p:childTnLst>
                              <p:par>
                                <p:cTn id="107" presetID="42" presetClass="entr" presetSubtype="0" fill="hold" grpId="0" nodeType="withEffect">
                                  <p:stCondLst>
                                    <p:cond delay="0"/>
                                  </p:stCondLst>
                                  <p:childTnLst>
                                    <p:set>
                                      <p:cBhvr>
                                        <p:cTn id="108" dur="1" fill="hold">
                                          <p:stCondLst>
                                            <p:cond delay="0"/>
                                          </p:stCondLst>
                                        </p:cTn>
                                        <p:tgtEl>
                                          <p:spTgt spid="22"/>
                                        </p:tgtEl>
                                        <p:attrNameLst>
                                          <p:attrName>style.visibility</p:attrName>
                                        </p:attrNameLst>
                                      </p:cBhvr>
                                      <p:to>
                                        <p:strVal val="visible"/>
                                      </p:to>
                                    </p:set>
                                    <p:animEffect transition="in" filter="fade">
                                      <p:cBhvr>
                                        <p:cTn id="109" dur="600"/>
                                        <p:tgtEl>
                                          <p:spTgt spid="22"/>
                                        </p:tgtEl>
                                      </p:cBhvr>
                                    </p:animEffect>
                                    <p:anim calcmode="lin" valueType="num">
                                      <p:cBhvr>
                                        <p:cTn id="110" dur="600" fill="hold"/>
                                        <p:tgtEl>
                                          <p:spTgt spid="22"/>
                                        </p:tgtEl>
                                        <p:attrNameLst>
                                          <p:attrName>ppt_x</p:attrName>
                                        </p:attrNameLst>
                                      </p:cBhvr>
                                      <p:tavLst>
                                        <p:tav tm="0">
                                          <p:val>
                                            <p:strVal val="#ppt_x"/>
                                          </p:val>
                                        </p:tav>
                                        <p:tav tm="100000">
                                          <p:val>
                                            <p:strVal val="#ppt_x"/>
                                          </p:val>
                                        </p:tav>
                                      </p:tavLst>
                                    </p:anim>
                                    <p:anim calcmode="lin" valueType="num">
                                      <p:cBhvr>
                                        <p:cTn id="111" dur="600" decel="100000" fill="hold"/>
                                        <p:tgtEl>
                                          <p:spTgt spid="22"/>
                                        </p:tgtEl>
                                        <p:attrNameLst>
                                          <p:attrName>ppt_y</p:attrName>
                                        </p:attrNameLst>
                                      </p:cBhvr>
                                      <p:tavLst>
                                        <p:tav tm="0">
                                          <p:val>
                                            <p:strVal val="#ppt_y+.05"/>
                                          </p:val>
                                        </p:tav>
                                        <p:tav tm="100000">
                                          <p:val>
                                            <p:strVal val="#ppt_y"/>
                                          </p:val>
                                        </p:tav>
                                      </p:tavLst>
                                    </p:anim>
                                  </p:childTnLst>
                                </p:cTn>
                              </p:par>
                            </p:childTnLst>
                          </p:cTn>
                        </p:par>
                        <p:par>
                          <p:cTn id="112" fill="hold">
                            <p:stCondLst>
                              <p:cond delay="2050"/>
                            </p:stCondLst>
                            <p:childTnLst>
                              <p:par>
                                <p:cTn id="113" presetID="42" presetClass="entr" presetSubtype="0" fill="hold" grpId="0" nodeType="withEffect">
                                  <p:stCondLst>
                                    <p:cond delay="0"/>
                                  </p:stCondLst>
                                  <p:childTnLst>
                                    <p:set>
                                      <p:cBhvr>
                                        <p:cTn id="114" dur="1" fill="hold">
                                          <p:stCondLst>
                                            <p:cond delay="0"/>
                                          </p:stCondLst>
                                        </p:cTn>
                                        <p:tgtEl>
                                          <p:spTgt spid="23"/>
                                        </p:tgtEl>
                                        <p:attrNameLst>
                                          <p:attrName>style.visibility</p:attrName>
                                        </p:attrNameLst>
                                      </p:cBhvr>
                                      <p:to>
                                        <p:strVal val="visible"/>
                                      </p:to>
                                    </p:set>
                                    <p:animEffect transition="in" filter="fade">
                                      <p:cBhvr>
                                        <p:cTn id="115" dur="600"/>
                                        <p:tgtEl>
                                          <p:spTgt spid="23"/>
                                        </p:tgtEl>
                                      </p:cBhvr>
                                    </p:animEffect>
                                    <p:anim calcmode="lin" valueType="num">
                                      <p:cBhvr>
                                        <p:cTn id="116" dur="600" fill="hold"/>
                                        <p:tgtEl>
                                          <p:spTgt spid="23"/>
                                        </p:tgtEl>
                                        <p:attrNameLst>
                                          <p:attrName>ppt_x</p:attrName>
                                        </p:attrNameLst>
                                      </p:cBhvr>
                                      <p:tavLst>
                                        <p:tav tm="0">
                                          <p:val>
                                            <p:strVal val="#ppt_x"/>
                                          </p:val>
                                        </p:tav>
                                        <p:tav tm="100000">
                                          <p:val>
                                            <p:strVal val="#ppt_x"/>
                                          </p:val>
                                        </p:tav>
                                      </p:tavLst>
                                    </p:anim>
                                    <p:anim calcmode="lin" valueType="num">
                                      <p:cBhvr>
                                        <p:cTn id="117" dur="600" decel="100000" fill="hold"/>
                                        <p:tgtEl>
                                          <p:spTgt spid="23"/>
                                        </p:tgtEl>
                                        <p:attrNameLst>
                                          <p:attrName>ppt_y</p:attrName>
                                        </p:attrNameLst>
                                      </p:cBhvr>
                                      <p:tavLst>
                                        <p:tav tm="0">
                                          <p:val>
                                            <p:strVal val="#ppt_y+.05"/>
                                          </p:val>
                                        </p:tav>
                                        <p:tav tm="100000">
                                          <p:val>
                                            <p:strVal val="#ppt_y"/>
                                          </p:val>
                                        </p:tav>
                                      </p:tavLst>
                                    </p:anim>
                                  </p:childTnLst>
                                </p:cTn>
                              </p:par>
                            </p:childTnLst>
                          </p:cTn>
                        </p:par>
                        <p:par>
                          <p:cTn id="118" fill="hold">
                            <p:stCondLst>
                              <p:cond delay="2050"/>
                            </p:stCondLst>
                            <p:childTnLst>
                              <p:par>
                                <p:cTn id="119" presetID="42" presetClass="entr" presetSubtype="0" fill="hold" grpId="0" nodeType="withEffect">
                                  <p:stCondLst>
                                    <p:cond delay="0"/>
                                  </p:stCondLst>
                                  <p:childTnLst>
                                    <p:set>
                                      <p:cBhvr>
                                        <p:cTn id="120" dur="1" fill="hold">
                                          <p:stCondLst>
                                            <p:cond delay="0"/>
                                          </p:stCondLst>
                                        </p:cTn>
                                        <p:tgtEl>
                                          <p:spTgt spid="24"/>
                                        </p:tgtEl>
                                        <p:attrNameLst>
                                          <p:attrName>style.visibility</p:attrName>
                                        </p:attrNameLst>
                                      </p:cBhvr>
                                      <p:to>
                                        <p:strVal val="visible"/>
                                      </p:to>
                                    </p:set>
                                    <p:animEffect transition="in" filter="fade">
                                      <p:cBhvr>
                                        <p:cTn id="121" dur="600"/>
                                        <p:tgtEl>
                                          <p:spTgt spid="24"/>
                                        </p:tgtEl>
                                      </p:cBhvr>
                                    </p:animEffect>
                                    <p:anim calcmode="lin" valueType="num">
                                      <p:cBhvr>
                                        <p:cTn id="122" dur="600" fill="hold"/>
                                        <p:tgtEl>
                                          <p:spTgt spid="24"/>
                                        </p:tgtEl>
                                        <p:attrNameLst>
                                          <p:attrName>ppt_x</p:attrName>
                                        </p:attrNameLst>
                                      </p:cBhvr>
                                      <p:tavLst>
                                        <p:tav tm="0">
                                          <p:val>
                                            <p:strVal val="#ppt_x"/>
                                          </p:val>
                                        </p:tav>
                                        <p:tav tm="100000">
                                          <p:val>
                                            <p:strVal val="#ppt_x"/>
                                          </p:val>
                                        </p:tav>
                                      </p:tavLst>
                                    </p:anim>
                                    <p:anim calcmode="lin" valueType="num">
                                      <p:cBhvr>
                                        <p:cTn id="123" dur="600" decel="100000" fill="hold"/>
                                        <p:tgtEl>
                                          <p:spTgt spid="24"/>
                                        </p:tgtEl>
                                        <p:attrNameLst>
                                          <p:attrName>ppt_y</p:attrName>
                                        </p:attrNameLst>
                                      </p:cBhvr>
                                      <p:tavLst>
                                        <p:tav tm="0">
                                          <p:val>
                                            <p:strVal val="#ppt_y+.05"/>
                                          </p:val>
                                        </p:tav>
                                        <p:tav tm="100000">
                                          <p:val>
                                            <p:strVal val="#ppt_y"/>
                                          </p:val>
                                        </p:tav>
                                      </p:tavLst>
                                    </p:anim>
                                  </p:childTnLst>
                                </p:cTn>
                              </p:par>
                            </p:childTnLst>
                          </p:cTn>
                        </p:par>
                        <p:par>
                          <p:cTn id="124" fill="hold">
                            <p:stCondLst>
                              <p:cond delay="2050"/>
                            </p:stCondLst>
                            <p:childTnLst>
                              <p:par>
                                <p:cTn id="125" presetID="42" presetClass="entr" presetSubtype="0" fill="hold" grpId="0" nodeType="withEffect">
                                  <p:stCondLst>
                                    <p:cond delay="0"/>
                                  </p:stCondLst>
                                  <p:childTnLst>
                                    <p:set>
                                      <p:cBhvr>
                                        <p:cTn id="126" dur="1" fill="hold">
                                          <p:stCondLst>
                                            <p:cond delay="0"/>
                                          </p:stCondLst>
                                        </p:cTn>
                                        <p:tgtEl>
                                          <p:spTgt spid="25"/>
                                        </p:tgtEl>
                                        <p:attrNameLst>
                                          <p:attrName>style.visibility</p:attrName>
                                        </p:attrNameLst>
                                      </p:cBhvr>
                                      <p:to>
                                        <p:strVal val="visible"/>
                                      </p:to>
                                    </p:set>
                                    <p:animEffect transition="in" filter="fade">
                                      <p:cBhvr>
                                        <p:cTn id="127" dur="600"/>
                                        <p:tgtEl>
                                          <p:spTgt spid="25"/>
                                        </p:tgtEl>
                                      </p:cBhvr>
                                    </p:animEffect>
                                    <p:anim calcmode="lin" valueType="num">
                                      <p:cBhvr>
                                        <p:cTn id="128" dur="600" fill="hold"/>
                                        <p:tgtEl>
                                          <p:spTgt spid="25"/>
                                        </p:tgtEl>
                                        <p:attrNameLst>
                                          <p:attrName>ppt_x</p:attrName>
                                        </p:attrNameLst>
                                      </p:cBhvr>
                                      <p:tavLst>
                                        <p:tav tm="0">
                                          <p:val>
                                            <p:strVal val="#ppt_x"/>
                                          </p:val>
                                        </p:tav>
                                        <p:tav tm="100000">
                                          <p:val>
                                            <p:strVal val="#ppt_x"/>
                                          </p:val>
                                        </p:tav>
                                      </p:tavLst>
                                    </p:anim>
                                    <p:anim calcmode="lin" valueType="num">
                                      <p:cBhvr>
                                        <p:cTn id="129" dur="600" decel="100000" fill="hold"/>
                                        <p:tgtEl>
                                          <p:spTgt spid="25"/>
                                        </p:tgtEl>
                                        <p:attrNameLst>
                                          <p:attrName>ppt_y</p:attrName>
                                        </p:attrNameLst>
                                      </p:cBhvr>
                                      <p:tavLst>
                                        <p:tav tm="0">
                                          <p:val>
                                            <p:strVal val="#ppt_y+.05"/>
                                          </p:val>
                                        </p:tav>
                                        <p:tav tm="100000">
                                          <p:val>
                                            <p:strVal val="#ppt_y"/>
                                          </p:val>
                                        </p:tav>
                                      </p:tavLst>
                                    </p:anim>
                                  </p:childTnLst>
                                </p:cTn>
                              </p:par>
                            </p:childTnLst>
                          </p:cTn>
                        </p:par>
                        <p:par>
                          <p:cTn id="130" fill="hold">
                            <p:stCondLst>
                              <p:cond delay="2050"/>
                            </p:stCondLst>
                            <p:childTnLst>
                              <p:par>
                                <p:cTn id="131" presetID="42" presetClass="entr" presetSubtype="0" fill="hold" grpId="0" nodeType="withEffect">
                                  <p:stCondLst>
                                    <p:cond delay="0"/>
                                  </p:stCondLst>
                                  <p:childTnLst>
                                    <p:set>
                                      <p:cBhvr>
                                        <p:cTn id="132" dur="1" fill="hold">
                                          <p:stCondLst>
                                            <p:cond delay="0"/>
                                          </p:stCondLst>
                                        </p:cTn>
                                        <p:tgtEl>
                                          <p:spTgt spid="26"/>
                                        </p:tgtEl>
                                        <p:attrNameLst>
                                          <p:attrName>style.visibility</p:attrName>
                                        </p:attrNameLst>
                                      </p:cBhvr>
                                      <p:to>
                                        <p:strVal val="visible"/>
                                      </p:to>
                                    </p:set>
                                    <p:animEffect transition="in" filter="fade">
                                      <p:cBhvr>
                                        <p:cTn id="133" dur="600"/>
                                        <p:tgtEl>
                                          <p:spTgt spid="26"/>
                                        </p:tgtEl>
                                      </p:cBhvr>
                                    </p:animEffect>
                                    <p:anim calcmode="lin" valueType="num">
                                      <p:cBhvr>
                                        <p:cTn id="134" dur="600" fill="hold"/>
                                        <p:tgtEl>
                                          <p:spTgt spid="26"/>
                                        </p:tgtEl>
                                        <p:attrNameLst>
                                          <p:attrName>ppt_x</p:attrName>
                                        </p:attrNameLst>
                                      </p:cBhvr>
                                      <p:tavLst>
                                        <p:tav tm="0">
                                          <p:val>
                                            <p:strVal val="#ppt_x"/>
                                          </p:val>
                                        </p:tav>
                                        <p:tav tm="100000">
                                          <p:val>
                                            <p:strVal val="#ppt_x"/>
                                          </p:val>
                                        </p:tav>
                                      </p:tavLst>
                                    </p:anim>
                                    <p:anim calcmode="lin" valueType="num">
                                      <p:cBhvr>
                                        <p:cTn id="135" dur="600" decel="100000" fill="hold"/>
                                        <p:tgtEl>
                                          <p:spTgt spid="26"/>
                                        </p:tgtEl>
                                        <p:attrNameLst>
                                          <p:attrName>ppt_y</p:attrName>
                                        </p:attrNameLst>
                                      </p:cBhvr>
                                      <p:tavLst>
                                        <p:tav tm="0">
                                          <p:val>
                                            <p:strVal val="#ppt_y+.05"/>
                                          </p:val>
                                        </p:tav>
                                        <p:tav tm="100000">
                                          <p:val>
                                            <p:strVal val="#ppt_y"/>
                                          </p:val>
                                        </p:tav>
                                      </p:tavLst>
                                    </p:anim>
                                  </p:childTnLst>
                                </p:cTn>
                              </p:par>
                            </p:childTnLst>
                          </p:cTn>
                        </p:par>
                        <p:par>
                          <p:cTn id="136" fill="hold">
                            <p:stCondLst>
                              <p:cond delay="2500"/>
                            </p:stCondLst>
                            <p:childTnLst>
                              <p:par>
                                <p:cTn id="137" presetID="42" presetClass="entr" presetSubtype="0" fill="hold" grpId="0" nodeType="withEffect">
                                  <p:stCondLst>
                                    <p:cond delay="0"/>
                                  </p:stCondLst>
                                  <p:childTnLst>
                                    <p:set>
                                      <p:cBhvr>
                                        <p:cTn id="138" dur="1" fill="hold">
                                          <p:stCondLst>
                                            <p:cond delay="0"/>
                                          </p:stCondLst>
                                        </p:cTn>
                                        <p:tgtEl>
                                          <p:spTgt spid="27"/>
                                        </p:tgtEl>
                                        <p:attrNameLst>
                                          <p:attrName>style.visibility</p:attrName>
                                        </p:attrNameLst>
                                      </p:cBhvr>
                                      <p:to>
                                        <p:strVal val="visible"/>
                                      </p:to>
                                    </p:set>
                                    <p:animEffect transition="in" filter="fade">
                                      <p:cBhvr>
                                        <p:cTn id="139" dur="600"/>
                                        <p:tgtEl>
                                          <p:spTgt spid="27"/>
                                        </p:tgtEl>
                                      </p:cBhvr>
                                    </p:animEffect>
                                    <p:anim calcmode="lin" valueType="num">
                                      <p:cBhvr>
                                        <p:cTn id="140" dur="600" fill="hold"/>
                                        <p:tgtEl>
                                          <p:spTgt spid="27"/>
                                        </p:tgtEl>
                                        <p:attrNameLst>
                                          <p:attrName>ppt_x</p:attrName>
                                        </p:attrNameLst>
                                      </p:cBhvr>
                                      <p:tavLst>
                                        <p:tav tm="0">
                                          <p:val>
                                            <p:strVal val="#ppt_x"/>
                                          </p:val>
                                        </p:tav>
                                        <p:tav tm="100000">
                                          <p:val>
                                            <p:strVal val="#ppt_x"/>
                                          </p:val>
                                        </p:tav>
                                      </p:tavLst>
                                    </p:anim>
                                    <p:anim calcmode="lin" valueType="num">
                                      <p:cBhvr>
                                        <p:cTn id="141" dur="600" decel="100000" fill="hold"/>
                                        <p:tgtEl>
                                          <p:spTgt spid="27"/>
                                        </p:tgtEl>
                                        <p:attrNameLst>
                                          <p:attrName>ppt_y</p:attrName>
                                        </p:attrNameLst>
                                      </p:cBhvr>
                                      <p:tavLst>
                                        <p:tav tm="0">
                                          <p:val>
                                            <p:strVal val="#ppt_y+.05"/>
                                          </p:val>
                                        </p:tav>
                                        <p:tav tm="100000">
                                          <p:val>
                                            <p:strVal val="#ppt_y"/>
                                          </p:val>
                                        </p:tav>
                                      </p:tavLst>
                                    </p:anim>
                                  </p:childTnLst>
                                </p:cTn>
                              </p:par>
                            </p:childTnLst>
                          </p:cTn>
                        </p:par>
                        <p:par>
                          <p:cTn id="142" fill="hold">
                            <p:stCondLst>
                              <p:cond delay="2500"/>
                            </p:stCondLst>
                            <p:childTnLst>
                              <p:par>
                                <p:cTn id="143" presetID="42" presetClass="entr" presetSubtype="0" fill="hold" grpId="0" nodeType="withEffect">
                                  <p:stCondLst>
                                    <p:cond delay="0"/>
                                  </p:stCondLst>
                                  <p:childTnLst>
                                    <p:set>
                                      <p:cBhvr>
                                        <p:cTn id="144" dur="1" fill="hold">
                                          <p:stCondLst>
                                            <p:cond delay="0"/>
                                          </p:stCondLst>
                                        </p:cTn>
                                        <p:tgtEl>
                                          <p:spTgt spid="28"/>
                                        </p:tgtEl>
                                        <p:attrNameLst>
                                          <p:attrName>style.visibility</p:attrName>
                                        </p:attrNameLst>
                                      </p:cBhvr>
                                      <p:to>
                                        <p:strVal val="visible"/>
                                      </p:to>
                                    </p:set>
                                    <p:animEffect transition="in" filter="fade">
                                      <p:cBhvr>
                                        <p:cTn id="145" dur="600"/>
                                        <p:tgtEl>
                                          <p:spTgt spid="28"/>
                                        </p:tgtEl>
                                      </p:cBhvr>
                                    </p:animEffect>
                                    <p:anim calcmode="lin" valueType="num">
                                      <p:cBhvr>
                                        <p:cTn id="146" dur="600" fill="hold"/>
                                        <p:tgtEl>
                                          <p:spTgt spid="28"/>
                                        </p:tgtEl>
                                        <p:attrNameLst>
                                          <p:attrName>ppt_x</p:attrName>
                                        </p:attrNameLst>
                                      </p:cBhvr>
                                      <p:tavLst>
                                        <p:tav tm="0">
                                          <p:val>
                                            <p:strVal val="#ppt_x"/>
                                          </p:val>
                                        </p:tav>
                                        <p:tav tm="100000">
                                          <p:val>
                                            <p:strVal val="#ppt_x"/>
                                          </p:val>
                                        </p:tav>
                                      </p:tavLst>
                                    </p:anim>
                                    <p:anim calcmode="lin" valueType="num">
                                      <p:cBhvr>
                                        <p:cTn id="147" dur="600" decel="100000" fill="hold"/>
                                        <p:tgtEl>
                                          <p:spTgt spid="28"/>
                                        </p:tgtEl>
                                        <p:attrNameLst>
                                          <p:attrName>ppt_y</p:attrName>
                                        </p:attrNameLst>
                                      </p:cBhvr>
                                      <p:tavLst>
                                        <p:tav tm="0">
                                          <p:val>
                                            <p:strVal val="#ppt_y+.05"/>
                                          </p:val>
                                        </p:tav>
                                        <p:tav tm="100000">
                                          <p:val>
                                            <p:strVal val="#ppt_y"/>
                                          </p:val>
                                        </p:tav>
                                      </p:tavLst>
                                    </p:anim>
                                  </p:childTnLst>
                                </p:cTn>
                              </p:par>
                            </p:childTnLst>
                          </p:cTn>
                        </p:par>
                        <p:par>
                          <p:cTn id="148" fill="hold">
                            <p:stCondLst>
                              <p:cond delay="2500"/>
                            </p:stCondLst>
                            <p:childTnLst>
                              <p:par>
                                <p:cTn id="149" presetID="42" presetClass="entr" presetSubtype="0" fill="hold" grpId="0" nodeType="withEffect">
                                  <p:stCondLst>
                                    <p:cond delay="0"/>
                                  </p:stCondLst>
                                  <p:childTnLst>
                                    <p:set>
                                      <p:cBhvr>
                                        <p:cTn id="150" dur="1" fill="hold">
                                          <p:stCondLst>
                                            <p:cond delay="0"/>
                                          </p:stCondLst>
                                        </p:cTn>
                                        <p:tgtEl>
                                          <p:spTgt spid="29"/>
                                        </p:tgtEl>
                                        <p:attrNameLst>
                                          <p:attrName>style.visibility</p:attrName>
                                        </p:attrNameLst>
                                      </p:cBhvr>
                                      <p:to>
                                        <p:strVal val="visible"/>
                                      </p:to>
                                    </p:set>
                                    <p:animEffect transition="in" filter="fade">
                                      <p:cBhvr>
                                        <p:cTn id="151" dur="600"/>
                                        <p:tgtEl>
                                          <p:spTgt spid="29"/>
                                        </p:tgtEl>
                                      </p:cBhvr>
                                    </p:animEffect>
                                    <p:anim calcmode="lin" valueType="num">
                                      <p:cBhvr>
                                        <p:cTn id="152" dur="600" fill="hold"/>
                                        <p:tgtEl>
                                          <p:spTgt spid="29"/>
                                        </p:tgtEl>
                                        <p:attrNameLst>
                                          <p:attrName>ppt_x</p:attrName>
                                        </p:attrNameLst>
                                      </p:cBhvr>
                                      <p:tavLst>
                                        <p:tav tm="0">
                                          <p:val>
                                            <p:strVal val="#ppt_x"/>
                                          </p:val>
                                        </p:tav>
                                        <p:tav tm="100000">
                                          <p:val>
                                            <p:strVal val="#ppt_x"/>
                                          </p:val>
                                        </p:tav>
                                      </p:tavLst>
                                    </p:anim>
                                    <p:anim calcmode="lin" valueType="num">
                                      <p:cBhvr>
                                        <p:cTn id="153" dur="600" decel="100000" fill="hold"/>
                                        <p:tgtEl>
                                          <p:spTgt spid="29"/>
                                        </p:tgtEl>
                                        <p:attrNameLst>
                                          <p:attrName>ppt_y</p:attrName>
                                        </p:attrNameLst>
                                      </p:cBhvr>
                                      <p:tavLst>
                                        <p:tav tm="0">
                                          <p:val>
                                            <p:strVal val="#ppt_y+.05"/>
                                          </p:val>
                                        </p:tav>
                                        <p:tav tm="100000">
                                          <p:val>
                                            <p:strVal val="#ppt_y"/>
                                          </p:val>
                                        </p:tav>
                                      </p:tavLst>
                                    </p:anim>
                                  </p:childTnLst>
                                </p:cTn>
                              </p:par>
                            </p:childTnLst>
                          </p:cTn>
                        </p:par>
                        <p:par>
                          <p:cTn id="154" fill="hold">
                            <p:stCondLst>
                              <p:cond delay="2500"/>
                            </p:stCondLst>
                            <p:childTnLst>
                              <p:par>
                                <p:cTn id="155" presetID="42" presetClass="entr" presetSubtype="0" fill="hold" grpId="0" nodeType="withEffect">
                                  <p:stCondLst>
                                    <p:cond delay="0"/>
                                  </p:stCondLst>
                                  <p:childTnLst>
                                    <p:set>
                                      <p:cBhvr>
                                        <p:cTn id="156" dur="1" fill="hold">
                                          <p:stCondLst>
                                            <p:cond delay="0"/>
                                          </p:stCondLst>
                                        </p:cTn>
                                        <p:tgtEl>
                                          <p:spTgt spid="30"/>
                                        </p:tgtEl>
                                        <p:attrNameLst>
                                          <p:attrName>style.visibility</p:attrName>
                                        </p:attrNameLst>
                                      </p:cBhvr>
                                      <p:to>
                                        <p:strVal val="visible"/>
                                      </p:to>
                                    </p:set>
                                    <p:animEffect transition="in" filter="fade">
                                      <p:cBhvr>
                                        <p:cTn id="157" dur="600"/>
                                        <p:tgtEl>
                                          <p:spTgt spid="30"/>
                                        </p:tgtEl>
                                      </p:cBhvr>
                                    </p:animEffect>
                                    <p:anim calcmode="lin" valueType="num">
                                      <p:cBhvr>
                                        <p:cTn id="158" dur="600" fill="hold"/>
                                        <p:tgtEl>
                                          <p:spTgt spid="30"/>
                                        </p:tgtEl>
                                        <p:attrNameLst>
                                          <p:attrName>ppt_x</p:attrName>
                                        </p:attrNameLst>
                                      </p:cBhvr>
                                      <p:tavLst>
                                        <p:tav tm="0">
                                          <p:val>
                                            <p:strVal val="#ppt_x"/>
                                          </p:val>
                                        </p:tav>
                                        <p:tav tm="100000">
                                          <p:val>
                                            <p:strVal val="#ppt_x"/>
                                          </p:val>
                                        </p:tav>
                                      </p:tavLst>
                                    </p:anim>
                                    <p:anim calcmode="lin" valueType="num">
                                      <p:cBhvr>
                                        <p:cTn id="159" dur="600" decel="100000" fill="hold"/>
                                        <p:tgtEl>
                                          <p:spTgt spid="30"/>
                                        </p:tgtEl>
                                        <p:attrNameLst>
                                          <p:attrName>ppt_y</p:attrName>
                                        </p:attrNameLst>
                                      </p:cBhvr>
                                      <p:tavLst>
                                        <p:tav tm="0">
                                          <p:val>
                                            <p:strVal val="#ppt_y+.05"/>
                                          </p:val>
                                        </p:tav>
                                        <p:tav tm="100000">
                                          <p:val>
                                            <p:strVal val="#ppt_y"/>
                                          </p:val>
                                        </p:tav>
                                      </p:tavLst>
                                    </p:anim>
                                  </p:childTnLst>
                                </p:cTn>
                              </p:par>
                            </p:childTnLst>
                          </p:cTn>
                        </p:par>
                        <p:par>
                          <p:cTn id="160" fill="hold">
                            <p:stCondLst>
                              <p:cond delay="2500"/>
                            </p:stCondLst>
                            <p:childTnLst>
                              <p:par>
                                <p:cTn id="161" presetID="42" presetClass="entr" presetSubtype="0" fill="hold" grpId="0" nodeType="withEffect">
                                  <p:stCondLst>
                                    <p:cond delay="0"/>
                                  </p:stCondLst>
                                  <p:childTnLst>
                                    <p:set>
                                      <p:cBhvr>
                                        <p:cTn id="162" dur="1" fill="hold">
                                          <p:stCondLst>
                                            <p:cond delay="0"/>
                                          </p:stCondLst>
                                        </p:cTn>
                                        <p:tgtEl>
                                          <p:spTgt spid="31"/>
                                        </p:tgtEl>
                                        <p:attrNameLst>
                                          <p:attrName>style.visibility</p:attrName>
                                        </p:attrNameLst>
                                      </p:cBhvr>
                                      <p:to>
                                        <p:strVal val="visible"/>
                                      </p:to>
                                    </p:set>
                                    <p:animEffect transition="in" filter="fade">
                                      <p:cBhvr>
                                        <p:cTn id="163" dur="600"/>
                                        <p:tgtEl>
                                          <p:spTgt spid="31"/>
                                        </p:tgtEl>
                                      </p:cBhvr>
                                    </p:animEffect>
                                    <p:anim calcmode="lin" valueType="num">
                                      <p:cBhvr>
                                        <p:cTn id="164" dur="600" fill="hold"/>
                                        <p:tgtEl>
                                          <p:spTgt spid="31"/>
                                        </p:tgtEl>
                                        <p:attrNameLst>
                                          <p:attrName>ppt_x</p:attrName>
                                        </p:attrNameLst>
                                      </p:cBhvr>
                                      <p:tavLst>
                                        <p:tav tm="0">
                                          <p:val>
                                            <p:strVal val="#ppt_x"/>
                                          </p:val>
                                        </p:tav>
                                        <p:tav tm="100000">
                                          <p:val>
                                            <p:strVal val="#ppt_x"/>
                                          </p:val>
                                        </p:tav>
                                      </p:tavLst>
                                    </p:anim>
                                    <p:anim calcmode="lin" valueType="num">
                                      <p:cBhvr>
                                        <p:cTn id="165" dur="600" decel="100000" fill="hold"/>
                                        <p:tgtEl>
                                          <p:spTgt spid="31"/>
                                        </p:tgtEl>
                                        <p:attrNameLst>
                                          <p:attrName>ppt_y</p:attrName>
                                        </p:attrNameLst>
                                      </p:cBhvr>
                                      <p:tavLst>
                                        <p:tav tm="0">
                                          <p:val>
                                            <p:strVal val="#ppt_y+.05"/>
                                          </p:val>
                                        </p:tav>
                                        <p:tav tm="100000">
                                          <p:val>
                                            <p:strVal val="#ppt_y"/>
                                          </p:val>
                                        </p:tav>
                                      </p:tavLst>
                                    </p:anim>
                                  </p:childTnLst>
                                </p:cTn>
                              </p:par>
                            </p:childTnLst>
                          </p:cTn>
                        </p:par>
                        <p:par>
                          <p:cTn id="166" fill="hold">
                            <p:stCondLst>
                              <p:cond delay="2950"/>
                            </p:stCondLst>
                            <p:childTnLst>
                              <p:par>
                                <p:cTn id="167" presetID="42" presetClass="entr" presetSubtype="0" fill="hold" grpId="0" nodeType="withEffect">
                                  <p:stCondLst>
                                    <p:cond delay="0"/>
                                  </p:stCondLst>
                                  <p:childTnLst>
                                    <p:set>
                                      <p:cBhvr>
                                        <p:cTn id="168" dur="1" fill="hold">
                                          <p:stCondLst>
                                            <p:cond delay="0"/>
                                          </p:stCondLst>
                                        </p:cTn>
                                        <p:tgtEl>
                                          <p:spTgt spid="32"/>
                                        </p:tgtEl>
                                        <p:attrNameLst>
                                          <p:attrName>style.visibility</p:attrName>
                                        </p:attrNameLst>
                                      </p:cBhvr>
                                      <p:to>
                                        <p:strVal val="visible"/>
                                      </p:to>
                                    </p:set>
                                    <p:animEffect transition="in" filter="fade">
                                      <p:cBhvr>
                                        <p:cTn id="169" dur="600"/>
                                        <p:tgtEl>
                                          <p:spTgt spid="32"/>
                                        </p:tgtEl>
                                      </p:cBhvr>
                                    </p:animEffect>
                                    <p:anim calcmode="lin" valueType="num">
                                      <p:cBhvr>
                                        <p:cTn id="170" dur="600" fill="hold"/>
                                        <p:tgtEl>
                                          <p:spTgt spid="32"/>
                                        </p:tgtEl>
                                        <p:attrNameLst>
                                          <p:attrName>ppt_x</p:attrName>
                                        </p:attrNameLst>
                                      </p:cBhvr>
                                      <p:tavLst>
                                        <p:tav tm="0">
                                          <p:val>
                                            <p:strVal val="#ppt_x"/>
                                          </p:val>
                                        </p:tav>
                                        <p:tav tm="100000">
                                          <p:val>
                                            <p:strVal val="#ppt_x"/>
                                          </p:val>
                                        </p:tav>
                                      </p:tavLst>
                                    </p:anim>
                                    <p:anim calcmode="lin" valueType="num">
                                      <p:cBhvr>
                                        <p:cTn id="171" dur="600" decel="100000" fill="hold"/>
                                        <p:tgtEl>
                                          <p:spTgt spid="32"/>
                                        </p:tgtEl>
                                        <p:attrNameLst>
                                          <p:attrName>ppt_y</p:attrName>
                                        </p:attrNameLst>
                                      </p:cBhvr>
                                      <p:tavLst>
                                        <p:tav tm="0">
                                          <p:val>
                                            <p:strVal val="#ppt_y+.05"/>
                                          </p:val>
                                        </p:tav>
                                        <p:tav tm="100000">
                                          <p:val>
                                            <p:strVal val="#ppt_y"/>
                                          </p:val>
                                        </p:tav>
                                      </p:tavLst>
                                    </p:anim>
                                  </p:childTnLst>
                                </p:cTn>
                              </p:par>
                            </p:childTnLst>
                          </p:cTn>
                        </p:par>
                        <p:par>
                          <p:cTn id="172" fill="hold">
                            <p:stCondLst>
                              <p:cond delay="2950"/>
                            </p:stCondLst>
                            <p:childTnLst>
                              <p:par>
                                <p:cTn id="173" presetID="42" presetClass="entr" presetSubtype="0" fill="hold" grpId="0" nodeType="withEffect">
                                  <p:stCondLst>
                                    <p:cond delay="0"/>
                                  </p:stCondLst>
                                  <p:childTnLst>
                                    <p:set>
                                      <p:cBhvr>
                                        <p:cTn id="174" dur="1" fill="hold">
                                          <p:stCondLst>
                                            <p:cond delay="0"/>
                                          </p:stCondLst>
                                        </p:cTn>
                                        <p:tgtEl>
                                          <p:spTgt spid="33"/>
                                        </p:tgtEl>
                                        <p:attrNameLst>
                                          <p:attrName>style.visibility</p:attrName>
                                        </p:attrNameLst>
                                      </p:cBhvr>
                                      <p:to>
                                        <p:strVal val="visible"/>
                                      </p:to>
                                    </p:set>
                                    <p:animEffect transition="in" filter="fade">
                                      <p:cBhvr>
                                        <p:cTn id="175" dur="600"/>
                                        <p:tgtEl>
                                          <p:spTgt spid="33"/>
                                        </p:tgtEl>
                                      </p:cBhvr>
                                    </p:animEffect>
                                    <p:anim calcmode="lin" valueType="num">
                                      <p:cBhvr>
                                        <p:cTn id="176" dur="600" fill="hold"/>
                                        <p:tgtEl>
                                          <p:spTgt spid="33"/>
                                        </p:tgtEl>
                                        <p:attrNameLst>
                                          <p:attrName>ppt_x</p:attrName>
                                        </p:attrNameLst>
                                      </p:cBhvr>
                                      <p:tavLst>
                                        <p:tav tm="0">
                                          <p:val>
                                            <p:strVal val="#ppt_x"/>
                                          </p:val>
                                        </p:tav>
                                        <p:tav tm="100000">
                                          <p:val>
                                            <p:strVal val="#ppt_x"/>
                                          </p:val>
                                        </p:tav>
                                      </p:tavLst>
                                    </p:anim>
                                    <p:anim calcmode="lin" valueType="num">
                                      <p:cBhvr>
                                        <p:cTn id="177" dur="600" decel="100000" fill="hold"/>
                                        <p:tgtEl>
                                          <p:spTgt spid="33"/>
                                        </p:tgtEl>
                                        <p:attrNameLst>
                                          <p:attrName>ppt_y</p:attrName>
                                        </p:attrNameLst>
                                      </p:cBhvr>
                                      <p:tavLst>
                                        <p:tav tm="0">
                                          <p:val>
                                            <p:strVal val="#ppt_y+.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animBg="1"/>
      <p:bldP spid="9" grpId="0" animBg="1"/>
      <p:bldP spid="10" grpId="0" animBg="1"/>
      <p:bldP spid="11" grpId="0" animBg="1"/>
      <p:bldP spid="12" grpId="0" animBg="1"/>
      <p:bldP spid="13" grpId="0" animBg="1"/>
      <p:bldP spid="15" grpId="0" animBg="1"/>
      <p:bldP spid="16" grpId="0" animBg="1"/>
      <p:bldP spid="17" grpId="0" animBg="1"/>
      <p:bldP spid="18" grpId="0" animBg="1"/>
      <p:bldP spid="20" grpId="0" animBg="1"/>
      <p:bldP spid="21" grpId="0" animBg="1"/>
      <p:bldP spid="22" grpId="0" animBg="1"/>
      <p:bldP spid="23" grpId="0" animBg="1"/>
      <p:bldP spid="25" grpId="0" animBg="1"/>
      <p:bldP spid="26" grpId="0" animBg="1"/>
      <p:bldP spid="27" grpId="0" animBg="1"/>
      <p:bldP spid="28" grpId="0" animBg="1"/>
      <p:bldP spid="30" grpId="0" animBg="1"/>
      <p:bldP spid="31" grpId="0" animBg="1"/>
      <p:bldP spid="32" grpId="0" animBg="1"/>
      <p:bldP spid="33"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0"/>
          <p:cNvSpPr txBox="1"/>
          <p:nvPr/>
        </p:nvSpPr>
        <p:spPr>
          <a:xfrm>
            <a:off x="548640" y="292608"/>
            <a:ext cx="7315200" cy="292608"/>
          </a:xfrm>
          <a:prstGeom prst="rect">
            <a:avLst/>
          </a:prstGeom>
          <a:noFill/>
          <a:ln/>
        </p:spPr>
        <p:txBody>
          <a:bodyPr wrap="square" lIns="0" tIns="0" rIns="0" bIns="0" rtlCol="0" anchor="ctr"/>
          <a:lstStyle/>
          <a:p>
            <a:pPr indent="0" marL="0">
              <a:buNone/>
            </a:pPr>
            <a:r>
              <a:rPr lang="ru-RU" sz="1300" b="1" spc="200" kern="0" dirty="0">
                <a:solidFill>
                  <a:schemeClr val="accent1"/>
                </a:solidFill>
              </a:rPr>
              <a:t>06  ·  ИТОГ</a:t>
            </a:r>
            <a:endParaRPr lang="ru-RU" sz="1300" dirty="0"/>
          </a:p>
        </p:txBody>
      </p:sp>
      <p:sp>
        <p:nvSpPr>
          <p:cNvPr id="4" name="Text 0"/>
          <p:cNvSpPr/>
          <p:nvPr>
            <p:ph idx="100" type="title" hasCustomPrompt="1"/>
          </p:nvPr>
        </p:nvSpPr>
        <p:spPr>
          <a:xfrm>
            <a:off x="548640" y="566928"/>
            <a:ext cx="11064240" cy="731520"/>
          </a:xfrm>
          <a:prstGeom prst="rect">
            <a:avLst/>
          </a:prstGeom>
          <a:noFill/>
          <a:ln/>
        </p:spPr>
        <p:txBody>
          <a:bodyPr wrap="square" lIns="0" tIns="0" rIns="0" bIns="0" rtlCol="0" anchor="ctr"/>
          <a:lstStyle/>
          <a:p>
            <a:pPr algn="l" indent="0" marL="0">
              <a:buNone/>
            </a:pPr>
            <a:r>
              <a:rPr lang="ru-RU" sz="3400" b="1" dirty="0">
                <a:solidFill>
                  <a:schemeClr val="tx1"/>
                </a:solidFill>
                <a:latin typeface="Georgia" pitchFamily="34" charset="0"/>
                <a:ea typeface="Georgia" pitchFamily="34" charset="-122"/>
                <a:cs typeface="Georgia" pitchFamily="34" charset="-120"/>
              </a:rPr>
              <a:t>Сравним формы</a:t>
            </a:r>
            <a:endParaRPr lang="ru-RU" sz="3400" dirty="0"/>
          </a:p>
        </p:txBody>
      </p:sp>
      <p:graphicFrame>
        <p:nvGraphicFramePr>
          <p:cNvPr id="9" name="a_01_tbl"/>
          <p:cNvGraphicFramePr>
            <a:graphicFrameLocks noGrp="1"/>
          </p:cNvGraphicFramePr>
          <p:nvPr>
            <p:extLst>
              <p:ext uri="{D42A27DB-BD31-4B8C-83A1-F6EECF244321}">
                <p14:modId xmlns:p14="http://schemas.microsoft.com/office/powerpoint/2010/main" val="1579011935"/>
              </p:ext>
            </p:extLst>
          </p:nvPr>
        </p:nvGraphicFramePr>
        <p:xfrm>
          <a:off x="548640" y="1463040"/>
          <a:ext cx="7498080" cy="914400"/>
        </p:xfrm>
        <a:graphic>
          <a:graphicData uri="http://schemas.openxmlformats.org/drawingml/2006/table">
            <a:tbl>
              <a:tblPr/>
              <a:tblGrid>
                <a:gridCol w="2651760"/>
                <a:gridCol w="2011680"/>
                <a:gridCol w="2834640"/>
              </a:tblGrid>
              <a:tr h="512064">
                <a:tc>
                  <a:txBody>
                    <a:bodyPr/>
                    <a:lstStyle/>
                    <a:p>
                      <a:pPr indent="0" marL="0">
                        <a:buNone/>
                      </a:pPr>
                      <a:r>
                        <a:rPr lang="ru-RU" sz="1400" b="1" dirty="0">
                          <a:solidFill>
                            <a:srgbClr val="FFFFFF"/>
                          </a:solidFill>
                          <a:latin typeface="Calibri" pitchFamily="34" charset="0"/>
                          <a:ea typeface="Calibri" pitchFamily="34" charset="-122"/>
                          <a:cs typeface="Calibri" pitchFamily="34" charset="-120"/>
                        </a:rPr>
                        <a:t>Форма</a:t>
                      </a:r>
                      <a:endParaRPr lang="ru-RU" sz="1400" dirty="0">
                        <a:latin typeface="Calibri" charset="0"/>
                        <a:ea typeface="Calibri" charset="0"/>
                        <a:cs typeface="Calibri" charset="0"/>
                      </a:endParaRPr>
                    </a:p>
                  </a:txBody>
                  <a:tcPr marL="73152" marR="73152" marT="73152" marB="73152" anchor="ctr">
                    <a:lnL w="9525" cap="flat" cmpd="sng" algn="ctr">
                      <a:solidFill>
                        <a:srgbClr val="D3E0D8"/>
                      </a:solidFill>
                      <a:prstDash val="solid"/>
                      <a:round/>
                      <a:headEnd type="none" w="med" len="med"/>
                      <a:tailEnd type="none" w="med" len="med"/>
                    </a:lnL>
                    <a:lnR w="9525" cap="flat" cmpd="sng" algn="ctr">
                      <a:solidFill>
                        <a:srgbClr val="D3E0D8"/>
                      </a:solidFill>
                      <a:prstDash val="solid"/>
                      <a:round/>
                      <a:headEnd type="none" w="med" len="med"/>
                      <a:tailEnd type="none" w="med" len="med"/>
                    </a:lnR>
                    <a:lnT w="9525" cap="flat" cmpd="sng" algn="ctr">
                      <a:solidFill>
                        <a:srgbClr val="D3E0D8"/>
                      </a:solidFill>
                      <a:prstDash val="solid"/>
                      <a:round/>
                      <a:headEnd type="none" w="med" len="med"/>
                      <a:tailEnd type="none" w="med" len="med"/>
                    </a:lnT>
                    <a:lnB w="9525" cap="flat" cmpd="sng" algn="ctr">
                      <a:solidFill>
                        <a:srgbClr val="D3E0D8"/>
                      </a:solidFill>
                      <a:prstDash val="solid"/>
                      <a:round/>
                      <a:headEnd type="none" w="med" len="med"/>
                      <a:tailEnd type="none" w="med" len="med"/>
                    </a:lnB>
                    <a:solidFill>
                      <a:srgbClr val="0F2E24"/>
                    </a:solidFill>
                  </a:tcPr>
                </a:tc>
                <a:tc>
                  <a:txBody>
                    <a:bodyPr/>
                    <a:lstStyle/>
                    <a:p>
                      <a:pPr indent="0" marL="0">
                        <a:buNone/>
                      </a:pPr>
                      <a:r>
                        <a:rPr lang="ru-RU" sz="1400" b="1" dirty="0">
                          <a:solidFill>
                            <a:srgbClr val="FFFFFF"/>
                          </a:solidFill>
                          <a:latin typeface="Calibri" pitchFamily="34" charset="0"/>
                          <a:ea typeface="Calibri" pitchFamily="34" charset="-122"/>
                          <a:cs typeface="Calibri" pitchFamily="34" charset="-120"/>
                        </a:rPr>
                        <a:t>Участники</a:t>
                      </a:r>
                      <a:endParaRPr lang="ru-RU" sz="1400" dirty="0">
                        <a:latin typeface="Calibri" charset="0"/>
                        <a:ea typeface="Calibri" charset="0"/>
                        <a:cs typeface="Calibri" charset="0"/>
                      </a:endParaRPr>
                    </a:p>
                  </a:txBody>
                  <a:tcPr marL="73152" marR="73152" marT="73152" marB="73152" anchor="ctr">
                    <a:lnL w="9525" cap="flat" cmpd="sng" algn="ctr">
                      <a:solidFill>
                        <a:srgbClr val="D3E0D8"/>
                      </a:solidFill>
                      <a:prstDash val="solid"/>
                      <a:round/>
                      <a:headEnd type="none" w="med" len="med"/>
                      <a:tailEnd type="none" w="med" len="med"/>
                    </a:lnL>
                    <a:lnR w="9525" cap="flat" cmpd="sng" algn="ctr">
                      <a:solidFill>
                        <a:srgbClr val="D3E0D8"/>
                      </a:solidFill>
                      <a:prstDash val="solid"/>
                      <a:round/>
                      <a:headEnd type="none" w="med" len="med"/>
                      <a:tailEnd type="none" w="med" len="med"/>
                    </a:lnR>
                    <a:lnT w="9525" cap="flat" cmpd="sng" algn="ctr">
                      <a:solidFill>
                        <a:srgbClr val="D3E0D8"/>
                      </a:solidFill>
                      <a:prstDash val="solid"/>
                      <a:round/>
                      <a:headEnd type="none" w="med" len="med"/>
                      <a:tailEnd type="none" w="med" len="med"/>
                    </a:lnT>
                    <a:lnB w="9525" cap="flat" cmpd="sng" algn="ctr">
                      <a:solidFill>
                        <a:srgbClr val="D3E0D8"/>
                      </a:solidFill>
                      <a:prstDash val="solid"/>
                      <a:round/>
                      <a:headEnd type="none" w="med" len="med"/>
                      <a:tailEnd type="none" w="med" len="med"/>
                    </a:lnB>
                    <a:solidFill>
                      <a:srgbClr val="0F2E24"/>
                    </a:solidFill>
                  </a:tcPr>
                </a:tc>
                <a:tc>
                  <a:txBody>
                    <a:bodyPr/>
                    <a:lstStyle/>
                    <a:p>
                      <a:pPr indent="0" marL="0">
                        <a:buNone/>
                      </a:pPr>
                      <a:r>
                        <a:rPr lang="ru-RU" sz="1400" b="1" dirty="0">
                          <a:solidFill>
                            <a:srgbClr val="FFFFFF"/>
                          </a:solidFill>
                          <a:latin typeface="Calibri" pitchFamily="34" charset="0"/>
                          <a:ea typeface="Calibri" pitchFamily="34" charset="-122"/>
                          <a:cs typeface="Calibri" pitchFamily="34" charset="-120"/>
                        </a:rPr>
                        <a:t>Чем рискуют владельцы</a:t>
                      </a:r>
                      <a:endParaRPr lang="ru-RU" sz="1400" dirty="0">
                        <a:latin typeface="Calibri" charset="0"/>
                        <a:ea typeface="Calibri" charset="0"/>
                        <a:cs typeface="Calibri" charset="0"/>
                      </a:endParaRPr>
                    </a:p>
                  </a:txBody>
                  <a:tcPr marL="73152" marR="73152" marT="73152" marB="73152" anchor="ctr">
                    <a:lnL w="9525" cap="flat" cmpd="sng" algn="ctr">
                      <a:solidFill>
                        <a:srgbClr val="D3E0D8"/>
                      </a:solidFill>
                      <a:prstDash val="solid"/>
                      <a:round/>
                      <a:headEnd type="none" w="med" len="med"/>
                      <a:tailEnd type="none" w="med" len="med"/>
                    </a:lnL>
                    <a:lnR w="9525" cap="flat" cmpd="sng" algn="ctr">
                      <a:solidFill>
                        <a:srgbClr val="D3E0D8"/>
                      </a:solidFill>
                      <a:prstDash val="solid"/>
                      <a:round/>
                      <a:headEnd type="none" w="med" len="med"/>
                      <a:tailEnd type="none" w="med" len="med"/>
                    </a:lnR>
                    <a:lnT w="9525" cap="flat" cmpd="sng" algn="ctr">
                      <a:solidFill>
                        <a:srgbClr val="D3E0D8"/>
                      </a:solidFill>
                      <a:prstDash val="solid"/>
                      <a:round/>
                      <a:headEnd type="none" w="med" len="med"/>
                      <a:tailEnd type="none" w="med" len="med"/>
                    </a:lnT>
                    <a:lnB w="9525" cap="flat" cmpd="sng" algn="ctr">
                      <a:solidFill>
                        <a:srgbClr val="D3E0D8"/>
                      </a:solidFill>
                      <a:prstDash val="solid"/>
                      <a:round/>
                      <a:headEnd type="none" w="med" len="med"/>
                      <a:tailEnd type="none" w="med" len="med"/>
                    </a:lnB>
                    <a:solidFill>
                      <a:srgbClr val="0F2E24"/>
                    </a:solidFill>
                  </a:tcPr>
                </a:tc>
              </a:tr>
              <a:tr h="512064">
                <a:tc>
                  <a:txBody>
                    <a:bodyPr/>
                    <a:lstStyle/>
                    <a:p>
                      <a:pPr indent="0" marL="0">
                        <a:buNone/>
                      </a:pPr>
                      <a:r>
                        <a:rPr lang="ru-RU" sz="1400" dirty="0">
                          <a:solidFill>
                            <a:srgbClr val="0F2E24"/>
                          </a:solidFill>
                          <a:latin typeface="Calibri" pitchFamily="34" charset="0"/>
                          <a:ea typeface="Calibri" pitchFamily="34" charset="-122"/>
                          <a:cs typeface="Calibri" pitchFamily="34" charset="-120"/>
                        </a:rPr>
                        <a:t>ИП (не организация)</a:t>
                      </a:r>
                      <a:endParaRPr lang="ru-RU" sz="1400" dirty="0">
                        <a:latin typeface="Calibri" charset="0"/>
                        <a:ea typeface="Calibri" charset="0"/>
                        <a:cs typeface="Calibri" charset="0"/>
                      </a:endParaRPr>
                    </a:p>
                  </a:txBody>
                  <a:tcPr marL="73152" marR="73152" marT="73152" marB="73152" anchor="ctr">
                    <a:lnL w="9525" cap="flat" cmpd="sng" algn="ctr">
                      <a:solidFill>
                        <a:srgbClr val="D3E0D8"/>
                      </a:solidFill>
                      <a:prstDash val="solid"/>
                      <a:round/>
                      <a:headEnd type="none" w="med" len="med"/>
                      <a:tailEnd type="none" w="med" len="med"/>
                    </a:lnL>
                    <a:lnR w="9525" cap="flat" cmpd="sng" algn="ctr">
                      <a:solidFill>
                        <a:srgbClr val="D3E0D8"/>
                      </a:solidFill>
                      <a:prstDash val="solid"/>
                      <a:round/>
                      <a:headEnd type="none" w="med" len="med"/>
                      <a:tailEnd type="none" w="med" len="med"/>
                    </a:lnR>
                    <a:lnT w="9525" cap="flat" cmpd="sng" algn="ctr">
                      <a:solidFill>
                        <a:srgbClr val="D3E0D8"/>
                      </a:solidFill>
                      <a:prstDash val="solid"/>
                      <a:round/>
                      <a:headEnd type="none" w="med" len="med"/>
                      <a:tailEnd type="none" w="med" len="med"/>
                    </a:lnT>
                    <a:lnB w="9525" cap="flat" cmpd="sng" algn="ctr">
                      <a:solidFill>
                        <a:srgbClr val="D3E0D8"/>
                      </a:solidFill>
                      <a:prstDash val="solid"/>
                      <a:round/>
                      <a:headEnd type="none" w="med" len="med"/>
                      <a:tailEnd type="none" w="med" len="med"/>
                    </a:lnB>
                    <a:solidFill>
                      <a:srgbClr val="FFFFFF"/>
                    </a:solidFill>
                  </a:tcPr>
                </a:tc>
                <a:tc>
                  <a:txBody>
                    <a:bodyPr/>
                    <a:lstStyle/>
                    <a:p>
                      <a:pPr indent="0" marL="0">
                        <a:buNone/>
                      </a:pPr>
                      <a:r>
                        <a:rPr lang="ru-RU" sz="1400" dirty="0">
                          <a:solidFill>
                            <a:srgbClr val="0F2E24"/>
                          </a:solidFill>
                          <a:latin typeface="Calibri" pitchFamily="34" charset="0"/>
                          <a:ea typeface="Calibri" pitchFamily="34" charset="-122"/>
                          <a:cs typeface="Calibri" pitchFamily="34" charset="-120"/>
                        </a:rPr>
                        <a:t>1 гражданин</a:t>
                      </a:r>
                      <a:endParaRPr lang="ru-RU" sz="1400" dirty="0">
                        <a:latin typeface="Calibri" charset="0"/>
                        <a:ea typeface="Calibri" charset="0"/>
                        <a:cs typeface="Calibri" charset="0"/>
                      </a:endParaRPr>
                    </a:p>
                  </a:txBody>
                  <a:tcPr marL="73152" marR="73152" marT="73152" marB="73152" anchor="ctr">
                    <a:lnL w="9525" cap="flat" cmpd="sng" algn="ctr">
                      <a:solidFill>
                        <a:srgbClr val="D3E0D8"/>
                      </a:solidFill>
                      <a:prstDash val="solid"/>
                      <a:round/>
                      <a:headEnd type="none" w="med" len="med"/>
                      <a:tailEnd type="none" w="med" len="med"/>
                    </a:lnL>
                    <a:lnR w="9525" cap="flat" cmpd="sng" algn="ctr">
                      <a:solidFill>
                        <a:srgbClr val="D3E0D8"/>
                      </a:solidFill>
                      <a:prstDash val="solid"/>
                      <a:round/>
                      <a:headEnd type="none" w="med" len="med"/>
                      <a:tailEnd type="none" w="med" len="med"/>
                    </a:lnR>
                    <a:lnT w="9525" cap="flat" cmpd="sng" algn="ctr">
                      <a:solidFill>
                        <a:srgbClr val="D3E0D8"/>
                      </a:solidFill>
                      <a:prstDash val="solid"/>
                      <a:round/>
                      <a:headEnd type="none" w="med" len="med"/>
                      <a:tailEnd type="none" w="med" len="med"/>
                    </a:lnT>
                    <a:lnB w="9525" cap="flat" cmpd="sng" algn="ctr">
                      <a:solidFill>
                        <a:srgbClr val="D3E0D8"/>
                      </a:solidFill>
                      <a:prstDash val="solid"/>
                      <a:round/>
                      <a:headEnd type="none" w="med" len="med"/>
                      <a:tailEnd type="none" w="med" len="med"/>
                    </a:lnB>
                    <a:solidFill>
                      <a:srgbClr val="FFFFFF"/>
                    </a:solidFill>
                  </a:tcPr>
                </a:tc>
                <a:tc>
                  <a:txBody>
                    <a:bodyPr/>
                    <a:lstStyle/>
                    <a:p>
                      <a:pPr indent="0" marL="0">
                        <a:buNone/>
                      </a:pPr>
                      <a:r>
                        <a:rPr lang="ru-RU" sz="1400" b="1" dirty="0">
                          <a:solidFill>
                            <a:srgbClr val="B23A48"/>
                          </a:solidFill>
                          <a:latin typeface="Calibri" pitchFamily="34" charset="0"/>
                          <a:ea typeface="Calibri" pitchFamily="34" charset="-122"/>
                          <a:cs typeface="Calibri" pitchFamily="34" charset="-120"/>
                        </a:rPr>
                        <a:t>всем своим имуществом</a:t>
                      </a:r>
                      <a:endParaRPr lang="ru-RU" sz="1400" dirty="0">
                        <a:latin typeface="Calibri" charset="0"/>
                        <a:ea typeface="Calibri" charset="0"/>
                        <a:cs typeface="Calibri" charset="0"/>
                      </a:endParaRPr>
                    </a:p>
                  </a:txBody>
                  <a:tcPr marL="73152" marR="73152" marT="73152" marB="73152" anchor="ctr">
                    <a:lnL w="9525" cap="flat" cmpd="sng" algn="ctr">
                      <a:solidFill>
                        <a:srgbClr val="D3E0D8"/>
                      </a:solidFill>
                      <a:prstDash val="solid"/>
                      <a:round/>
                      <a:headEnd type="none" w="med" len="med"/>
                      <a:tailEnd type="none" w="med" len="med"/>
                    </a:lnL>
                    <a:lnR w="9525" cap="flat" cmpd="sng" algn="ctr">
                      <a:solidFill>
                        <a:srgbClr val="D3E0D8"/>
                      </a:solidFill>
                      <a:prstDash val="solid"/>
                      <a:round/>
                      <a:headEnd type="none" w="med" len="med"/>
                      <a:tailEnd type="none" w="med" len="med"/>
                    </a:lnR>
                    <a:lnT w="9525" cap="flat" cmpd="sng" algn="ctr">
                      <a:solidFill>
                        <a:srgbClr val="D3E0D8"/>
                      </a:solidFill>
                      <a:prstDash val="solid"/>
                      <a:round/>
                      <a:headEnd type="none" w="med" len="med"/>
                      <a:tailEnd type="none" w="med" len="med"/>
                    </a:lnT>
                    <a:lnB w="9525" cap="flat" cmpd="sng" algn="ctr">
                      <a:solidFill>
                        <a:srgbClr val="D3E0D8"/>
                      </a:solidFill>
                      <a:prstDash val="solid"/>
                      <a:round/>
                      <a:headEnd type="none" w="med" len="med"/>
                      <a:tailEnd type="none" w="med" len="med"/>
                    </a:lnB>
                    <a:solidFill>
                      <a:srgbClr val="FFFFFF"/>
                    </a:solidFill>
                  </a:tcPr>
                </a:tc>
              </a:tr>
              <a:tr h="512064">
                <a:tc>
                  <a:txBody>
                    <a:bodyPr/>
                    <a:lstStyle/>
                    <a:p>
                      <a:pPr indent="0" marL="0">
                        <a:buNone/>
                      </a:pPr>
                      <a:r>
                        <a:rPr lang="ru-RU" sz="1400" dirty="0">
                          <a:solidFill>
                            <a:srgbClr val="0F2E24"/>
                          </a:solidFill>
                          <a:latin typeface="Calibri" pitchFamily="34" charset="0"/>
                          <a:ea typeface="Calibri" pitchFamily="34" charset="-122"/>
                          <a:cs typeface="Calibri" pitchFamily="34" charset="-120"/>
                        </a:rPr>
                        <a:t>ООО</a:t>
                      </a:r>
                      <a:endParaRPr lang="ru-RU" sz="1400" dirty="0">
                        <a:latin typeface="Calibri" charset="0"/>
                        <a:ea typeface="Calibri" charset="0"/>
                        <a:cs typeface="Calibri" charset="0"/>
                      </a:endParaRPr>
                    </a:p>
                  </a:txBody>
                  <a:tcPr marL="73152" marR="73152" marT="73152" marB="73152" anchor="ctr">
                    <a:lnL w="9525" cap="flat" cmpd="sng" algn="ctr">
                      <a:solidFill>
                        <a:srgbClr val="D3E0D8"/>
                      </a:solidFill>
                      <a:prstDash val="solid"/>
                      <a:round/>
                      <a:headEnd type="none" w="med" len="med"/>
                      <a:tailEnd type="none" w="med" len="med"/>
                    </a:lnL>
                    <a:lnR w="9525" cap="flat" cmpd="sng" algn="ctr">
                      <a:solidFill>
                        <a:srgbClr val="D3E0D8"/>
                      </a:solidFill>
                      <a:prstDash val="solid"/>
                      <a:round/>
                      <a:headEnd type="none" w="med" len="med"/>
                      <a:tailEnd type="none" w="med" len="med"/>
                    </a:lnR>
                    <a:lnT w="9525" cap="flat" cmpd="sng" algn="ctr">
                      <a:solidFill>
                        <a:srgbClr val="D3E0D8"/>
                      </a:solidFill>
                      <a:prstDash val="solid"/>
                      <a:round/>
                      <a:headEnd type="none" w="med" len="med"/>
                      <a:tailEnd type="none" w="med" len="med"/>
                    </a:lnT>
                    <a:lnB w="9525" cap="flat" cmpd="sng" algn="ctr">
                      <a:solidFill>
                        <a:srgbClr val="D3E0D8"/>
                      </a:solidFill>
                      <a:prstDash val="solid"/>
                      <a:round/>
                      <a:headEnd type="none" w="med" len="med"/>
                      <a:tailEnd type="none" w="med" len="med"/>
                    </a:lnB>
                    <a:solidFill>
                      <a:srgbClr val="FFFFFF"/>
                    </a:solidFill>
                  </a:tcPr>
                </a:tc>
                <a:tc>
                  <a:txBody>
                    <a:bodyPr/>
                    <a:lstStyle/>
                    <a:p>
                      <a:pPr indent="0" marL="0">
                        <a:buNone/>
                      </a:pPr>
                      <a:r>
                        <a:rPr lang="ru-RU" sz="1400" dirty="0">
                          <a:solidFill>
                            <a:srgbClr val="0F2E24"/>
                          </a:solidFill>
                          <a:latin typeface="Calibri" pitchFamily="34" charset="0"/>
                          <a:ea typeface="Calibri" pitchFamily="34" charset="-122"/>
                          <a:cs typeface="Calibri" pitchFamily="34" charset="-120"/>
                        </a:rPr>
                        <a:t>от 1 до 50</a:t>
                      </a:r>
                      <a:endParaRPr lang="ru-RU" sz="1400" dirty="0">
                        <a:latin typeface="Calibri" charset="0"/>
                        <a:ea typeface="Calibri" charset="0"/>
                        <a:cs typeface="Calibri" charset="0"/>
                      </a:endParaRPr>
                    </a:p>
                  </a:txBody>
                  <a:tcPr marL="73152" marR="73152" marT="73152" marB="73152" anchor="ctr">
                    <a:lnL w="9525" cap="flat" cmpd="sng" algn="ctr">
                      <a:solidFill>
                        <a:srgbClr val="D3E0D8"/>
                      </a:solidFill>
                      <a:prstDash val="solid"/>
                      <a:round/>
                      <a:headEnd type="none" w="med" len="med"/>
                      <a:tailEnd type="none" w="med" len="med"/>
                    </a:lnL>
                    <a:lnR w="9525" cap="flat" cmpd="sng" algn="ctr">
                      <a:solidFill>
                        <a:srgbClr val="D3E0D8"/>
                      </a:solidFill>
                      <a:prstDash val="solid"/>
                      <a:round/>
                      <a:headEnd type="none" w="med" len="med"/>
                      <a:tailEnd type="none" w="med" len="med"/>
                    </a:lnR>
                    <a:lnT w="9525" cap="flat" cmpd="sng" algn="ctr">
                      <a:solidFill>
                        <a:srgbClr val="D3E0D8"/>
                      </a:solidFill>
                      <a:prstDash val="solid"/>
                      <a:round/>
                      <a:headEnd type="none" w="med" len="med"/>
                      <a:tailEnd type="none" w="med" len="med"/>
                    </a:lnT>
                    <a:lnB w="9525" cap="flat" cmpd="sng" algn="ctr">
                      <a:solidFill>
                        <a:srgbClr val="D3E0D8"/>
                      </a:solidFill>
                      <a:prstDash val="solid"/>
                      <a:round/>
                      <a:headEnd type="none" w="med" len="med"/>
                      <a:tailEnd type="none" w="med" len="med"/>
                    </a:lnB>
                    <a:solidFill>
                      <a:srgbClr val="FFFFFF"/>
                    </a:solidFill>
                  </a:tcPr>
                </a:tc>
                <a:tc>
                  <a:txBody>
                    <a:bodyPr/>
                    <a:lstStyle/>
                    <a:p>
                      <a:pPr indent="0" marL="0">
                        <a:buNone/>
                      </a:pPr>
                      <a:r>
                        <a:rPr lang="ru-RU" sz="1400" b="1" dirty="0">
                          <a:solidFill>
                            <a:srgbClr val="1E7B4F"/>
                          </a:solidFill>
                          <a:latin typeface="Calibri" pitchFamily="34" charset="0"/>
                          <a:ea typeface="Calibri" pitchFamily="34" charset="-122"/>
                          <a:cs typeface="Calibri" pitchFamily="34" charset="-120"/>
                        </a:rPr>
                        <a:t>только своей долей</a:t>
                      </a:r>
                      <a:endParaRPr lang="ru-RU" sz="1400" dirty="0">
                        <a:latin typeface="Calibri" charset="0"/>
                        <a:ea typeface="Calibri" charset="0"/>
                        <a:cs typeface="Calibri" charset="0"/>
                      </a:endParaRPr>
                    </a:p>
                  </a:txBody>
                  <a:tcPr marL="73152" marR="73152" marT="73152" marB="73152" anchor="ctr">
                    <a:lnL w="9525" cap="flat" cmpd="sng" algn="ctr">
                      <a:solidFill>
                        <a:srgbClr val="D3E0D8"/>
                      </a:solidFill>
                      <a:prstDash val="solid"/>
                      <a:round/>
                      <a:headEnd type="none" w="med" len="med"/>
                      <a:tailEnd type="none" w="med" len="med"/>
                    </a:lnL>
                    <a:lnR w="9525" cap="flat" cmpd="sng" algn="ctr">
                      <a:solidFill>
                        <a:srgbClr val="D3E0D8"/>
                      </a:solidFill>
                      <a:prstDash val="solid"/>
                      <a:round/>
                      <a:headEnd type="none" w="med" len="med"/>
                      <a:tailEnd type="none" w="med" len="med"/>
                    </a:lnR>
                    <a:lnT w="9525" cap="flat" cmpd="sng" algn="ctr">
                      <a:solidFill>
                        <a:srgbClr val="D3E0D8"/>
                      </a:solidFill>
                      <a:prstDash val="solid"/>
                      <a:round/>
                      <a:headEnd type="none" w="med" len="med"/>
                      <a:tailEnd type="none" w="med" len="med"/>
                    </a:lnT>
                    <a:lnB w="9525" cap="flat" cmpd="sng" algn="ctr">
                      <a:solidFill>
                        <a:srgbClr val="D3E0D8"/>
                      </a:solidFill>
                      <a:prstDash val="solid"/>
                      <a:round/>
                      <a:headEnd type="none" w="med" len="med"/>
                      <a:tailEnd type="none" w="med" len="med"/>
                    </a:lnB>
                    <a:solidFill>
                      <a:srgbClr val="FFFFFF"/>
                    </a:solidFill>
                  </a:tcPr>
                </a:tc>
              </a:tr>
              <a:tr h="512064">
                <a:tc>
                  <a:txBody>
                    <a:bodyPr/>
                    <a:lstStyle/>
                    <a:p>
                      <a:pPr indent="0" marL="0">
                        <a:buNone/>
                      </a:pPr>
                      <a:r>
                        <a:rPr lang="ru-RU" sz="1400" dirty="0">
                          <a:solidFill>
                            <a:srgbClr val="0F2E24"/>
                          </a:solidFill>
                          <a:latin typeface="Calibri" pitchFamily="34" charset="0"/>
                          <a:ea typeface="Calibri" pitchFamily="34" charset="-122"/>
                          <a:cs typeface="Calibri" pitchFamily="34" charset="-120"/>
                        </a:rPr>
                        <a:t>АО и ПАО</a:t>
                      </a:r>
                      <a:endParaRPr lang="ru-RU" sz="1400" dirty="0">
                        <a:latin typeface="Calibri" charset="0"/>
                        <a:ea typeface="Calibri" charset="0"/>
                        <a:cs typeface="Calibri" charset="0"/>
                      </a:endParaRPr>
                    </a:p>
                  </a:txBody>
                  <a:tcPr marL="73152" marR="73152" marT="73152" marB="73152" anchor="ctr">
                    <a:lnL w="9525" cap="flat" cmpd="sng" algn="ctr">
                      <a:solidFill>
                        <a:srgbClr val="D3E0D8"/>
                      </a:solidFill>
                      <a:prstDash val="solid"/>
                      <a:round/>
                      <a:headEnd type="none" w="med" len="med"/>
                      <a:tailEnd type="none" w="med" len="med"/>
                    </a:lnL>
                    <a:lnR w="9525" cap="flat" cmpd="sng" algn="ctr">
                      <a:solidFill>
                        <a:srgbClr val="D3E0D8"/>
                      </a:solidFill>
                      <a:prstDash val="solid"/>
                      <a:round/>
                      <a:headEnd type="none" w="med" len="med"/>
                      <a:tailEnd type="none" w="med" len="med"/>
                    </a:lnR>
                    <a:lnT w="9525" cap="flat" cmpd="sng" algn="ctr">
                      <a:solidFill>
                        <a:srgbClr val="D3E0D8"/>
                      </a:solidFill>
                      <a:prstDash val="solid"/>
                      <a:round/>
                      <a:headEnd type="none" w="med" len="med"/>
                      <a:tailEnd type="none" w="med" len="med"/>
                    </a:lnT>
                    <a:lnB w="9525" cap="flat" cmpd="sng" algn="ctr">
                      <a:solidFill>
                        <a:srgbClr val="D3E0D8"/>
                      </a:solidFill>
                      <a:prstDash val="solid"/>
                      <a:round/>
                      <a:headEnd type="none" w="med" len="med"/>
                      <a:tailEnd type="none" w="med" len="med"/>
                    </a:lnB>
                    <a:solidFill>
                      <a:srgbClr val="FFFFFF"/>
                    </a:solidFill>
                  </a:tcPr>
                </a:tc>
                <a:tc>
                  <a:txBody>
                    <a:bodyPr/>
                    <a:lstStyle/>
                    <a:p>
                      <a:pPr indent="0" marL="0">
                        <a:buNone/>
                      </a:pPr>
                      <a:r>
                        <a:rPr lang="ru-RU" sz="1400" dirty="0">
                          <a:solidFill>
                            <a:srgbClr val="0F2E24"/>
                          </a:solidFill>
                          <a:latin typeface="Calibri" pitchFamily="34" charset="0"/>
                          <a:ea typeface="Calibri" pitchFamily="34" charset="-122"/>
                          <a:cs typeface="Calibri" pitchFamily="34" charset="-120"/>
                        </a:rPr>
                        <a:t>от 1</a:t>
                      </a:r>
                      <a:endParaRPr lang="ru-RU" sz="1400" dirty="0">
                        <a:latin typeface="Calibri" charset="0"/>
                        <a:ea typeface="Calibri" charset="0"/>
                        <a:cs typeface="Calibri" charset="0"/>
                      </a:endParaRPr>
                    </a:p>
                  </a:txBody>
                  <a:tcPr marL="73152" marR="73152" marT="73152" marB="73152" anchor="ctr">
                    <a:lnL w="9525" cap="flat" cmpd="sng" algn="ctr">
                      <a:solidFill>
                        <a:srgbClr val="D3E0D8"/>
                      </a:solidFill>
                      <a:prstDash val="solid"/>
                      <a:round/>
                      <a:headEnd type="none" w="med" len="med"/>
                      <a:tailEnd type="none" w="med" len="med"/>
                    </a:lnL>
                    <a:lnR w="9525" cap="flat" cmpd="sng" algn="ctr">
                      <a:solidFill>
                        <a:srgbClr val="D3E0D8"/>
                      </a:solidFill>
                      <a:prstDash val="solid"/>
                      <a:round/>
                      <a:headEnd type="none" w="med" len="med"/>
                      <a:tailEnd type="none" w="med" len="med"/>
                    </a:lnR>
                    <a:lnT w="9525" cap="flat" cmpd="sng" algn="ctr">
                      <a:solidFill>
                        <a:srgbClr val="D3E0D8"/>
                      </a:solidFill>
                      <a:prstDash val="solid"/>
                      <a:round/>
                      <a:headEnd type="none" w="med" len="med"/>
                      <a:tailEnd type="none" w="med" len="med"/>
                    </a:lnT>
                    <a:lnB w="9525" cap="flat" cmpd="sng" algn="ctr">
                      <a:solidFill>
                        <a:srgbClr val="D3E0D8"/>
                      </a:solidFill>
                      <a:prstDash val="solid"/>
                      <a:round/>
                      <a:headEnd type="none" w="med" len="med"/>
                      <a:tailEnd type="none" w="med" len="med"/>
                    </a:lnB>
                    <a:solidFill>
                      <a:srgbClr val="FFFFFF"/>
                    </a:solidFill>
                  </a:tcPr>
                </a:tc>
                <a:tc>
                  <a:txBody>
                    <a:bodyPr/>
                    <a:lstStyle/>
                    <a:p>
                      <a:pPr indent="0" marL="0">
                        <a:buNone/>
                      </a:pPr>
                      <a:r>
                        <a:rPr lang="ru-RU" sz="1400" b="1" dirty="0">
                          <a:solidFill>
                            <a:srgbClr val="1E7B4F"/>
                          </a:solidFill>
                          <a:latin typeface="Calibri" pitchFamily="34" charset="0"/>
                          <a:ea typeface="Calibri" pitchFamily="34" charset="-122"/>
                          <a:cs typeface="Calibri" pitchFamily="34" charset="-120"/>
                        </a:rPr>
                        <a:t>только своими акциями</a:t>
                      </a:r>
                      <a:endParaRPr lang="ru-RU" sz="1400" dirty="0">
                        <a:latin typeface="Calibri" charset="0"/>
                        <a:ea typeface="Calibri" charset="0"/>
                        <a:cs typeface="Calibri" charset="0"/>
                      </a:endParaRPr>
                    </a:p>
                  </a:txBody>
                  <a:tcPr marL="73152" marR="73152" marT="73152" marB="73152" anchor="ctr">
                    <a:lnL w="9525" cap="flat" cmpd="sng" algn="ctr">
                      <a:solidFill>
                        <a:srgbClr val="D3E0D8"/>
                      </a:solidFill>
                      <a:prstDash val="solid"/>
                      <a:round/>
                      <a:headEnd type="none" w="med" len="med"/>
                      <a:tailEnd type="none" w="med" len="med"/>
                    </a:lnL>
                    <a:lnR w="9525" cap="flat" cmpd="sng" algn="ctr">
                      <a:solidFill>
                        <a:srgbClr val="D3E0D8"/>
                      </a:solidFill>
                      <a:prstDash val="solid"/>
                      <a:round/>
                      <a:headEnd type="none" w="med" len="med"/>
                      <a:tailEnd type="none" w="med" len="med"/>
                    </a:lnR>
                    <a:lnT w="9525" cap="flat" cmpd="sng" algn="ctr">
                      <a:solidFill>
                        <a:srgbClr val="D3E0D8"/>
                      </a:solidFill>
                      <a:prstDash val="solid"/>
                      <a:round/>
                      <a:headEnd type="none" w="med" len="med"/>
                      <a:tailEnd type="none" w="med" len="med"/>
                    </a:lnT>
                    <a:lnB w="9525" cap="flat" cmpd="sng" algn="ctr">
                      <a:solidFill>
                        <a:srgbClr val="D3E0D8"/>
                      </a:solidFill>
                      <a:prstDash val="solid"/>
                      <a:round/>
                      <a:headEnd type="none" w="med" len="med"/>
                      <a:tailEnd type="none" w="med" len="med"/>
                    </a:lnB>
                    <a:solidFill>
                      <a:srgbClr val="FFFFFF"/>
                    </a:solidFill>
                  </a:tcPr>
                </a:tc>
              </a:tr>
              <a:tr h="512064">
                <a:tc>
                  <a:txBody>
                    <a:bodyPr/>
                    <a:lstStyle/>
                    <a:p>
                      <a:pPr indent="0" marL="0">
                        <a:buNone/>
                      </a:pPr>
                      <a:r>
                        <a:rPr lang="ru-RU" sz="1400" dirty="0">
                          <a:solidFill>
                            <a:srgbClr val="0F2E24"/>
                          </a:solidFill>
                          <a:latin typeface="Calibri" pitchFamily="34" charset="0"/>
                          <a:ea typeface="Calibri" pitchFamily="34" charset="-122"/>
                          <a:cs typeface="Calibri" pitchFamily="34" charset="-120"/>
                        </a:rPr>
                        <a:t>Полное товарищество</a:t>
                      </a:r>
                      <a:endParaRPr lang="ru-RU" sz="1400" dirty="0">
                        <a:latin typeface="Calibri" charset="0"/>
                        <a:ea typeface="Calibri" charset="0"/>
                        <a:cs typeface="Calibri" charset="0"/>
                      </a:endParaRPr>
                    </a:p>
                  </a:txBody>
                  <a:tcPr marL="73152" marR="73152" marT="73152" marB="73152" anchor="ctr">
                    <a:lnL w="9525" cap="flat" cmpd="sng" algn="ctr">
                      <a:solidFill>
                        <a:srgbClr val="D3E0D8"/>
                      </a:solidFill>
                      <a:prstDash val="solid"/>
                      <a:round/>
                      <a:headEnd type="none" w="med" len="med"/>
                      <a:tailEnd type="none" w="med" len="med"/>
                    </a:lnL>
                    <a:lnR w="9525" cap="flat" cmpd="sng" algn="ctr">
                      <a:solidFill>
                        <a:srgbClr val="D3E0D8"/>
                      </a:solidFill>
                      <a:prstDash val="solid"/>
                      <a:round/>
                      <a:headEnd type="none" w="med" len="med"/>
                      <a:tailEnd type="none" w="med" len="med"/>
                    </a:lnR>
                    <a:lnT w="9525" cap="flat" cmpd="sng" algn="ctr">
                      <a:solidFill>
                        <a:srgbClr val="D3E0D8"/>
                      </a:solidFill>
                      <a:prstDash val="solid"/>
                      <a:round/>
                      <a:headEnd type="none" w="med" len="med"/>
                      <a:tailEnd type="none" w="med" len="med"/>
                    </a:lnT>
                    <a:lnB w="9525" cap="flat" cmpd="sng" algn="ctr">
                      <a:solidFill>
                        <a:srgbClr val="D3E0D8"/>
                      </a:solidFill>
                      <a:prstDash val="solid"/>
                      <a:round/>
                      <a:headEnd type="none" w="med" len="med"/>
                      <a:tailEnd type="none" w="med" len="med"/>
                    </a:lnB>
                    <a:solidFill>
                      <a:srgbClr val="FFFFFF"/>
                    </a:solidFill>
                  </a:tcPr>
                </a:tc>
                <a:tc>
                  <a:txBody>
                    <a:bodyPr/>
                    <a:lstStyle/>
                    <a:p>
                      <a:pPr indent="0" marL="0">
                        <a:buNone/>
                      </a:pPr>
                      <a:r>
                        <a:rPr lang="ru-RU" sz="1400" dirty="0">
                          <a:solidFill>
                            <a:srgbClr val="0F2E24"/>
                          </a:solidFill>
                          <a:latin typeface="Calibri" pitchFamily="34" charset="0"/>
                          <a:ea typeface="Calibri" pitchFamily="34" charset="-122"/>
                          <a:cs typeface="Calibri" pitchFamily="34" charset="-120"/>
                        </a:rPr>
                        <a:t>от 2</a:t>
                      </a:r>
                      <a:endParaRPr lang="ru-RU" sz="1400" dirty="0">
                        <a:latin typeface="Calibri" charset="0"/>
                        <a:ea typeface="Calibri" charset="0"/>
                        <a:cs typeface="Calibri" charset="0"/>
                      </a:endParaRPr>
                    </a:p>
                  </a:txBody>
                  <a:tcPr marL="73152" marR="73152" marT="73152" marB="73152" anchor="ctr">
                    <a:lnL w="9525" cap="flat" cmpd="sng" algn="ctr">
                      <a:solidFill>
                        <a:srgbClr val="D3E0D8"/>
                      </a:solidFill>
                      <a:prstDash val="solid"/>
                      <a:round/>
                      <a:headEnd type="none" w="med" len="med"/>
                      <a:tailEnd type="none" w="med" len="med"/>
                    </a:lnL>
                    <a:lnR w="9525" cap="flat" cmpd="sng" algn="ctr">
                      <a:solidFill>
                        <a:srgbClr val="D3E0D8"/>
                      </a:solidFill>
                      <a:prstDash val="solid"/>
                      <a:round/>
                      <a:headEnd type="none" w="med" len="med"/>
                      <a:tailEnd type="none" w="med" len="med"/>
                    </a:lnR>
                    <a:lnT w="9525" cap="flat" cmpd="sng" algn="ctr">
                      <a:solidFill>
                        <a:srgbClr val="D3E0D8"/>
                      </a:solidFill>
                      <a:prstDash val="solid"/>
                      <a:round/>
                      <a:headEnd type="none" w="med" len="med"/>
                      <a:tailEnd type="none" w="med" len="med"/>
                    </a:lnT>
                    <a:lnB w="9525" cap="flat" cmpd="sng" algn="ctr">
                      <a:solidFill>
                        <a:srgbClr val="D3E0D8"/>
                      </a:solidFill>
                      <a:prstDash val="solid"/>
                      <a:round/>
                      <a:headEnd type="none" w="med" len="med"/>
                      <a:tailEnd type="none" w="med" len="med"/>
                    </a:lnB>
                    <a:solidFill>
                      <a:srgbClr val="FFFFFF"/>
                    </a:solidFill>
                  </a:tcPr>
                </a:tc>
                <a:tc>
                  <a:txBody>
                    <a:bodyPr/>
                    <a:lstStyle/>
                    <a:p>
                      <a:pPr indent="0" marL="0">
                        <a:buNone/>
                      </a:pPr>
                      <a:r>
                        <a:rPr lang="ru-RU" sz="1400" b="1" dirty="0">
                          <a:solidFill>
                            <a:srgbClr val="B23A48"/>
                          </a:solidFill>
                          <a:latin typeface="Calibri" pitchFamily="34" charset="0"/>
                          <a:ea typeface="Calibri" pitchFamily="34" charset="-122"/>
                          <a:cs typeface="Calibri" pitchFamily="34" charset="-120"/>
                        </a:rPr>
                        <a:t>всем имуществом, солидарно</a:t>
                      </a:r>
                      <a:endParaRPr lang="ru-RU" sz="1400" dirty="0">
                        <a:latin typeface="Calibri" charset="0"/>
                        <a:ea typeface="Calibri" charset="0"/>
                        <a:cs typeface="Calibri" charset="0"/>
                      </a:endParaRPr>
                    </a:p>
                  </a:txBody>
                  <a:tcPr marL="73152" marR="73152" marT="73152" marB="73152" anchor="ctr">
                    <a:lnL w="9525" cap="flat" cmpd="sng" algn="ctr">
                      <a:solidFill>
                        <a:srgbClr val="D3E0D8"/>
                      </a:solidFill>
                      <a:prstDash val="solid"/>
                      <a:round/>
                      <a:headEnd type="none" w="med" len="med"/>
                      <a:tailEnd type="none" w="med" len="med"/>
                    </a:lnL>
                    <a:lnR w="9525" cap="flat" cmpd="sng" algn="ctr">
                      <a:solidFill>
                        <a:srgbClr val="D3E0D8"/>
                      </a:solidFill>
                      <a:prstDash val="solid"/>
                      <a:round/>
                      <a:headEnd type="none" w="med" len="med"/>
                      <a:tailEnd type="none" w="med" len="med"/>
                    </a:lnR>
                    <a:lnT w="9525" cap="flat" cmpd="sng" algn="ctr">
                      <a:solidFill>
                        <a:srgbClr val="D3E0D8"/>
                      </a:solidFill>
                      <a:prstDash val="solid"/>
                      <a:round/>
                      <a:headEnd type="none" w="med" len="med"/>
                      <a:tailEnd type="none" w="med" len="med"/>
                    </a:lnT>
                    <a:lnB w="9525" cap="flat" cmpd="sng" algn="ctr">
                      <a:solidFill>
                        <a:srgbClr val="D3E0D8"/>
                      </a:solidFill>
                      <a:prstDash val="solid"/>
                      <a:round/>
                      <a:headEnd type="none" w="med" len="med"/>
                      <a:tailEnd type="none" w="med" len="med"/>
                    </a:lnB>
                    <a:solidFill>
                      <a:srgbClr val="FFFFFF"/>
                    </a:solidFill>
                  </a:tcPr>
                </a:tc>
              </a:tr>
              <a:tr h="512064">
                <a:tc>
                  <a:txBody>
                    <a:bodyPr/>
                    <a:lstStyle/>
                    <a:p>
                      <a:pPr indent="0" marL="0">
                        <a:buNone/>
                      </a:pPr>
                      <a:r>
                        <a:rPr lang="ru-RU" sz="1400" dirty="0">
                          <a:solidFill>
                            <a:srgbClr val="0F2E24"/>
                          </a:solidFill>
                          <a:latin typeface="Calibri" pitchFamily="34" charset="0"/>
                          <a:ea typeface="Calibri" pitchFamily="34" charset="-122"/>
                          <a:cs typeface="Calibri" pitchFamily="34" charset="-120"/>
                        </a:rPr>
                        <a:t>Производственный кооператив</a:t>
                      </a:r>
                      <a:endParaRPr lang="ru-RU" sz="1400" dirty="0">
                        <a:latin typeface="Calibri" charset="0"/>
                        <a:ea typeface="Calibri" charset="0"/>
                        <a:cs typeface="Calibri" charset="0"/>
                      </a:endParaRPr>
                    </a:p>
                  </a:txBody>
                  <a:tcPr marL="73152" marR="73152" marT="73152" marB="73152" anchor="ctr">
                    <a:lnL w="9525" cap="flat" cmpd="sng" algn="ctr">
                      <a:solidFill>
                        <a:srgbClr val="D3E0D8"/>
                      </a:solidFill>
                      <a:prstDash val="solid"/>
                      <a:round/>
                      <a:headEnd type="none" w="med" len="med"/>
                      <a:tailEnd type="none" w="med" len="med"/>
                    </a:lnL>
                    <a:lnR w="9525" cap="flat" cmpd="sng" algn="ctr">
                      <a:solidFill>
                        <a:srgbClr val="D3E0D8"/>
                      </a:solidFill>
                      <a:prstDash val="solid"/>
                      <a:round/>
                      <a:headEnd type="none" w="med" len="med"/>
                      <a:tailEnd type="none" w="med" len="med"/>
                    </a:lnR>
                    <a:lnT w="9525" cap="flat" cmpd="sng" algn="ctr">
                      <a:solidFill>
                        <a:srgbClr val="D3E0D8"/>
                      </a:solidFill>
                      <a:prstDash val="solid"/>
                      <a:round/>
                      <a:headEnd type="none" w="med" len="med"/>
                      <a:tailEnd type="none" w="med" len="med"/>
                    </a:lnT>
                    <a:lnB w="9525" cap="flat" cmpd="sng" algn="ctr">
                      <a:solidFill>
                        <a:srgbClr val="D3E0D8"/>
                      </a:solidFill>
                      <a:prstDash val="solid"/>
                      <a:round/>
                      <a:headEnd type="none" w="med" len="med"/>
                      <a:tailEnd type="none" w="med" len="med"/>
                    </a:lnB>
                    <a:solidFill>
                      <a:srgbClr val="FFFFFF"/>
                    </a:solidFill>
                  </a:tcPr>
                </a:tc>
                <a:tc>
                  <a:txBody>
                    <a:bodyPr/>
                    <a:lstStyle/>
                    <a:p>
                      <a:pPr indent="0" marL="0">
                        <a:buNone/>
                      </a:pPr>
                      <a:r>
                        <a:rPr lang="ru-RU" sz="1400" dirty="0">
                          <a:solidFill>
                            <a:srgbClr val="0F2E24"/>
                          </a:solidFill>
                          <a:latin typeface="Calibri" pitchFamily="34" charset="0"/>
                          <a:ea typeface="Calibri" pitchFamily="34" charset="-122"/>
                          <a:cs typeface="Calibri" pitchFamily="34" charset="-120"/>
                        </a:rPr>
                        <a:t>от 5</a:t>
                      </a:r>
                      <a:endParaRPr lang="ru-RU" sz="1400" dirty="0">
                        <a:latin typeface="Calibri" charset="0"/>
                        <a:ea typeface="Calibri" charset="0"/>
                        <a:cs typeface="Calibri" charset="0"/>
                      </a:endParaRPr>
                    </a:p>
                  </a:txBody>
                  <a:tcPr marL="73152" marR="73152" marT="73152" marB="73152" anchor="ctr">
                    <a:lnL w="9525" cap="flat" cmpd="sng" algn="ctr">
                      <a:solidFill>
                        <a:srgbClr val="D3E0D8"/>
                      </a:solidFill>
                      <a:prstDash val="solid"/>
                      <a:round/>
                      <a:headEnd type="none" w="med" len="med"/>
                      <a:tailEnd type="none" w="med" len="med"/>
                    </a:lnL>
                    <a:lnR w="9525" cap="flat" cmpd="sng" algn="ctr">
                      <a:solidFill>
                        <a:srgbClr val="D3E0D8"/>
                      </a:solidFill>
                      <a:prstDash val="solid"/>
                      <a:round/>
                      <a:headEnd type="none" w="med" len="med"/>
                      <a:tailEnd type="none" w="med" len="med"/>
                    </a:lnR>
                    <a:lnT w="9525" cap="flat" cmpd="sng" algn="ctr">
                      <a:solidFill>
                        <a:srgbClr val="D3E0D8"/>
                      </a:solidFill>
                      <a:prstDash val="solid"/>
                      <a:round/>
                      <a:headEnd type="none" w="med" len="med"/>
                      <a:tailEnd type="none" w="med" len="med"/>
                    </a:lnT>
                    <a:lnB w="9525" cap="flat" cmpd="sng" algn="ctr">
                      <a:solidFill>
                        <a:srgbClr val="D3E0D8"/>
                      </a:solidFill>
                      <a:prstDash val="solid"/>
                      <a:round/>
                      <a:headEnd type="none" w="med" len="med"/>
                      <a:tailEnd type="none" w="med" len="med"/>
                    </a:lnB>
                    <a:solidFill>
                      <a:srgbClr val="FFFFFF"/>
                    </a:solidFill>
                  </a:tcPr>
                </a:tc>
                <a:tc>
                  <a:txBody>
                    <a:bodyPr/>
                    <a:lstStyle/>
                    <a:p>
                      <a:pPr indent="0" marL="0">
                        <a:buNone/>
                      </a:pPr>
                      <a:r>
                        <a:rPr lang="ru-RU" sz="1400" dirty="0">
                          <a:solidFill>
                            <a:srgbClr val="0F2E24"/>
                          </a:solidFill>
                          <a:latin typeface="Calibri" pitchFamily="34" charset="0"/>
                          <a:ea typeface="Calibri" pitchFamily="34" charset="-122"/>
                          <a:cs typeface="Calibri" pitchFamily="34" charset="-120"/>
                        </a:rPr>
                        <a:t>дополнительно — по уставу</a:t>
                      </a:r>
                      <a:endParaRPr lang="ru-RU" sz="1400" dirty="0">
                        <a:latin typeface="Calibri" charset="0"/>
                        <a:ea typeface="Calibri" charset="0"/>
                        <a:cs typeface="Calibri" charset="0"/>
                      </a:endParaRPr>
                    </a:p>
                  </a:txBody>
                  <a:tcPr marL="73152" marR="73152" marT="73152" marB="73152" anchor="ctr">
                    <a:lnL w="9525" cap="flat" cmpd="sng" algn="ctr">
                      <a:solidFill>
                        <a:srgbClr val="D3E0D8"/>
                      </a:solidFill>
                      <a:prstDash val="solid"/>
                      <a:round/>
                      <a:headEnd type="none" w="med" len="med"/>
                      <a:tailEnd type="none" w="med" len="med"/>
                    </a:lnL>
                    <a:lnR w="9525" cap="flat" cmpd="sng" algn="ctr">
                      <a:solidFill>
                        <a:srgbClr val="D3E0D8"/>
                      </a:solidFill>
                      <a:prstDash val="solid"/>
                      <a:round/>
                      <a:headEnd type="none" w="med" len="med"/>
                      <a:tailEnd type="none" w="med" len="med"/>
                    </a:lnR>
                    <a:lnT w="9525" cap="flat" cmpd="sng" algn="ctr">
                      <a:solidFill>
                        <a:srgbClr val="D3E0D8"/>
                      </a:solidFill>
                      <a:prstDash val="solid"/>
                      <a:round/>
                      <a:headEnd type="none" w="med" len="med"/>
                      <a:tailEnd type="none" w="med" len="med"/>
                    </a:lnT>
                    <a:lnB w="9525" cap="flat" cmpd="sng" algn="ctr">
                      <a:solidFill>
                        <a:srgbClr val="D3E0D8"/>
                      </a:solidFill>
                      <a:prstDash val="solid"/>
                      <a:round/>
                      <a:headEnd type="none" w="med" len="med"/>
                      <a:tailEnd type="none" w="med" len="med"/>
                    </a:lnB>
                    <a:solidFill>
                      <a:srgbClr val="FFFFFF"/>
                    </a:solidFill>
                  </a:tcPr>
                </a:tc>
              </a:tr>
              <a:tr h="512064">
                <a:tc>
                  <a:txBody>
                    <a:bodyPr/>
                    <a:lstStyle/>
                    <a:p>
                      <a:pPr indent="0" marL="0">
                        <a:buNone/>
                      </a:pPr>
                      <a:r>
                        <a:rPr lang="ru-RU" sz="1400" dirty="0">
                          <a:solidFill>
                            <a:srgbClr val="0F2E24"/>
                          </a:solidFill>
                          <a:latin typeface="Calibri" pitchFamily="34" charset="0"/>
                          <a:ea typeface="Calibri" pitchFamily="34" charset="-122"/>
                          <a:cs typeface="Calibri" pitchFamily="34" charset="-120"/>
                        </a:rPr>
                        <a:t>ГУП и МУП</a:t>
                      </a:r>
                      <a:endParaRPr lang="ru-RU" sz="1400" dirty="0">
                        <a:latin typeface="Calibri" charset="0"/>
                        <a:ea typeface="Calibri" charset="0"/>
                        <a:cs typeface="Calibri" charset="0"/>
                      </a:endParaRPr>
                    </a:p>
                  </a:txBody>
                  <a:tcPr marL="73152" marR="73152" marT="73152" marB="73152" anchor="ctr">
                    <a:lnL w="9525" cap="flat" cmpd="sng" algn="ctr">
                      <a:solidFill>
                        <a:srgbClr val="D3E0D8"/>
                      </a:solidFill>
                      <a:prstDash val="solid"/>
                      <a:round/>
                      <a:headEnd type="none" w="med" len="med"/>
                      <a:tailEnd type="none" w="med" len="med"/>
                    </a:lnL>
                    <a:lnR w="9525" cap="flat" cmpd="sng" algn="ctr">
                      <a:solidFill>
                        <a:srgbClr val="D3E0D8"/>
                      </a:solidFill>
                      <a:prstDash val="solid"/>
                      <a:round/>
                      <a:headEnd type="none" w="med" len="med"/>
                      <a:tailEnd type="none" w="med" len="med"/>
                    </a:lnR>
                    <a:lnT w="9525" cap="flat" cmpd="sng" algn="ctr">
                      <a:solidFill>
                        <a:srgbClr val="D3E0D8"/>
                      </a:solidFill>
                      <a:prstDash val="solid"/>
                      <a:round/>
                      <a:headEnd type="none" w="med" len="med"/>
                      <a:tailEnd type="none" w="med" len="med"/>
                    </a:lnT>
                    <a:lnB w="9525" cap="flat" cmpd="sng" algn="ctr">
                      <a:solidFill>
                        <a:srgbClr val="D3E0D8"/>
                      </a:solidFill>
                      <a:prstDash val="solid"/>
                      <a:round/>
                      <a:headEnd type="none" w="med" len="med"/>
                      <a:tailEnd type="none" w="med" len="med"/>
                    </a:lnB>
                    <a:solidFill>
                      <a:srgbClr val="FFFFFF"/>
                    </a:solidFill>
                  </a:tcPr>
                </a:tc>
                <a:tc>
                  <a:txBody>
                    <a:bodyPr/>
                    <a:lstStyle/>
                    <a:p>
                      <a:pPr indent="0" marL="0">
                        <a:buNone/>
                      </a:pPr>
                      <a:r>
                        <a:rPr lang="ru-RU" sz="1400" dirty="0">
                          <a:solidFill>
                            <a:srgbClr val="0F2E24"/>
                          </a:solidFill>
                          <a:latin typeface="Calibri" pitchFamily="34" charset="0"/>
                          <a:ea typeface="Calibri" pitchFamily="34" charset="-122"/>
                          <a:cs typeface="Calibri" pitchFamily="34" charset="-120"/>
                        </a:rPr>
                        <a:t>учредитель — государство</a:t>
                      </a:r>
                      <a:endParaRPr lang="ru-RU" sz="1400" dirty="0">
                        <a:latin typeface="Calibri" charset="0"/>
                        <a:ea typeface="Calibri" charset="0"/>
                        <a:cs typeface="Calibri" charset="0"/>
                      </a:endParaRPr>
                    </a:p>
                  </a:txBody>
                  <a:tcPr marL="73152" marR="73152" marT="73152" marB="73152" anchor="ctr">
                    <a:lnL w="9525" cap="flat" cmpd="sng" algn="ctr">
                      <a:solidFill>
                        <a:srgbClr val="D3E0D8"/>
                      </a:solidFill>
                      <a:prstDash val="solid"/>
                      <a:round/>
                      <a:headEnd type="none" w="med" len="med"/>
                      <a:tailEnd type="none" w="med" len="med"/>
                    </a:lnL>
                    <a:lnR w="9525" cap="flat" cmpd="sng" algn="ctr">
                      <a:solidFill>
                        <a:srgbClr val="D3E0D8"/>
                      </a:solidFill>
                      <a:prstDash val="solid"/>
                      <a:round/>
                      <a:headEnd type="none" w="med" len="med"/>
                      <a:tailEnd type="none" w="med" len="med"/>
                    </a:lnR>
                    <a:lnT w="9525" cap="flat" cmpd="sng" algn="ctr">
                      <a:solidFill>
                        <a:srgbClr val="D3E0D8"/>
                      </a:solidFill>
                      <a:prstDash val="solid"/>
                      <a:round/>
                      <a:headEnd type="none" w="med" len="med"/>
                      <a:tailEnd type="none" w="med" len="med"/>
                    </a:lnT>
                    <a:lnB w="9525" cap="flat" cmpd="sng" algn="ctr">
                      <a:solidFill>
                        <a:srgbClr val="D3E0D8"/>
                      </a:solidFill>
                      <a:prstDash val="solid"/>
                      <a:round/>
                      <a:headEnd type="none" w="med" len="med"/>
                      <a:tailEnd type="none" w="med" len="med"/>
                    </a:lnB>
                    <a:solidFill>
                      <a:srgbClr val="FFFFFF"/>
                    </a:solidFill>
                  </a:tcPr>
                </a:tc>
                <a:tc>
                  <a:txBody>
                    <a:bodyPr/>
                    <a:lstStyle/>
                    <a:p>
                      <a:pPr indent="0" marL="0">
                        <a:buNone/>
                      </a:pPr>
                      <a:r>
                        <a:rPr lang="ru-RU" sz="1400" dirty="0">
                          <a:solidFill>
                            <a:srgbClr val="0F2E24"/>
                          </a:solidFill>
                          <a:latin typeface="Calibri" pitchFamily="34" charset="0"/>
                          <a:ea typeface="Calibri" pitchFamily="34" charset="-122"/>
                          <a:cs typeface="Calibri" pitchFamily="34" charset="-120"/>
                        </a:rPr>
                        <a:t>имущество принадлежит государству</a:t>
                      </a:r>
                      <a:endParaRPr lang="ru-RU" sz="1400" dirty="0">
                        <a:latin typeface="Calibri" charset="0"/>
                        <a:ea typeface="Calibri" charset="0"/>
                        <a:cs typeface="Calibri" charset="0"/>
                      </a:endParaRPr>
                    </a:p>
                  </a:txBody>
                  <a:tcPr marL="73152" marR="73152" marT="73152" marB="73152" anchor="ctr">
                    <a:lnL w="9525" cap="flat" cmpd="sng" algn="ctr">
                      <a:solidFill>
                        <a:srgbClr val="D3E0D8"/>
                      </a:solidFill>
                      <a:prstDash val="solid"/>
                      <a:round/>
                      <a:headEnd type="none" w="med" len="med"/>
                      <a:tailEnd type="none" w="med" len="med"/>
                    </a:lnL>
                    <a:lnR w="9525" cap="flat" cmpd="sng" algn="ctr">
                      <a:solidFill>
                        <a:srgbClr val="D3E0D8"/>
                      </a:solidFill>
                      <a:prstDash val="solid"/>
                      <a:round/>
                      <a:headEnd type="none" w="med" len="med"/>
                      <a:tailEnd type="none" w="med" len="med"/>
                    </a:lnR>
                    <a:lnT w="9525" cap="flat" cmpd="sng" algn="ctr">
                      <a:solidFill>
                        <a:srgbClr val="D3E0D8"/>
                      </a:solidFill>
                      <a:prstDash val="solid"/>
                      <a:round/>
                      <a:headEnd type="none" w="med" len="med"/>
                      <a:tailEnd type="none" w="med" len="med"/>
                    </a:lnT>
                    <a:lnB w="9525" cap="flat" cmpd="sng" algn="ctr">
                      <a:solidFill>
                        <a:srgbClr val="D3E0D8"/>
                      </a:solidFill>
                      <a:prstDash val="solid"/>
                      <a:round/>
                      <a:headEnd type="none" w="med" len="med"/>
                      <a:tailEnd type="none" w="med" len="med"/>
                    </a:lnB>
                    <a:solidFill>
                      <a:srgbClr val="FFFFFF"/>
                    </a:solidFill>
                  </a:tcPr>
                </a:tc>
              </a:tr>
            </a:tbl>
          </a:graphicData>
        </a:graphic>
      </p:graphicFrame>
      <p:sp>
        <p:nvSpPr>
          <p:cNvPr id="6" name="a_02_tp0"/>
          <p:cNvSpPr/>
          <p:nvPr/>
        </p:nvSpPr>
        <p:spPr>
          <a:xfrm>
            <a:off x="8321040" y="1463040"/>
            <a:ext cx="3291840" cy="1078992"/>
          </a:xfrm>
          <a:prstGeom prst="roundRect">
            <a:avLst>
              <a:gd name="adj" fmla="val 10169"/>
            </a:avLst>
          </a:prstGeom>
          <a:solidFill>
            <a:schemeClr val="bg2"/>
          </a:solidFill>
          <a:ln w="9525">
            <a:solidFill>
              <a:schemeClr val="bg2"/>
            </a:solidFill>
            <a:prstDash val="solid"/>
          </a:ln>
        </p:spPr>
      </p:sp>
      <p:sp>
        <p:nvSpPr>
          <p:cNvPr id="7" name="a_02_td0_c"/>
          <p:cNvSpPr/>
          <p:nvPr/>
        </p:nvSpPr>
        <p:spPr>
          <a:xfrm>
            <a:off x="8503920" y="1682496"/>
            <a:ext cx="640080" cy="640080"/>
          </a:xfrm>
          <a:prstGeom prst="ellipse">
            <a:avLst/>
          </a:prstGeom>
          <a:solidFill>
            <a:schemeClr val="accent2"/>
          </a:solidFill>
          <a:ln w="12700">
            <a:solidFill>
              <a:schemeClr val="accent2"/>
            </a:solidFill>
            <a:prstDash val="solid"/>
          </a:ln>
        </p:spPr>
      </p:sp>
      <p:pic>
        <p:nvPicPr>
          <p:cNvPr id="8" name="a_02_td0_i" descr="/tmp/claude-0/-home-user-musor/c6980a0f-2a52-569f-a1fc-691d09a5d10f/scratchpad/biz/icons/user_w.png">    </p:cNvPr>
          <p:cNvPicPr>
            <a:picLocks noChangeAspect="1"/>
          </p:cNvPicPr>
          <p:nvPr/>
        </p:nvPicPr>
        <p:blipFill>
          <a:blip r:embed="rId1"/>
          <a:stretch>
            <a:fillRect/>
          </a:stretch>
        </p:blipFill>
        <p:spPr>
          <a:xfrm>
            <a:off x="8670341" y="1848917"/>
            <a:ext cx="307238" cy="307238"/>
          </a:xfrm>
          <a:prstGeom prst="rect">
            <a:avLst/>
          </a:prstGeom>
        </p:spPr>
      </p:pic>
      <p:sp>
        <p:nvSpPr>
          <p:cNvPr id="9" name="a_02_tt0"/>
          <p:cNvSpPr txBox="1"/>
          <p:nvPr/>
        </p:nvSpPr>
        <p:spPr>
          <a:xfrm>
            <a:off x="9281160" y="1591056"/>
            <a:ext cx="2240280" cy="457200"/>
          </a:xfrm>
          <a:prstGeom prst="rect">
            <a:avLst/>
          </a:prstGeom>
          <a:noFill/>
          <a:ln/>
        </p:spPr>
        <p:txBody>
          <a:bodyPr wrap="square" lIns="0" tIns="0" rIns="0" bIns="0" rtlCol="0" anchor="t"/>
          <a:lstStyle/>
          <a:p>
            <a:pPr indent="0" marL="0">
              <a:buNone/>
            </a:pPr>
            <a:r>
              <a:rPr lang="ru-RU" sz="1400" dirty="0">
                <a:solidFill>
                  <a:schemeClr val="tx2"/>
                </a:solidFill>
              </a:rPr>
              <a:t>Начать в одиночку</a:t>
            </a:r>
            <a:endParaRPr lang="ru-RU" sz="1400" dirty="0"/>
          </a:p>
        </p:txBody>
      </p:sp>
      <p:sp>
        <p:nvSpPr>
          <p:cNvPr id="10" name="a_02_tx0"/>
          <p:cNvSpPr txBox="1"/>
          <p:nvPr/>
        </p:nvSpPr>
        <p:spPr>
          <a:xfrm>
            <a:off x="9281160" y="2066544"/>
            <a:ext cx="2240280" cy="365760"/>
          </a:xfrm>
          <a:prstGeom prst="rect">
            <a:avLst/>
          </a:prstGeom>
          <a:noFill/>
          <a:ln/>
        </p:spPr>
        <p:txBody>
          <a:bodyPr wrap="square" lIns="0" tIns="0" rIns="0" bIns="0" rtlCol="0" anchor="ctr"/>
          <a:lstStyle/>
          <a:p>
            <a:pPr indent="0" marL="0">
              <a:buNone/>
            </a:pPr>
            <a:r>
              <a:rPr lang="ru-RU" sz="1800" b="1" dirty="0">
                <a:solidFill>
                  <a:schemeClr val="tx1"/>
                </a:solidFill>
              </a:rPr>
              <a:t>ИП или ООО</a:t>
            </a:r>
            <a:endParaRPr lang="ru-RU" sz="1800" dirty="0"/>
          </a:p>
        </p:txBody>
      </p:sp>
      <p:sp>
        <p:nvSpPr>
          <p:cNvPr id="11" name="a_03_tp1"/>
          <p:cNvSpPr/>
          <p:nvPr/>
        </p:nvSpPr>
        <p:spPr>
          <a:xfrm>
            <a:off x="8321040" y="2679192"/>
            <a:ext cx="3291840" cy="1078992"/>
          </a:xfrm>
          <a:prstGeom prst="roundRect">
            <a:avLst>
              <a:gd name="adj" fmla="val 10169"/>
            </a:avLst>
          </a:prstGeom>
          <a:solidFill>
            <a:schemeClr val="bg2"/>
          </a:solidFill>
          <a:ln w="9525">
            <a:solidFill>
              <a:schemeClr val="bg2"/>
            </a:solidFill>
            <a:prstDash val="solid"/>
          </a:ln>
        </p:spPr>
      </p:sp>
      <p:sp>
        <p:nvSpPr>
          <p:cNvPr id="12" name="a_03_td1_c"/>
          <p:cNvSpPr/>
          <p:nvPr/>
        </p:nvSpPr>
        <p:spPr>
          <a:xfrm>
            <a:off x="8503920" y="2898648"/>
            <a:ext cx="640080" cy="640080"/>
          </a:xfrm>
          <a:prstGeom prst="ellipse">
            <a:avLst/>
          </a:prstGeom>
          <a:solidFill>
            <a:schemeClr val="accent1"/>
          </a:solidFill>
          <a:ln w="12700">
            <a:solidFill>
              <a:schemeClr val="accent1"/>
            </a:solidFill>
            <a:prstDash val="solid"/>
          </a:ln>
        </p:spPr>
      </p:sp>
      <p:pic>
        <p:nvPicPr>
          <p:cNvPr id="13" name="a_03_td1_i" descr="/tmp/claude-0/-home-user-musor/c6980a0f-2a52-569f-a1fc-691d09a5d10f/scratchpad/biz/icons/chart_w.png">    </p:cNvPr>
          <p:cNvPicPr>
            <a:picLocks noChangeAspect="1"/>
          </p:cNvPicPr>
          <p:nvPr/>
        </p:nvPicPr>
        <p:blipFill>
          <a:blip r:embed="rId2"/>
          <a:stretch>
            <a:fillRect/>
          </a:stretch>
        </p:blipFill>
        <p:spPr>
          <a:xfrm>
            <a:off x="8670341" y="3065069"/>
            <a:ext cx="307238" cy="307238"/>
          </a:xfrm>
          <a:prstGeom prst="rect">
            <a:avLst/>
          </a:prstGeom>
        </p:spPr>
      </p:pic>
      <p:sp>
        <p:nvSpPr>
          <p:cNvPr id="14" name="a_03_tt1"/>
          <p:cNvSpPr txBox="1"/>
          <p:nvPr/>
        </p:nvSpPr>
        <p:spPr>
          <a:xfrm>
            <a:off x="9281160" y="2807208"/>
            <a:ext cx="2240280" cy="457200"/>
          </a:xfrm>
          <a:prstGeom prst="rect">
            <a:avLst/>
          </a:prstGeom>
          <a:noFill/>
          <a:ln/>
        </p:spPr>
        <p:txBody>
          <a:bodyPr wrap="square" lIns="0" tIns="0" rIns="0" bIns="0" rtlCol="0" anchor="t"/>
          <a:lstStyle/>
          <a:p>
            <a:pPr indent="0" marL="0">
              <a:buNone/>
            </a:pPr>
            <a:r>
              <a:rPr lang="ru-RU" sz="1400" dirty="0">
                <a:solidFill>
                  <a:schemeClr val="tx2"/>
                </a:solidFill>
              </a:rPr>
              <a:t>Привлечь инвесторов</a:t>
            </a:r>
            <a:endParaRPr lang="ru-RU" sz="1400" dirty="0"/>
          </a:p>
        </p:txBody>
      </p:sp>
      <p:sp>
        <p:nvSpPr>
          <p:cNvPr id="15" name="a_03_tx1"/>
          <p:cNvSpPr txBox="1"/>
          <p:nvPr/>
        </p:nvSpPr>
        <p:spPr>
          <a:xfrm>
            <a:off x="9281160" y="3282696"/>
            <a:ext cx="2240280" cy="365760"/>
          </a:xfrm>
          <a:prstGeom prst="rect">
            <a:avLst/>
          </a:prstGeom>
          <a:noFill/>
          <a:ln/>
        </p:spPr>
        <p:txBody>
          <a:bodyPr wrap="square" lIns="0" tIns="0" rIns="0" bIns="0" rtlCol="0" anchor="ctr"/>
          <a:lstStyle/>
          <a:p>
            <a:pPr indent="0" marL="0">
              <a:buNone/>
            </a:pPr>
            <a:r>
              <a:rPr lang="ru-RU" sz="1800" b="1" dirty="0">
                <a:solidFill>
                  <a:schemeClr val="tx1"/>
                </a:solidFill>
              </a:rPr>
              <a:t>АО или ПАО</a:t>
            </a:r>
            <a:endParaRPr lang="ru-RU" sz="1800" dirty="0"/>
          </a:p>
        </p:txBody>
      </p:sp>
      <p:sp>
        <p:nvSpPr>
          <p:cNvPr id="16" name="a_04_tp2"/>
          <p:cNvSpPr/>
          <p:nvPr/>
        </p:nvSpPr>
        <p:spPr>
          <a:xfrm>
            <a:off x="8321040" y="3895344"/>
            <a:ext cx="3291840" cy="1078992"/>
          </a:xfrm>
          <a:prstGeom prst="roundRect">
            <a:avLst>
              <a:gd name="adj" fmla="val 10169"/>
            </a:avLst>
          </a:prstGeom>
          <a:solidFill>
            <a:schemeClr val="bg2"/>
          </a:solidFill>
          <a:ln w="9525">
            <a:solidFill>
              <a:schemeClr val="bg2"/>
            </a:solidFill>
            <a:prstDash val="solid"/>
          </a:ln>
        </p:spPr>
      </p:sp>
      <p:sp>
        <p:nvSpPr>
          <p:cNvPr id="17" name="a_04_td2_c"/>
          <p:cNvSpPr/>
          <p:nvPr/>
        </p:nvSpPr>
        <p:spPr>
          <a:xfrm>
            <a:off x="8503920" y="4114800"/>
            <a:ext cx="640080" cy="640080"/>
          </a:xfrm>
          <a:prstGeom prst="ellipse">
            <a:avLst/>
          </a:prstGeom>
          <a:solidFill>
            <a:schemeClr val="accent3"/>
          </a:solidFill>
          <a:ln w="12700">
            <a:solidFill>
              <a:schemeClr val="accent3"/>
            </a:solidFill>
            <a:prstDash val="solid"/>
          </a:ln>
        </p:spPr>
      </p:sp>
      <p:pic>
        <p:nvPicPr>
          <p:cNvPr id="18" name="a_04_td2_i" descr="/tmp/claude-0/-home-user-musor/c6980a0f-2a52-569f-a1fc-691d09a5d10f/scratchpad/biz/icons/shield_w.png">    </p:cNvPr>
          <p:cNvPicPr>
            <a:picLocks noChangeAspect="1"/>
          </p:cNvPicPr>
          <p:nvPr/>
        </p:nvPicPr>
        <p:blipFill>
          <a:blip r:embed="rId3"/>
          <a:stretch>
            <a:fillRect/>
          </a:stretch>
        </p:blipFill>
        <p:spPr>
          <a:xfrm>
            <a:off x="8670341" y="4281221"/>
            <a:ext cx="307238" cy="307238"/>
          </a:xfrm>
          <a:prstGeom prst="rect">
            <a:avLst/>
          </a:prstGeom>
        </p:spPr>
      </p:pic>
      <p:sp>
        <p:nvSpPr>
          <p:cNvPr id="19" name="a_04_tt2"/>
          <p:cNvSpPr txBox="1"/>
          <p:nvPr/>
        </p:nvSpPr>
        <p:spPr>
          <a:xfrm>
            <a:off x="9281160" y="4023360"/>
            <a:ext cx="2240280" cy="457200"/>
          </a:xfrm>
          <a:prstGeom prst="rect">
            <a:avLst/>
          </a:prstGeom>
          <a:noFill/>
          <a:ln/>
        </p:spPr>
        <p:txBody>
          <a:bodyPr wrap="square" lIns="0" tIns="0" rIns="0" bIns="0" rtlCol="0" anchor="t"/>
          <a:lstStyle/>
          <a:p>
            <a:pPr indent="0" marL="0">
              <a:buNone/>
            </a:pPr>
            <a:r>
              <a:rPr lang="ru-RU" sz="1400" dirty="0">
                <a:solidFill>
                  <a:schemeClr val="tx2"/>
                </a:solidFill>
              </a:rPr>
              <a:t>Не рисковать личным имуществом</a:t>
            </a:r>
            <a:endParaRPr lang="ru-RU" sz="1400" dirty="0"/>
          </a:p>
        </p:txBody>
      </p:sp>
      <p:sp>
        <p:nvSpPr>
          <p:cNvPr id="20" name="a_04_tx2"/>
          <p:cNvSpPr txBox="1"/>
          <p:nvPr/>
        </p:nvSpPr>
        <p:spPr>
          <a:xfrm>
            <a:off x="9281160" y="4498848"/>
            <a:ext cx="2240280" cy="365760"/>
          </a:xfrm>
          <a:prstGeom prst="rect">
            <a:avLst/>
          </a:prstGeom>
          <a:noFill/>
          <a:ln/>
        </p:spPr>
        <p:txBody>
          <a:bodyPr wrap="square" lIns="0" tIns="0" rIns="0" bIns="0" rtlCol="0" anchor="ctr"/>
          <a:lstStyle/>
          <a:p>
            <a:pPr indent="0" marL="0">
              <a:buNone/>
            </a:pPr>
            <a:r>
              <a:rPr lang="ru-RU" sz="1800" b="1" dirty="0">
                <a:solidFill>
                  <a:schemeClr val="tx1"/>
                </a:solidFill>
              </a:rPr>
              <a:t>ООО или АО</a:t>
            </a:r>
            <a:endParaRPr lang="ru-RU" sz="1800" dirty="0"/>
          </a:p>
        </p:txBody>
      </p:sp>
      <p:sp>
        <p:nvSpPr>
          <p:cNvPr id="21" name="a_05_thx"/>
          <p:cNvSpPr txBox="1"/>
          <p:nvPr/>
        </p:nvSpPr>
        <p:spPr>
          <a:xfrm>
            <a:off x="548640" y="5349240"/>
            <a:ext cx="11064240" cy="685800"/>
          </a:xfrm>
          <a:prstGeom prst="rect">
            <a:avLst/>
          </a:prstGeom>
          <a:noFill/>
          <a:ln/>
        </p:spPr>
        <p:txBody>
          <a:bodyPr wrap="square" lIns="0" tIns="0" rIns="0" bIns="0" rtlCol="0" anchor="ctr"/>
          <a:lstStyle/>
          <a:p>
            <a:pPr indent="0" marL="0">
              <a:buNone/>
            </a:pPr>
            <a:r>
              <a:rPr lang="ru-RU" sz="3200" b="1" dirty="0">
                <a:solidFill>
                  <a:schemeClr val="tx1"/>
                </a:solidFill>
                <a:latin typeface="Georgia" pitchFamily="34" charset="0"/>
                <a:ea typeface="Georgia" pitchFamily="34" charset="-122"/>
                <a:cs typeface="Georgia" pitchFamily="34" charset="-120"/>
              </a:rPr>
              <a:t>Спасибо за внимание!</a:t>
            </a:r>
            <a:endParaRPr lang="ru-RU" sz="3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ru-RU"/>
              <a:t>8</a:t>
            </a:fld>
            <a:endParaRPr lang="ru-RU"/>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250"/>
                            </p:stCondLst>
                            <p:childTnLst>
                              <p:par>
                                <p:cTn id="5" presetID="42"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600"/>
                                        <p:tgtEl>
                                          <p:spTgt spid="9"/>
                                        </p:tgtEl>
                                      </p:cBhvr>
                                    </p:animEffect>
                                    <p:anim calcmode="lin" valueType="num">
                                      <p:cBhvr>
                                        <p:cTn id="8" dur="600" fill="hold"/>
                                        <p:tgtEl>
                                          <p:spTgt spid="9"/>
                                        </p:tgtEl>
                                        <p:attrNameLst>
                                          <p:attrName>ppt_x</p:attrName>
                                        </p:attrNameLst>
                                      </p:cBhvr>
                                      <p:tavLst>
                                        <p:tav tm="0">
                                          <p:val>
                                            <p:strVal val="#ppt_x"/>
                                          </p:val>
                                        </p:tav>
                                        <p:tav tm="100000">
                                          <p:val>
                                            <p:strVal val="#ppt_x"/>
                                          </p:val>
                                        </p:tav>
                                      </p:tavLst>
                                    </p:anim>
                                    <p:anim calcmode="lin" valueType="num">
                                      <p:cBhvr>
                                        <p:cTn id="9" dur="600" decel="100000" fill="hold"/>
                                        <p:tgtEl>
                                          <p:spTgt spid="9"/>
                                        </p:tgtEl>
                                        <p:attrNameLst>
                                          <p:attrName>ppt_y</p:attrName>
                                        </p:attrNameLst>
                                      </p:cBhvr>
                                      <p:tavLst>
                                        <p:tav tm="0">
                                          <p:val>
                                            <p:strVal val="#ppt_y+.05"/>
                                          </p:val>
                                        </p:tav>
                                        <p:tav tm="100000">
                                          <p:val>
                                            <p:strVal val="#ppt_y"/>
                                          </p:val>
                                        </p:tav>
                                      </p:tavLst>
                                    </p:anim>
                                  </p:childTnLst>
                                </p:cTn>
                              </p:par>
                            </p:childTnLst>
                          </p:cTn>
                        </p:par>
                        <p:par>
                          <p:cTn id="10" fill="hold">
                            <p:stCondLst>
                              <p:cond delay="700"/>
                            </p:stCondLst>
                            <p:childTnLst>
                              <p:par>
                                <p:cTn id="11" presetID="42"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600"/>
                                        <p:tgtEl>
                                          <p:spTgt spid="6"/>
                                        </p:tgtEl>
                                      </p:cBhvr>
                                    </p:animEffect>
                                    <p:anim calcmode="lin" valueType="num">
                                      <p:cBhvr>
                                        <p:cTn id="14" dur="600" fill="hold"/>
                                        <p:tgtEl>
                                          <p:spTgt spid="6"/>
                                        </p:tgtEl>
                                        <p:attrNameLst>
                                          <p:attrName>ppt_x</p:attrName>
                                        </p:attrNameLst>
                                      </p:cBhvr>
                                      <p:tavLst>
                                        <p:tav tm="0">
                                          <p:val>
                                            <p:strVal val="#ppt_x"/>
                                          </p:val>
                                        </p:tav>
                                        <p:tav tm="100000">
                                          <p:val>
                                            <p:strVal val="#ppt_x"/>
                                          </p:val>
                                        </p:tav>
                                      </p:tavLst>
                                    </p:anim>
                                    <p:anim calcmode="lin" valueType="num">
                                      <p:cBhvr>
                                        <p:cTn id="15" dur="600" decel="100000" fill="hold"/>
                                        <p:tgtEl>
                                          <p:spTgt spid="6"/>
                                        </p:tgtEl>
                                        <p:attrNameLst>
                                          <p:attrName>ppt_y</p:attrName>
                                        </p:attrNameLst>
                                      </p:cBhvr>
                                      <p:tavLst>
                                        <p:tav tm="0">
                                          <p:val>
                                            <p:strVal val="#ppt_y+.05"/>
                                          </p:val>
                                        </p:tav>
                                        <p:tav tm="100000">
                                          <p:val>
                                            <p:strVal val="#ppt_y"/>
                                          </p:val>
                                        </p:tav>
                                      </p:tavLst>
                                    </p:anim>
                                  </p:childTnLst>
                                </p:cTn>
                              </p:par>
                            </p:childTnLst>
                          </p:cTn>
                        </p:par>
                        <p:par>
                          <p:cTn id="16" fill="hold">
                            <p:stCondLst>
                              <p:cond delay="700"/>
                            </p:stCondLst>
                            <p:childTnLst>
                              <p:par>
                                <p:cTn id="17" presetID="42"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600"/>
                                        <p:tgtEl>
                                          <p:spTgt spid="7"/>
                                        </p:tgtEl>
                                      </p:cBhvr>
                                    </p:animEffect>
                                    <p:anim calcmode="lin" valueType="num">
                                      <p:cBhvr>
                                        <p:cTn id="20" dur="600" fill="hold"/>
                                        <p:tgtEl>
                                          <p:spTgt spid="7"/>
                                        </p:tgtEl>
                                        <p:attrNameLst>
                                          <p:attrName>ppt_x</p:attrName>
                                        </p:attrNameLst>
                                      </p:cBhvr>
                                      <p:tavLst>
                                        <p:tav tm="0">
                                          <p:val>
                                            <p:strVal val="#ppt_x"/>
                                          </p:val>
                                        </p:tav>
                                        <p:tav tm="100000">
                                          <p:val>
                                            <p:strVal val="#ppt_x"/>
                                          </p:val>
                                        </p:tav>
                                      </p:tavLst>
                                    </p:anim>
                                    <p:anim calcmode="lin" valueType="num">
                                      <p:cBhvr>
                                        <p:cTn id="21" dur="600" decel="100000" fill="hold"/>
                                        <p:tgtEl>
                                          <p:spTgt spid="7"/>
                                        </p:tgtEl>
                                        <p:attrNameLst>
                                          <p:attrName>ppt_y</p:attrName>
                                        </p:attrNameLst>
                                      </p:cBhvr>
                                      <p:tavLst>
                                        <p:tav tm="0">
                                          <p:val>
                                            <p:strVal val="#ppt_y+.05"/>
                                          </p:val>
                                        </p:tav>
                                        <p:tav tm="100000">
                                          <p:val>
                                            <p:strVal val="#ppt_y"/>
                                          </p:val>
                                        </p:tav>
                                      </p:tavLst>
                                    </p:anim>
                                  </p:childTnLst>
                                </p:cTn>
                              </p:par>
                            </p:childTnLst>
                          </p:cTn>
                        </p:par>
                        <p:par>
                          <p:cTn id="22" fill="hold">
                            <p:stCondLst>
                              <p:cond delay="700"/>
                            </p:stCondLst>
                            <p:childTnLst>
                              <p:par>
                                <p:cTn id="23" presetID="42" presetClass="entr" presetSubtype="0"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600"/>
                                        <p:tgtEl>
                                          <p:spTgt spid="8"/>
                                        </p:tgtEl>
                                      </p:cBhvr>
                                    </p:animEffect>
                                    <p:anim calcmode="lin" valueType="num">
                                      <p:cBhvr>
                                        <p:cTn id="26" dur="600" fill="hold"/>
                                        <p:tgtEl>
                                          <p:spTgt spid="8"/>
                                        </p:tgtEl>
                                        <p:attrNameLst>
                                          <p:attrName>ppt_x</p:attrName>
                                        </p:attrNameLst>
                                      </p:cBhvr>
                                      <p:tavLst>
                                        <p:tav tm="0">
                                          <p:val>
                                            <p:strVal val="#ppt_x"/>
                                          </p:val>
                                        </p:tav>
                                        <p:tav tm="100000">
                                          <p:val>
                                            <p:strVal val="#ppt_x"/>
                                          </p:val>
                                        </p:tav>
                                      </p:tavLst>
                                    </p:anim>
                                    <p:anim calcmode="lin" valueType="num">
                                      <p:cBhvr>
                                        <p:cTn id="27" dur="600" decel="100000" fill="hold"/>
                                        <p:tgtEl>
                                          <p:spTgt spid="8"/>
                                        </p:tgtEl>
                                        <p:attrNameLst>
                                          <p:attrName>ppt_y</p:attrName>
                                        </p:attrNameLst>
                                      </p:cBhvr>
                                      <p:tavLst>
                                        <p:tav tm="0">
                                          <p:val>
                                            <p:strVal val="#ppt_y+.05"/>
                                          </p:val>
                                        </p:tav>
                                        <p:tav tm="100000">
                                          <p:val>
                                            <p:strVal val="#ppt_y"/>
                                          </p:val>
                                        </p:tav>
                                      </p:tavLst>
                                    </p:anim>
                                  </p:childTnLst>
                                </p:cTn>
                              </p:par>
                            </p:childTnLst>
                          </p:cTn>
                        </p:par>
                        <p:par>
                          <p:cTn id="28" fill="hold">
                            <p:stCondLst>
                              <p:cond delay="700"/>
                            </p:stCondLst>
                            <p:childTnLst>
                              <p:par>
                                <p:cTn id="29" presetID="42" presetClass="entr" presetSubtype="0" fill="hold" grpId="0" nodeType="with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fade">
                                      <p:cBhvr>
                                        <p:cTn id="31" dur="600"/>
                                        <p:tgtEl>
                                          <p:spTgt spid="9"/>
                                        </p:tgtEl>
                                      </p:cBhvr>
                                    </p:animEffect>
                                    <p:anim calcmode="lin" valueType="num">
                                      <p:cBhvr>
                                        <p:cTn id="32" dur="600" fill="hold"/>
                                        <p:tgtEl>
                                          <p:spTgt spid="9"/>
                                        </p:tgtEl>
                                        <p:attrNameLst>
                                          <p:attrName>ppt_x</p:attrName>
                                        </p:attrNameLst>
                                      </p:cBhvr>
                                      <p:tavLst>
                                        <p:tav tm="0">
                                          <p:val>
                                            <p:strVal val="#ppt_x"/>
                                          </p:val>
                                        </p:tav>
                                        <p:tav tm="100000">
                                          <p:val>
                                            <p:strVal val="#ppt_x"/>
                                          </p:val>
                                        </p:tav>
                                      </p:tavLst>
                                    </p:anim>
                                    <p:anim calcmode="lin" valueType="num">
                                      <p:cBhvr>
                                        <p:cTn id="33" dur="600" decel="100000" fill="hold"/>
                                        <p:tgtEl>
                                          <p:spTgt spid="9"/>
                                        </p:tgtEl>
                                        <p:attrNameLst>
                                          <p:attrName>ppt_y</p:attrName>
                                        </p:attrNameLst>
                                      </p:cBhvr>
                                      <p:tavLst>
                                        <p:tav tm="0">
                                          <p:val>
                                            <p:strVal val="#ppt_y+.05"/>
                                          </p:val>
                                        </p:tav>
                                        <p:tav tm="100000">
                                          <p:val>
                                            <p:strVal val="#ppt_y"/>
                                          </p:val>
                                        </p:tav>
                                      </p:tavLst>
                                    </p:anim>
                                  </p:childTnLst>
                                </p:cTn>
                              </p:par>
                            </p:childTnLst>
                          </p:cTn>
                        </p:par>
                        <p:par>
                          <p:cTn id="34" fill="hold">
                            <p:stCondLst>
                              <p:cond delay="700"/>
                            </p:stCondLst>
                            <p:childTnLst>
                              <p:par>
                                <p:cTn id="35" presetID="42" presetClass="entr" presetSubtype="0" fill="hold" grpId="0" nodeType="with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600"/>
                                        <p:tgtEl>
                                          <p:spTgt spid="10"/>
                                        </p:tgtEl>
                                      </p:cBhvr>
                                    </p:animEffect>
                                    <p:anim calcmode="lin" valueType="num">
                                      <p:cBhvr>
                                        <p:cTn id="38" dur="600" fill="hold"/>
                                        <p:tgtEl>
                                          <p:spTgt spid="10"/>
                                        </p:tgtEl>
                                        <p:attrNameLst>
                                          <p:attrName>ppt_x</p:attrName>
                                        </p:attrNameLst>
                                      </p:cBhvr>
                                      <p:tavLst>
                                        <p:tav tm="0">
                                          <p:val>
                                            <p:strVal val="#ppt_x"/>
                                          </p:val>
                                        </p:tav>
                                        <p:tav tm="100000">
                                          <p:val>
                                            <p:strVal val="#ppt_x"/>
                                          </p:val>
                                        </p:tav>
                                      </p:tavLst>
                                    </p:anim>
                                    <p:anim calcmode="lin" valueType="num">
                                      <p:cBhvr>
                                        <p:cTn id="39" dur="600" decel="100000" fill="hold"/>
                                        <p:tgtEl>
                                          <p:spTgt spid="10"/>
                                        </p:tgtEl>
                                        <p:attrNameLst>
                                          <p:attrName>ppt_y</p:attrName>
                                        </p:attrNameLst>
                                      </p:cBhvr>
                                      <p:tavLst>
                                        <p:tav tm="0">
                                          <p:val>
                                            <p:strVal val="#ppt_y+.05"/>
                                          </p:val>
                                        </p:tav>
                                        <p:tav tm="100000">
                                          <p:val>
                                            <p:strVal val="#ppt_y"/>
                                          </p:val>
                                        </p:tav>
                                      </p:tavLst>
                                    </p:anim>
                                  </p:childTnLst>
                                </p:cTn>
                              </p:par>
                            </p:childTnLst>
                          </p:cTn>
                        </p:par>
                        <p:par>
                          <p:cTn id="40" fill="hold">
                            <p:stCondLst>
                              <p:cond delay="1150"/>
                            </p:stCondLst>
                            <p:childTnLst>
                              <p:par>
                                <p:cTn id="41" presetID="42" presetClass="entr" presetSubtype="0" fill="hold" grpId="0" nodeType="withEffect">
                                  <p:stCondLst>
                                    <p:cond delay="0"/>
                                  </p:stCondLst>
                                  <p:childTnLst>
                                    <p:set>
                                      <p:cBhvr>
                                        <p:cTn id="42" dur="1" fill="hold">
                                          <p:stCondLst>
                                            <p:cond delay="0"/>
                                          </p:stCondLst>
                                        </p:cTn>
                                        <p:tgtEl>
                                          <p:spTgt spid="11"/>
                                        </p:tgtEl>
                                        <p:attrNameLst>
                                          <p:attrName>style.visibility</p:attrName>
                                        </p:attrNameLst>
                                      </p:cBhvr>
                                      <p:to>
                                        <p:strVal val="visible"/>
                                      </p:to>
                                    </p:set>
                                    <p:animEffect transition="in" filter="fade">
                                      <p:cBhvr>
                                        <p:cTn id="43" dur="600"/>
                                        <p:tgtEl>
                                          <p:spTgt spid="11"/>
                                        </p:tgtEl>
                                      </p:cBhvr>
                                    </p:animEffect>
                                    <p:anim calcmode="lin" valueType="num">
                                      <p:cBhvr>
                                        <p:cTn id="44" dur="600" fill="hold"/>
                                        <p:tgtEl>
                                          <p:spTgt spid="11"/>
                                        </p:tgtEl>
                                        <p:attrNameLst>
                                          <p:attrName>ppt_x</p:attrName>
                                        </p:attrNameLst>
                                      </p:cBhvr>
                                      <p:tavLst>
                                        <p:tav tm="0">
                                          <p:val>
                                            <p:strVal val="#ppt_x"/>
                                          </p:val>
                                        </p:tav>
                                        <p:tav tm="100000">
                                          <p:val>
                                            <p:strVal val="#ppt_x"/>
                                          </p:val>
                                        </p:tav>
                                      </p:tavLst>
                                    </p:anim>
                                    <p:anim calcmode="lin" valueType="num">
                                      <p:cBhvr>
                                        <p:cTn id="45" dur="600" decel="100000" fill="hold"/>
                                        <p:tgtEl>
                                          <p:spTgt spid="11"/>
                                        </p:tgtEl>
                                        <p:attrNameLst>
                                          <p:attrName>ppt_y</p:attrName>
                                        </p:attrNameLst>
                                      </p:cBhvr>
                                      <p:tavLst>
                                        <p:tav tm="0">
                                          <p:val>
                                            <p:strVal val="#ppt_y+.05"/>
                                          </p:val>
                                        </p:tav>
                                        <p:tav tm="100000">
                                          <p:val>
                                            <p:strVal val="#ppt_y"/>
                                          </p:val>
                                        </p:tav>
                                      </p:tavLst>
                                    </p:anim>
                                  </p:childTnLst>
                                </p:cTn>
                              </p:par>
                            </p:childTnLst>
                          </p:cTn>
                        </p:par>
                        <p:par>
                          <p:cTn id="46" fill="hold">
                            <p:stCondLst>
                              <p:cond delay="1150"/>
                            </p:stCondLst>
                            <p:childTnLst>
                              <p:par>
                                <p:cTn id="47" presetID="42" presetClass="entr" presetSubtype="0" fill="hold" grpId="0" nodeType="withEffect">
                                  <p:stCondLst>
                                    <p:cond delay="0"/>
                                  </p:stCondLst>
                                  <p:childTnLst>
                                    <p:set>
                                      <p:cBhvr>
                                        <p:cTn id="48" dur="1" fill="hold">
                                          <p:stCondLst>
                                            <p:cond delay="0"/>
                                          </p:stCondLst>
                                        </p:cTn>
                                        <p:tgtEl>
                                          <p:spTgt spid="12"/>
                                        </p:tgtEl>
                                        <p:attrNameLst>
                                          <p:attrName>style.visibility</p:attrName>
                                        </p:attrNameLst>
                                      </p:cBhvr>
                                      <p:to>
                                        <p:strVal val="visible"/>
                                      </p:to>
                                    </p:set>
                                    <p:animEffect transition="in" filter="fade">
                                      <p:cBhvr>
                                        <p:cTn id="49" dur="600"/>
                                        <p:tgtEl>
                                          <p:spTgt spid="12"/>
                                        </p:tgtEl>
                                      </p:cBhvr>
                                    </p:animEffect>
                                    <p:anim calcmode="lin" valueType="num">
                                      <p:cBhvr>
                                        <p:cTn id="50" dur="600" fill="hold"/>
                                        <p:tgtEl>
                                          <p:spTgt spid="12"/>
                                        </p:tgtEl>
                                        <p:attrNameLst>
                                          <p:attrName>ppt_x</p:attrName>
                                        </p:attrNameLst>
                                      </p:cBhvr>
                                      <p:tavLst>
                                        <p:tav tm="0">
                                          <p:val>
                                            <p:strVal val="#ppt_x"/>
                                          </p:val>
                                        </p:tav>
                                        <p:tav tm="100000">
                                          <p:val>
                                            <p:strVal val="#ppt_x"/>
                                          </p:val>
                                        </p:tav>
                                      </p:tavLst>
                                    </p:anim>
                                    <p:anim calcmode="lin" valueType="num">
                                      <p:cBhvr>
                                        <p:cTn id="51" dur="600" decel="100000" fill="hold"/>
                                        <p:tgtEl>
                                          <p:spTgt spid="12"/>
                                        </p:tgtEl>
                                        <p:attrNameLst>
                                          <p:attrName>ppt_y</p:attrName>
                                        </p:attrNameLst>
                                      </p:cBhvr>
                                      <p:tavLst>
                                        <p:tav tm="0">
                                          <p:val>
                                            <p:strVal val="#ppt_y+.05"/>
                                          </p:val>
                                        </p:tav>
                                        <p:tav tm="100000">
                                          <p:val>
                                            <p:strVal val="#ppt_y"/>
                                          </p:val>
                                        </p:tav>
                                      </p:tavLst>
                                    </p:anim>
                                  </p:childTnLst>
                                </p:cTn>
                              </p:par>
                            </p:childTnLst>
                          </p:cTn>
                        </p:par>
                        <p:par>
                          <p:cTn id="52" fill="hold">
                            <p:stCondLst>
                              <p:cond delay="1150"/>
                            </p:stCondLst>
                            <p:childTnLst>
                              <p:par>
                                <p:cTn id="53" presetID="42" presetClass="entr" presetSubtype="0" fill="hold" grpId="0" nodeType="withEffect">
                                  <p:stCondLst>
                                    <p:cond delay="0"/>
                                  </p:stCondLst>
                                  <p:childTnLst>
                                    <p:set>
                                      <p:cBhvr>
                                        <p:cTn id="54" dur="1" fill="hold">
                                          <p:stCondLst>
                                            <p:cond delay="0"/>
                                          </p:stCondLst>
                                        </p:cTn>
                                        <p:tgtEl>
                                          <p:spTgt spid="13"/>
                                        </p:tgtEl>
                                        <p:attrNameLst>
                                          <p:attrName>style.visibility</p:attrName>
                                        </p:attrNameLst>
                                      </p:cBhvr>
                                      <p:to>
                                        <p:strVal val="visible"/>
                                      </p:to>
                                    </p:set>
                                    <p:animEffect transition="in" filter="fade">
                                      <p:cBhvr>
                                        <p:cTn id="55" dur="600"/>
                                        <p:tgtEl>
                                          <p:spTgt spid="13"/>
                                        </p:tgtEl>
                                      </p:cBhvr>
                                    </p:animEffect>
                                    <p:anim calcmode="lin" valueType="num">
                                      <p:cBhvr>
                                        <p:cTn id="56" dur="600" fill="hold"/>
                                        <p:tgtEl>
                                          <p:spTgt spid="13"/>
                                        </p:tgtEl>
                                        <p:attrNameLst>
                                          <p:attrName>ppt_x</p:attrName>
                                        </p:attrNameLst>
                                      </p:cBhvr>
                                      <p:tavLst>
                                        <p:tav tm="0">
                                          <p:val>
                                            <p:strVal val="#ppt_x"/>
                                          </p:val>
                                        </p:tav>
                                        <p:tav tm="100000">
                                          <p:val>
                                            <p:strVal val="#ppt_x"/>
                                          </p:val>
                                        </p:tav>
                                      </p:tavLst>
                                    </p:anim>
                                    <p:anim calcmode="lin" valueType="num">
                                      <p:cBhvr>
                                        <p:cTn id="57" dur="600" decel="100000" fill="hold"/>
                                        <p:tgtEl>
                                          <p:spTgt spid="13"/>
                                        </p:tgtEl>
                                        <p:attrNameLst>
                                          <p:attrName>ppt_y</p:attrName>
                                        </p:attrNameLst>
                                      </p:cBhvr>
                                      <p:tavLst>
                                        <p:tav tm="0">
                                          <p:val>
                                            <p:strVal val="#ppt_y+.05"/>
                                          </p:val>
                                        </p:tav>
                                        <p:tav tm="100000">
                                          <p:val>
                                            <p:strVal val="#ppt_y"/>
                                          </p:val>
                                        </p:tav>
                                      </p:tavLst>
                                    </p:anim>
                                  </p:childTnLst>
                                </p:cTn>
                              </p:par>
                            </p:childTnLst>
                          </p:cTn>
                        </p:par>
                        <p:par>
                          <p:cTn id="58" fill="hold">
                            <p:stCondLst>
                              <p:cond delay="1150"/>
                            </p:stCondLst>
                            <p:childTnLst>
                              <p:par>
                                <p:cTn id="59" presetID="42" presetClass="entr" presetSubtype="0" fill="hold" grpId="0" nodeType="withEffect">
                                  <p:stCondLst>
                                    <p:cond delay="0"/>
                                  </p:stCondLst>
                                  <p:childTnLst>
                                    <p:set>
                                      <p:cBhvr>
                                        <p:cTn id="60" dur="1" fill="hold">
                                          <p:stCondLst>
                                            <p:cond delay="0"/>
                                          </p:stCondLst>
                                        </p:cTn>
                                        <p:tgtEl>
                                          <p:spTgt spid="14"/>
                                        </p:tgtEl>
                                        <p:attrNameLst>
                                          <p:attrName>style.visibility</p:attrName>
                                        </p:attrNameLst>
                                      </p:cBhvr>
                                      <p:to>
                                        <p:strVal val="visible"/>
                                      </p:to>
                                    </p:set>
                                    <p:animEffect transition="in" filter="fade">
                                      <p:cBhvr>
                                        <p:cTn id="61" dur="600"/>
                                        <p:tgtEl>
                                          <p:spTgt spid="14"/>
                                        </p:tgtEl>
                                      </p:cBhvr>
                                    </p:animEffect>
                                    <p:anim calcmode="lin" valueType="num">
                                      <p:cBhvr>
                                        <p:cTn id="62" dur="600" fill="hold"/>
                                        <p:tgtEl>
                                          <p:spTgt spid="14"/>
                                        </p:tgtEl>
                                        <p:attrNameLst>
                                          <p:attrName>ppt_x</p:attrName>
                                        </p:attrNameLst>
                                      </p:cBhvr>
                                      <p:tavLst>
                                        <p:tav tm="0">
                                          <p:val>
                                            <p:strVal val="#ppt_x"/>
                                          </p:val>
                                        </p:tav>
                                        <p:tav tm="100000">
                                          <p:val>
                                            <p:strVal val="#ppt_x"/>
                                          </p:val>
                                        </p:tav>
                                      </p:tavLst>
                                    </p:anim>
                                    <p:anim calcmode="lin" valueType="num">
                                      <p:cBhvr>
                                        <p:cTn id="63" dur="600" decel="100000" fill="hold"/>
                                        <p:tgtEl>
                                          <p:spTgt spid="14"/>
                                        </p:tgtEl>
                                        <p:attrNameLst>
                                          <p:attrName>ppt_y</p:attrName>
                                        </p:attrNameLst>
                                      </p:cBhvr>
                                      <p:tavLst>
                                        <p:tav tm="0">
                                          <p:val>
                                            <p:strVal val="#ppt_y+.05"/>
                                          </p:val>
                                        </p:tav>
                                        <p:tav tm="100000">
                                          <p:val>
                                            <p:strVal val="#ppt_y"/>
                                          </p:val>
                                        </p:tav>
                                      </p:tavLst>
                                    </p:anim>
                                  </p:childTnLst>
                                </p:cTn>
                              </p:par>
                            </p:childTnLst>
                          </p:cTn>
                        </p:par>
                        <p:par>
                          <p:cTn id="64" fill="hold">
                            <p:stCondLst>
                              <p:cond delay="1150"/>
                            </p:stCondLst>
                            <p:childTnLst>
                              <p:par>
                                <p:cTn id="65" presetID="42" presetClass="entr" presetSubtype="0" fill="hold" grpId="0" nodeType="withEffect">
                                  <p:stCondLst>
                                    <p:cond delay="0"/>
                                  </p:stCondLst>
                                  <p:childTnLst>
                                    <p:set>
                                      <p:cBhvr>
                                        <p:cTn id="66" dur="1" fill="hold">
                                          <p:stCondLst>
                                            <p:cond delay="0"/>
                                          </p:stCondLst>
                                        </p:cTn>
                                        <p:tgtEl>
                                          <p:spTgt spid="15"/>
                                        </p:tgtEl>
                                        <p:attrNameLst>
                                          <p:attrName>style.visibility</p:attrName>
                                        </p:attrNameLst>
                                      </p:cBhvr>
                                      <p:to>
                                        <p:strVal val="visible"/>
                                      </p:to>
                                    </p:set>
                                    <p:animEffect transition="in" filter="fade">
                                      <p:cBhvr>
                                        <p:cTn id="67" dur="600"/>
                                        <p:tgtEl>
                                          <p:spTgt spid="15"/>
                                        </p:tgtEl>
                                      </p:cBhvr>
                                    </p:animEffect>
                                    <p:anim calcmode="lin" valueType="num">
                                      <p:cBhvr>
                                        <p:cTn id="68" dur="600" fill="hold"/>
                                        <p:tgtEl>
                                          <p:spTgt spid="15"/>
                                        </p:tgtEl>
                                        <p:attrNameLst>
                                          <p:attrName>ppt_x</p:attrName>
                                        </p:attrNameLst>
                                      </p:cBhvr>
                                      <p:tavLst>
                                        <p:tav tm="0">
                                          <p:val>
                                            <p:strVal val="#ppt_x"/>
                                          </p:val>
                                        </p:tav>
                                        <p:tav tm="100000">
                                          <p:val>
                                            <p:strVal val="#ppt_x"/>
                                          </p:val>
                                        </p:tav>
                                      </p:tavLst>
                                    </p:anim>
                                    <p:anim calcmode="lin" valueType="num">
                                      <p:cBhvr>
                                        <p:cTn id="69" dur="600" decel="100000" fill="hold"/>
                                        <p:tgtEl>
                                          <p:spTgt spid="15"/>
                                        </p:tgtEl>
                                        <p:attrNameLst>
                                          <p:attrName>ppt_y</p:attrName>
                                        </p:attrNameLst>
                                      </p:cBhvr>
                                      <p:tavLst>
                                        <p:tav tm="0">
                                          <p:val>
                                            <p:strVal val="#ppt_y+.05"/>
                                          </p:val>
                                        </p:tav>
                                        <p:tav tm="100000">
                                          <p:val>
                                            <p:strVal val="#ppt_y"/>
                                          </p:val>
                                        </p:tav>
                                      </p:tavLst>
                                    </p:anim>
                                  </p:childTnLst>
                                </p:cTn>
                              </p:par>
                            </p:childTnLst>
                          </p:cTn>
                        </p:par>
                        <p:par>
                          <p:cTn id="70" fill="hold">
                            <p:stCondLst>
                              <p:cond delay="1600"/>
                            </p:stCondLst>
                            <p:childTnLst>
                              <p:par>
                                <p:cTn id="71" presetID="42" presetClass="entr" presetSubtype="0" fill="hold" grpId="0" nodeType="withEffect">
                                  <p:stCondLst>
                                    <p:cond delay="0"/>
                                  </p:stCondLst>
                                  <p:childTnLst>
                                    <p:set>
                                      <p:cBhvr>
                                        <p:cTn id="72" dur="1" fill="hold">
                                          <p:stCondLst>
                                            <p:cond delay="0"/>
                                          </p:stCondLst>
                                        </p:cTn>
                                        <p:tgtEl>
                                          <p:spTgt spid="16"/>
                                        </p:tgtEl>
                                        <p:attrNameLst>
                                          <p:attrName>style.visibility</p:attrName>
                                        </p:attrNameLst>
                                      </p:cBhvr>
                                      <p:to>
                                        <p:strVal val="visible"/>
                                      </p:to>
                                    </p:set>
                                    <p:animEffect transition="in" filter="fade">
                                      <p:cBhvr>
                                        <p:cTn id="73" dur="600"/>
                                        <p:tgtEl>
                                          <p:spTgt spid="16"/>
                                        </p:tgtEl>
                                      </p:cBhvr>
                                    </p:animEffect>
                                    <p:anim calcmode="lin" valueType="num">
                                      <p:cBhvr>
                                        <p:cTn id="74" dur="600" fill="hold"/>
                                        <p:tgtEl>
                                          <p:spTgt spid="16"/>
                                        </p:tgtEl>
                                        <p:attrNameLst>
                                          <p:attrName>ppt_x</p:attrName>
                                        </p:attrNameLst>
                                      </p:cBhvr>
                                      <p:tavLst>
                                        <p:tav tm="0">
                                          <p:val>
                                            <p:strVal val="#ppt_x"/>
                                          </p:val>
                                        </p:tav>
                                        <p:tav tm="100000">
                                          <p:val>
                                            <p:strVal val="#ppt_x"/>
                                          </p:val>
                                        </p:tav>
                                      </p:tavLst>
                                    </p:anim>
                                    <p:anim calcmode="lin" valueType="num">
                                      <p:cBhvr>
                                        <p:cTn id="75" dur="600" decel="100000" fill="hold"/>
                                        <p:tgtEl>
                                          <p:spTgt spid="16"/>
                                        </p:tgtEl>
                                        <p:attrNameLst>
                                          <p:attrName>ppt_y</p:attrName>
                                        </p:attrNameLst>
                                      </p:cBhvr>
                                      <p:tavLst>
                                        <p:tav tm="0">
                                          <p:val>
                                            <p:strVal val="#ppt_y+.05"/>
                                          </p:val>
                                        </p:tav>
                                        <p:tav tm="100000">
                                          <p:val>
                                            <p:strVal val="#ppt_y"/>
                                          </p:val>
                                        </p:tav>
                                      </p:tavLst>
                                    </p:anim>
                                  </p:childTnLst>
                                </p:cTn>
                              </p:par>
                            </p:childTnLst>
                          </p:cTn>
                        </p:par>
                        <p:par>
                          <p:cTn id="76" fill="hold">
                            <p:stCondLst>
                              <p:cond delay="1600"/>
                            </p:stCondLst>
                            <p:childTnLst>
                              <p:par>
                                <p:cTn id="77" presetID="42" presetClass="entr" presetSubtype="0" fill="hold" grpId="0" nodeType="withEffect">
                                  <p:stCondLst>
                                    <p:cond delay="0"/>
                                  </p:stCondLst>
                                  <p:childTnLst>
                                    <p:set>
                                      <p:cBhvr>
                                        <p:cTn id="78" dur="1" fill="hold">
                                          <p:stCondLst>
                                            <p:cond delay="0"/>
                                          </p:stCondLst>
                                        </p:cTn>
                                        <p:tgtEl>
                                          <p:spTgt spid="17"/>
                                        </p:tgtEl>
                                        <p:attrNameLst>
                                          <p:attrName>style.visibility</p:attrName>
                                        </p:attrNameLst>
                                      </p:cBhvr>
                                      <p:to>
                                        <p:strVal val="visible"/>
                                      </p:to>
                                    </p:set>
                                    <p:animEffect transition="in" filter="fade">
                                      <p:cBhvr>
                                        <p:cTn id="79" dur="600"/>
                                        <p:tgtEl>
                                          <p:spTgt spid="17"/>
                                        </p:tgtEl>
                                      </p:cBhvr>
                                    </p:animEffect>
                                    <p:anim calcmode="lin" valueType="num">
                                      <p:cBhvr>
                                        <p:cTn id="80" dur="600" fill="hold"/>
                                        <p:tgtEl>
                                          <p:spTgt spid="17"/>
                                        </p:tgtEl>
                                        <p:attrNameLst>
                                          <p:attrName>ppt_x</p:attrName>
                                        </p:attrNameLst>
                                      </p:cBhvr>
                                      <p:tavLst>
                                        <p:tav tm="0">
                                          <p:val>
                                            <p:strVal val="#ppt_x"/>
                                          </p:val>
                                        </p:tav>
                                        <p:tav tm="100000">
                                          <p:val>
                                            <p:strVal val="#ppt_x"/>
                                          </p:val>
                                        </p:tav>
                                      </p:tavLst>
                                    </p:anim>
                                    <p:anim calcmode="lin" valueType="num">
                                      <p:cBhvr>
                                        <p:cTn id="81" dur="600" decel="100000" fill="hold"/>
                                        <p:tgtEl>
                                          <p:spTgt spid="17"/>
                                        </p:tgtEl>
                                        <p:attrNameLst>
                                          <p:attrName>ppt_y</p:attrName>
                                        </p:attrNameLst>
                                      </p:cBhvr>
                                      <p:tavLst>
                                        <p:tav tm="0">
                                          <p:val>
                                            <p:strVal val="#ppt_y+.05"/>
                                          </p:val>
                                        </p:tav>
                                        <p:tav tm="100000">
                                          <p:val>
                                            <p:strVal val="#ppt_y"/>
                                          </p:val>
                                        </p:tav>
                                      </p:tavLst>
                                    </p:anim>
                                  </p:childTnLst>
                                </p:cTn>
                              </p:par>
                            </p:childTnLst>
                          </p:cTn>
                        </p:par>
                        <p:par>
                          <p:cTn id="82" fill="hold">
                            <p:stCondLst>
                              <p:cond delay="1600"/>
                            </p:stCondLst>
                            <p:childTnLst>
                              <p:par>
                                <p:cTn id="83" presetID="42" presetClass="entr" presetSubtype="0" fill="hold" grpId="0" nodeType="withEffect">
                                  <p:stCondLst>
                                    <p:cond delay="0"/>
                                  </p:stCondLst>
                                  <p:childTnLst>
                                    <p:set>
                                      <p:cBhvr>
                                        <p:cTn id="84" dur="1" fill="hold">
                                          <p:stCondLst>
                                            <p:cond delay="0"/>
                                          </p:stCondLst>
                                        </p:cTn>
                                        <p:tgtEl>
                                          <p:spTgt spid="18"/>
                                        </p:tgtEl>
                                        <p:attrNameLst>
                                          <p:attrName>style.visibility</p:attrName>
                                        </p:attrNameLst>
                                      </p:cBhvr>
                                      <p:to>
                                        <p:strVal val="visible"/>
                                      </p:to>
                                    </p:set>
                                    <p:animEffect transition="in" filter="fade">
                                      <p:cBhvr>
                                        <p:cTn id="85" dur="600"/>
                                        <p:tgtEl>
                                          <p:spTgt spid="18"/>
                                        </p:tgtEl>
                                      </p:cBhvr>
                                    </p:animEffect>
                                    <p:anim calcmode="lin" valueType="num">
                                      <p:cBhvr>
                                        <p:cTn id="86" dur="600" fill="hold"/>
                                        <p:tgtEl>
                                          <p:spTgt spid="18"/>
                                        </p:tgtEl>
                                        <p:attrNameLst>
                                          <p:attrName>ppt_x</p:attrName>
                                        </p:attrNameLst>
                                      </p:cBhvr>
                                      <p:tavLst>
                                        <p:tav tm="0">
                                          <p:val>
                                            <p:strVal val="#ppt_x"/>
                                          </p:val>
                                        </p:tav>
                                        <p:tav tm="100000">
                                          <p:val>
                                            <p:strVal val="#ppt_x"/>
                                          </p:val>
                                        </p:tav>
                                      </p:tavLst>
                                    </p:anim>
                                    <p:anim calcmode="lin" valueType="num">
                                      <p:cBhvr>
                                        <p:cTn id="87" dur="600" decel="100000" fill="hold"/>
                                        <p:tgtEl>
                                          <p:spTgt spid="18"/>
                                        </p:tgtEl>
                                        <p:attrNameLst>
                                          <p:attrName>ppt_y</p:attrName>
                                        </p:attrNameLst>
                                      </p:cBhvr>
                                      <p:tavLst>
                                        <p:tav tm="0">
                                          <p:val>
                                            <p:strVal val="#ppt_y+.05"/>
                                          </p:val>
                                        </p:tav>
                                        <p:tav tm="100000">
                                          <p:val>
                                            <p:strVal val="#ppt_y"/>
                                          </p:val>
                                        </p:tav>
                                      </p:tavLst>
                                    </p:anim>
                                  </p:childTnLst>
                                </p:cTn>
                              </p:par>
                            </p:childTnLst>
                          </p:cTn>
                        </p:par>
                        <p:par>
                          <p:cTn id="88" fill="hold">
                            <p:stCondLst>
                              <p:cond delay="1600"/>
                            </p:stCondLst>
                            <p:childTnLst>
                              <p:par>
                                <p:cTn id="89" presetID="42" presetClass="entr" presetSubtype="0" fill="hold" grpId="0" nodeType="withEffect">
                                  <p:stCondLst>
                                    <p:cond delay="0"/>
                                  </p:stCondLst>
                                  <p:childTnLst>
                                    <p:set>
                                      <p:cBhvr>
                                        <p:cTn id="90" dur="1" fill="hold">
                                          <p:stCondLst>
                                            <p:cond delay="0"/>
                                          </p:stCondLst>
                                        </p:cTn>
                                        <p:tgtEl>
                                          <p:spTgt spid="19"/>
                                        </p:tgtEl>
                                        <p:attrNameLst>
                                          <p:attrName>style.visibility</p:attrName>
                                        </p:attrNameLst>
                                      </p:cBhvr>
                                      <p:to>
                                        <p:strVal val="visible"/>
                                      </p:to>
                                    </p:set>
                                    <p:animEffect transition="in" filter="fade">
                                      <p:cBhvr>
                                        <p:cTn id="91" dur="600"/>
                                        <p:tgtEl>
                                          <p:spTgt spid="19"/>
                                        </p:tgtEl>
                                      </p:cBhvr>
                                    </p:animEffect>
                                    <p:anim calcmode="lin" valueType="num">
                                      <p:cBhvr>
                                        <p:cTn id="92" dur="600" fill="hold"/>
                                        <p:tgtEl>
                                          <p:spTgt spid="19"/>
                                        </p:tgtEl>
                                        <p:attrNameLst>
                                          <p:attrName>ppt_x</p:attrName>
                                        </p:attrNameLst>
                                      </p:cBhvr>
                                      <p:tavLst>
                                        <p:tav tm="0">
                                          <p:val>
                                            <p:strVal val="#ppt_x"/>
                                          </p:val>
                                        </p:tav>
                                        <p:tav tm="100000">
                                          <p:val>
                                            <p:strVal val="#ppt_x"/>
                                          </p:val>
                                        </p:tav>
                                      </p:tavLst>
                                    </p:anim>
                                    <p:anim calcmode="lin" valueType="num">
                                      <p:cBhvr>
                                        <p:cTn id="93" dur="600" decel="100000" fill="hold"/>
                                        <p:tgtEl>
                                          <p:spTgt spid="19"/>
                                        </p:tgtEl>
                                        <p:attrNameLst>
                                          <p:attrName>ppt_y</p:attrName>
                                        </p:attrNameLst>
                                      </p:cBhvr>
                                      <p:tavLst>
                                        <p:tav tm="0">
                                          <p:val>
                                            <p:strVal val="#ppt_y+.05"/>
                                          </p:val>
                                        </p:tav>
                                        <p:tav tm="100000">
                                          <p:val>
                                            <p:strVal val="#ppt_y"/>
                                          </p:val>
                                        </p:tav>
                                      </p:tavLst>
                                    </p:anim>
                                  </p:childTnLst>
                                </p:cTn>
                              </p:par>
                            </p:childTnLst>
                          </p:cTn>
                        </p:par>
                        <p:par>
                          <p:cTn id="94" fill="hold">
                            <p:stCondLst>
                              <p:cond delay="1600"/>
                            </p:stCondLst>
                            <p:childTnLst>
                              <p:par>
                                <p:cTn id="95" presetID="42" presetClass="entr" presetSubtype="0" fill="hold" grpId="0" nodeType="withEffect">
                                  <p:stCondLst>
                                    <p:cond delay="0"/>
                                  </p:stCondLst>
                                  <p:childTnLst>
                                    <p:set>
                                      <p:cBhvr>
                                        <p:cTn id="96" dur="1" fill="hold">
                                          <p:stCondLst>
                                            <p:cond delay="0"/>
                                          </p:stCondLst>
                                        </p:cTn>
                                        <p:tgtEl>
                                          <p:spTgt spid="20"/>
                                        </p:tgtEl>
                                        <p:attrNameLst>
                                          <p:attrName>style.visibility</p:attrName>
                                        </p:attrNameLst>
                                      </p:cBhvr>
                                      <p:to>
                                        <p:strVal val="visible"/>
                                      </p:to>
                                    </p:set>
                                    <p:animEffect transition="in" filter="fade">
                                      <p:cBhvr>
                                        <p:cTn id="97" dur="600"/>
                                        <p:tgtEl>
                                          <p:spTgt spid="20"/>
                                        </p:tgtEl>
                                      </p:cBhvr>
                                    </p:animEffect>
                                    <p:anim calcmode="lin" valueType="num">
                                      <p:cBhvr>
                                        <p:cTn id="98" dur="600" fill="hold"/>
                                        <p:tgtEl>
                                          <p:spTgt spid="20"/>
                                        </p:tgtEl>
                                        <p:attrNameLst>
                                          <p:attrName>ppt_x</p:attrName>
                                        </p:attrNameLst>
                                      </p:cBhvr>
                                      <p:tavLst>
                                        <p:tav tm="0">
                                          <p:val>
                                            <p:strVal val="#ppt_x"/>
                                          </p:val>
                                        </p:tav>
                                        <p:tav tm="100000">
                                          <p:val>
                                            <p:strVal val="#ppt_x"/>
                                          </p:val>
                                        </p:tav>
                                      </p:tavLst>
                                    </p:anim>
                                    <p:anim calcmode="lin" valueType="num">
                                      <p:cBhvr>
                                        <p:cTn id="99" dur="600" decel="100000" fill="hold"/>
                                        <p:tgtEl>
                                          <p:spTgt spid="20"/>
                                        </p:tgtEl>
                                        <p:attrNameLst>
                                          <p:attrName>ppt_y</p:attrName>
                                        </p:attrNameLst>
                                      </p:cBhvr>
                                      <p:tavLst>
                                        <p:tav tm="0">
                                          <p:val>
                                            <p:strVal val="#ppt_y+.05"/>
                                          </p:val>
                                        </p:tav>
                                        <p:tav tm="100000">
                                          <p:val>
                                            <p:strVal val="#ppt_y"/>
                                          </p:val>
                                        </p:tav>
                                      </p:tavLst>
                                    </p:anim>
                                  </p:childTnLst>
                                </p:cTn>
                              </p:par>
                            </p:childTnLst>
                          </p:cTn>
                        </p:par>
                        <p:par>
                          <p:cTn id="100" fill="hold">
                            <p:stCondLst>
                              <p:cond delay="2050"/>
                            </p:stCondLst>
                            <p:childTnLst>
                              <p:par>
                                <p:cTn id="101" presetID="42" presetClass="entr" presetSubtype="0" fill="hold" grpId="0" nodeType="withEffect">
                                  <p:stCondLst>
                                    <p:cond delay="0"/>
                                  </p:stCondLst>
                                  <p:childTnLst>
                                    <p:set>
                                      <p:cBhvr>
                                        <p:cTn id="102" dur="1" fill="hold">
                                          <p:stCondLst>
                                            <p:cond delay="0"/>
                                          </p:stCondLst>
                                        </p:cTn>
                                        <p:tgtEl>
                                          <p:spTgt spid="21"/>
                                        </p:tgtEl>
                                        <p:attrNameLst>
                                          <p:attrName>style.visibility</p:attrName>
                                        </p:attrNameLst>
                                      </p:cBhvr>
                                      <p:to>
                                        <p:strVal val="visible"/>
                                      </p:to>
                                    </p:set>
                                    <p:animEffect transition="in" filter="fade">
                                      <p:cBhvr>
                                        <p:cTn id="103" dur="600"/>
                                        <p:tgtEl>
                                          <p:spTgt spid="21"/>
                                        </p:tgtEl>
                                      </p:cBhvr>
                                    </p:animEffect>
                                    <p:anim calcmode="lin" valueType="num">
                                      <p:cBhvr>
                                        <p:cTn id="104" dur="600" fill="hold"/>
                                        <p:tgtEl>
                                          <p:spTgt spid="21"/>
                                        </p:tgtEl>
                                        <p:attrNameLst>
                                          <p:attrName>ppt_x</p:attrName>
                                        </p:attrNameLst>
                                      </p:cBhvr>
                                      <p:tavLst>
                                        <p:tav tm="0">
                                          <p:val>
                                            <p:strVal val="#ppt_x"/>
                                          </p:val>
                                        </p:tav>
                                        <p:tav tm="100000">
                                          <p:val>
                                            <p:strVal val="#ppt_x"/>
                                          </p:val>
                                        </p:tav>
                                      </p:tavLst>
                                    </p:anim>
                                    <p:anim calcmode="lin" valueType="num">
                                      <p:cBhvr>
                                        <p:cTn id="105" dur="600" decel="100000" fill="hold"/>
                                        <p:tgtEl>
                                          <p:spTgt spid="21"/>
                                        </p:tgtEl>
                                        <p:attrNameLst>
                                          <p:attrName>ppt_y</p:attrName>
                                        </p:attrNameLst>
                                      </p:cBhvr>
                                      <p:tavLst>
                                        <p:tav tm="0">
                                          <p:val>
                                            <p:strVal val="#ppt_y+.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9" grpId="0" animBg="1"/>
      <p:bldP spid="10" grpId="0" animBg="1"/>
      <p:bldP spid="11" grpId="0" animBg="1"/>
      <p:bldP spid="12" grpId="0" animBg="1"/>
      <p:bldP spid="14" grpId="0" animBg="1"/>
      <p:bldP spid="15" grpId="0" animBg="1"/>
      <p:bldP spid="16" grpId="0" animBg="1"/>
      <p:bldP spid="17" grpId="0" animBg="1"/>
      <p:bldP spid="19" grpId="0" animBg="1"/>
      <p:bldP spid="20" grpId="0" animBg="1"/>
      <p:bldP spid="21" grpId="0" animBg="1"/>
    </p:bldLst>
  </p:timing>
</p:sld>
</file>

<file path=ppt/theme/theme1.xml><?xml version="1.0" encoding="utf-8"?>
<a:theme xmlns:a="http://schemas.openxmlformats.org/drawingml/2006/main" name="Экономика">
  <a:themeElements>
    <a:clrScheme name="Экономика">
      <a:dk1>
        <a:srgbClr val="0F2E24"/>
      </a:dk1>
      <a:lt1>
        <a:srgbClr val="FFFFFF"/>
      </a:lt1>
      <a:dk2>
        <a:srgbClr val="4D6B5F"/>
      </a:dk2>
      <a:lt2>
        <a:srgbClr val="EEF4F0"/>
      </a:lt2>
      <a:accent1>
        <a:srgbClr val="1E7B4F"/>
      </a:accent1>
      <a:accent2>
        <a:srgbClr val="2F6690"/>
      </a:accent2>
      <a:accent3>
        <a:srgbClr val="C9A227"/>
      </a:accent3>
      <a:accent4>
        <a:srgbClr val="B23A48"/>
      </a:accent4>
      <a:accent5>
        <a:srgbClr val="6B8F71"/>
      </a:accent5>
      <a:accent6>
        <a:srgbClr val="D3E0D8"/>
      </a:accent6>
      <a:hlink>
        <a:srgbClr val="2F6690"/>
      </a:hlink>
      <a:folHlink>
        <a:srgbClr val="6B8F71"/>
      </a:folHlink>
    </a:clrScheme>
    <a:fontScheme name="Экономика">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Виды коммерческих предприятий в РФ</dc:title>
  <dc:subject>PptxGenJS Presentation</dc:subject>
  <dc:creator>PptxGenJS</dc:creator>
  <cp:lastModifiedBy>PptxGenJS</cp:lastModifiedBy>
  <cp:revision>1</cp:revision>
  <dcterms:created xsi:type="dcterms:W3CDTF">2026-10-23T07:55:19Z</dcterms:created>
  <dcterms:modified xsi:type="dcterms:W3CDTF">2026-10-23T07:55:19Z</dcterms:modified>
</cp:coreProperties>
</file>