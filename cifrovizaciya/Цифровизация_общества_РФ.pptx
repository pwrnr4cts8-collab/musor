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746e8307-c757-b770-fc7f-1088cbaf47ef}">
          <p14:sldIdLst>
            <p14:sldId id="256"/>
          </p14:sldIdLst>
        </p14:section>
        <p14:section name="История" id="{2f84490f-1a0d-7550-f7d6-75f0ab48019c}">
          <p14:sldIdLst>
            <p14:sldId id="257"/>
            <p14:sldId id="258"/>
          </p14:sldIdLst>
        </p14:section>
        <p14:section name="Сферы жизни" id="{9b5837c6-df51-5be6-ba3b-f6dd3c9067f4}">
          <p14:sldIdLst>
            <p14:sldId id="259"/>
            <p14:sldId id="260"/>
            <p14:sldId id="261"/>
            <p14:sldId id="262"/>
          </p14:sldIdLst>
        </p14:section>
        <p14:section name="Перелом и вызовы" id="{e0e9e4d6-5ce6-e23a-f5da-8160fe027602}">
          <p14:sldIdLst>
            <p14:sldId id="263"/>
            <p14:sldId id="264"/>
          </p14:sldIdLst>
        </p14:section>
        <p14:section name="Итоги" id="{01affb7b-c8a5-91ff-a90d-426e5280544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Тема моего доклада — как цифровизация входила в жизнь общества России. Сразу оговорюсь: я не буду говорить об экономике, ВВП и рынке IT. Меня интересует другое — как цифровые технологии изменили повседневную жизнь обычного человека: как мы общаемся, учимся, лечимся, ездим по городу, ходим в театр и решаем вопросы с государством.
Ещё тридцать лет назад интернет в России был диковинкой для учёных и энтузиастов. Сегодня у большинства из нас в кармане смартфон, через который можно записаться к врачу, проверить оценки ребёнка, оплатить проезд и купить билет в музей. Как мы к этому пришли — об этом и поговорим.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Отправной точкой российского интернета принято считать 7 апреля 1994 года — в этот день был зарегистрирован национальный домен .RU. У Рунета появился собственный «адрес», и эту дату до сих пор отмечают как день рождения Рунета.
Дальше события развивались быстро. В 1996 году заработал Rambler — один из первых российских поисковиков, в 1997 году появился Яндекс. Именно поисковики сделали интернет полезным для обычного человека: в сети стало можно найти расписание, новости, рецепт или ответ на вопрос.
Следующий перелом — 2006 год, когда появились «ВКонтакте» и «Одноклассники». Общение начало уходить в сеть: люди находили одноклассников, сослуживцев, родственников в других городах. Интернет стал не только справочником, но и местом встречи.
А в 2009 году открылся портал Госуслуг. Это важный символический момент: в интернет пришло государство. Об этом — чуть позже, а пока посмотрим, насколько широко сеть распространилась по стране.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цифра этого слайда — 90,4 процента. Столько домохозяйств в России было подключено к интернету в 2024 году, по оценке Института статистических исследований и экономики знаний ВШЭ на основе данных Росстата. За десять лет этот показатель вырос примерно на 20 процентных пунктов — с примерно 70 процентов в 2014 году.
Важно, как именно люди выходят в сеть. Для большинства главным «окном» в интернет стал не компьютер, а смартфон. Именно это сделало цифровые сервисы по-настоящему массовыми: теперь ими пользуются и школьники, и пенсионеры, у которых никогда не было ноутбука.
Отдельная история — небольшие населённые пункты. По государственной программе устранения цифрового неравенства связь и интернет проводят в сёла и посёлки, куда коммерческим операторам заходить невыгодно. Так интернет постепенно перестаёт быть привилегией больших городов.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выбрать один символ цифровизации России, это, пожалуй, Госуслуги. Портал запустили 15 декабря 2009 года, а к концу 2024 года, по данным Минцифры, на нём зарегистрировались более 112 миллионов человек. Около 60 миллионов заходят на портал или в приложение хотя бы раз в месяц.
Что это изменило в жизни людей? Раньше, чтобы оформить загранпаспорт или пособие, нужно было собрать справки и отстоять несколько очередей. Теперь многие вещи делаются из дома: запись к врачу, заявление на паспорт, оплата штрафов и налогов, получение выплат. Часть услуг стала «проактивной» — например, при рождении ребёнка некоторые выплаты и сертификат на материнский капитал оформляются без отдельного заявления.
С 2020 года в России появились электронные трудовые книжки — бумажную больше не нужно носить с места на место. А с 2019 года в Москве, а с 2021 года и на выборах в Государственную думу в ряде регионов используется дистанционное электронное голосование. Можно спорить о его плюсах и минусах, но сам факт показателен: даже выборы частично переехали в онлайн.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Очень заметно цифровизация изменила школу. Бумажный дневник, который можно было «забыть» дома, уступил место электронному: оценки и домашние задания видны и ученику, и родителям в тот же день.
В Москве с 2016–2017 годов развивается «Московская электронная школа» — с цифровыми сценариями уроков, тестами и электронными учебными материалами. Похожие платформы появились и в других регионах. Для общения учителей, учеников и родителей создана платформа «Сферум».
Но настоящую проверку школа прошла весной 2020 года, когда из-за пандемии миллионы детей за несколько дней перешли на дистанционное обучение. Было трудно: не у всех хватало компьютеров, не все учителя умели вести уроки онлайн. Зато этот опыт показал, что учиться можно и на расстоянии, а онлайн-курсы и лекции вузов стали обычным делом и для взрослых.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Посмотрим на цифровизацию глазами пациента. Первый шаг — запись к врачу. Раньше люди занимали очередь в регистратуру с утра, сегодня записаться можно через Госуслуги, региональный портал или приложение поликлиники.
Второй шаг — консультация. С 1 января 2018 года телемедицина в России официально разрешена законом: врач может проконсультировать пациента по видеосвязи, например, обсудить результаты анализов или скорректировать лечение.
Дальше — электронные рецепты и медицинские документы. Результаты анализов, справки, сведения о прививках можно посмотреть в личном кабинете. Особенно это ценно для тех, кто живёт далеко от крупных больниц: часть вопросов решается без долгой поездки в райцентр.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Цифровизация незаметно изменила и обычный день горожанина. В транспорте — транспортные карты вроде московской «Тройки», оплата проезда телефоном или банковской картой. С октября 2021 года в московском метро можно оплатить проезд с помощью биометрии — системой Face Pay, просто посмотрев в камеру на турникете.
Такси, доставка продуктов и готовой еды, покупки в интернете, запись в парикмахерскую — всё это стало делом пары касаний. Для многих людей, особенно с маленькими детьми или ограниченной подвижностью, это реальное облегчение жизни.
Отдельно хочу сказать о культуре. С 1 сентября 2021 года действует «Пушкинская карта»: молодые люди от 14 до 22 лет получают от государства деньги на билеты в театры, музеи, на концерты и выставки. Оформляется она в приложении, а билеты покупаются онлайн. По словам министра культуры, выпущено уже более 10 миллионов таких карт. Это хороший пример того, как цифровой инструмент приводит людей в совсем не цифровые места — в театр и музей.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бы нужно было назвать год, который сильнее всего ускорил цифровизацию, это 2020-й. С весны миллионы людей перешли на удалённую работу, школьники и студенты — на дистанционное обучение.
В апреле 2020 года в Москве ввели цифровые пропуска для передвижения по городу — их оформляли онлайн. Резко выросли доставка, онлайн-консультации врачей, видеозвонки: многие бабушки и дедушки впервые освоили видеосвязь, чтобы увидеть внуков.
В 2021 году появились QR-коды о вакцинации или перенесённой болезни — их показывали на входе в кафе, театры и торговые центры. Отношение к этим мерам было разным, но с точки зрения цифровизации главное другое: то, на что в обычное время ушли бы годы, произошло за месяцы.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Было бы нечестно говорить только о плюсах. У цифровизации есть обратная сторона, и о ней важно знать.
Первое — цифровое неравенство. Пожилым людям и жителям отдалённых сёл бывает сложно освоить новые сервисы, а когда что-то переходит «только в онлайн», они рискуют остаться без помощи.
Второе — мошенники. Телефонные и интернет-мошенники пользуются тем, что люди доверяют звонкам «из банка» или «из поликлиники». Третье — личные данные: утечки баз данных заставляют задуматься, кто и как хранит информацию о нас. И четвёртое — цифровая усталость: жизнь в смартфоне отнимает время на живое общение, прогулки и сон.
Общий ответ на эти вызовы — цифровая грамотность. Технологии сами по себе не хорошие и не плохие; важно уметь пользоваться ими безопасно и осознанно.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За тридцать с небольшим лет интернет в России прошёл путь от диковинки для энтузиастов до привычной среды — почти как электричество или водопровод. Мы замечаем его, только когда он пропадает.
Главные изменения оказались не экономическими, а человеческими: по-другому устроены учёба, лечение, общение с близкими и общение с государством.
И, на мой взгляд, следующий шаг — не столько новые сервисы, сколько умение людей пользоваться ими безопасно и с пользой. Спасибо за внимание! Буду рад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1.png"/><Relationship Id="rId9" Type="http://schemas.openxmlformats.org/officeDocument/2006/relationships/image" Target="../media/image-3-1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_03_hero" descr="/tmp/claude-0/-home-user-musor/c6980a0f-2a52-569f-a1fc-691d09a5d10f/scratchpad/cifra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74320"/>
            <a:ext cx="5394960" cy="6373368"/>
          </a:xfrm>
          <a:prstGeom prst="rect">
            <a:avLst/>
          </a:prstGeom>
        </p:spPr>
      </p:pic>
      <p:sp>
        <p:nvSpPr>
          <p:cNvPr id="4" name="a_01_eb"/>
          <p:cNvSpPr txBox="1"/>
          <p:nvPr/>
        </p:nvSpPr>
        <p:spPr>
          <a:xfrm>
            <a:off x="68580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ДОКЛАД</a:t>
            </a:r>
            <a:endParaRPr lang="ru-RU" sz="1600" dirty="0"/>
          </a:p>
        </p:txBody>
      </p:sp>
      <p:sp>
        <p:nvSpPr>
          <p:cNvPr id="5" name="a_01_t"/>
          <p:cNvSpPr txBox="1"/>
          <p:nvPr/>
        </p:nvSpPr>
        <p:spPr>
          <a:xfrm>
            <a:off x="685800" y="155448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6000" b="1" dirty="0">
                <a:solidFill>
                  <a:schemeClr val="bg1"/>
                </a:solidFill>
              </a:rPr>
              <a:t>Цифра</a:t>
            </a:r>
            <a:endParaRPr lang="ru-RU" sz="6000" dirty="0"/>
          </a:p>
          <a:p>
            <a:pPr indent="0" marL="0">
              <a:buNone/>
            </a:pPr>
            <a:r>
              <a:rPr lang="ru-RU" sz="6000" b="1" dirty="0">
                <a:solidFill>
                  <a:schemeClr val="bg1"/>
                </a:solidFill>
              </a:rPr>
              <a:t>в каждом доме</a:t>
            </a:r>
            <a:endParaRPr lang="ru-RU" sz="6000" dirty="0"/>
          </a:p>
        </p:txBody>
      </p:sp>
      <p:sp>
        <p:nvSpPr>
          <p:cNvPr id="6" name="a_02_st"/>
          <p:cNvSpPr txBox="1"/>
          <p:nvPr/>
        </p:nvSpPr>
        <p:spPr>
          <a:xfrm>
            <a:off x="685800" y="37033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200" dirty="0">
                <a:solidFill>
                  <a:schemeClr val="tx2"/>
                </a:solidFill>
              </a:rPr>
              <a:t>Как цифровизация входила в жизнь общества России</a:t>
            </a:r>
            <a:endParaRPr lang="ru-RU" sz="2200" dirty="0"/>
          </a:p>
        </p:txBody>
      </p:sp>
      <p:sp>
        <p:nvSpPr>
          <p:cNvPr id="7" name="a_04_b0_c"/>
          <p:cNvSpPr/>
          <p:nvPr/>
        </p:nvSpPr>
        <p:spPr>
          <a:xfrm>
            <a:off x="685800" y="475488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a_04_b0_i" descr="/tmp/claude-0/-home-user-musor/c6980a0f-2a52-569f-a1fc-691d09a5d10f/scratchpad/cifra/icons/boo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95" y="4898075"/>
            <a:ext cx="243962" cy="243962"/>
          </a:xfrm>
          <a:prstGeom prst="rect">
            <a:avLst/>
          </a:prstGeom>
        </p:spPr>
      </p:pic>
      <p:sp>
        <p:nvSpPr>
          <p:cNvPr id="9" name="a_04_b1_c"/>
          <p:cNvSpPr/>
          <p:nvPr/>
        </p:nvSpPr>
        <p:spPr>
          <a:xfrm>
            <a:off x="1399032" y="4754880"/>
            <a:ext cx="530352" cy="5303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a_04_b1_i" descr="/tmp/claude-0/-home-user-musor/c6980a0f-2a52-569f-a1fc-691d09a5d10f/scratchpad/cifra/icons/docto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227" y="4898075"/>
            <a:ext cx="243962" cy="243962"/>
          </a:xfrm>
          <a:prstGeom prst="rect">
            <a:avLst/>
          </a:prstGeom>
        </p:spPr>
      </p:pic>
      <p:sp>
        <p:nvSpPr>
          <p:cNvPr id="11" name="a_04_b2_c"/>
          <p:cNvSpPr/>
          <p:nvPr/>
        </p:nvSpPr>
        <p:spPr>
          <a:xfrm>
            <a:off x="2112264" y="4754880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a_04_b2_i" descr="/tmp/claude-0/-home-user-musor/c6980a0f-2a52-569f-a1fc-691d09a5d10f/scratchpad/cifra/icons/cha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459" y="4898075"/>
            <a:ext cx="243962" cy="243962"/>
          </a:xfrm>
          <a:prstGeom prst="rect">
            <a:avLst/>
          </a:prstGeom>
        </p:spPr>
      </p:pic>
      <p:sp>
        <p:nvSpPr>
          <p:cNvPr id="13" name="a_04_b3_c"/>
          <p:cNvSpPr/>
          <p:nvPr/>
        </p:nvSpPr>
        <p:spPr>
          <a:xfrm>
            <a:off x="2825496" y="4754880"/>
            <a:ext cx="530352" cy="53035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a_04_b3_i" descr="/tmp/claude-0/-home-user-musor/c6980a0f-2a52-569f-a1fc-691d09a5d10f/scratchpad/cifra/icons/landmar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691" y="4898075"/>
            <a:ext cx="243962" cy="243962"/>
          </a:xfrm>
          <a:prstGeom prst="rect">
            <a:avLst/>
          </a:prstGeom>
        </p:spPr>
      </p:pic>
      <p:sp>
        <p:nvSpPr>
          <p:cNvPr id="15" name="a_04_b4_c"/>
          <p:cNvSpPr/>
          <p:nvPr/>
        </p:nvSpPr>
        <p:spPr>
          <a:xfrm>
            <a:off x="3538728" y="4754880"/>
            <a:ext cx="530352" cy="53035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a_04_b4_i" descr="/tmp/claude-0/-home-user-musor/c6980a0f-2a52-569f-a1fc-691d09a5d10f/scratchpad/cifra/icons/theater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923" y="4898075"/>
            <a:ext cx="243962" cy="243962"/>
          </a:xfrm>
          <a:prstGeom prst="rect">
            <a:avLst/>
          </a:prstGeom>
        </p:spPr>
      </p:pic>
      <p:sp>
        <p:nvSpPr>
          <p:cNvPr id="17" name="a_05_au"/>
          <p:cNvSpPr txBox="1"/>
          <p:nvPr/>
        </p:nvSpPr>
        <p:spPr>
          <a:xfrm>
            <a:off x="68580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[ФИО докладчика]  ·  2026</a:t>
            </a:r>
            <a:endParaRPr lang="ru-RU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5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0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0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60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60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5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&lt;01/&gt; ИСТОРИЯ</a:t>
            </a:r>
            <a:endParaRPr lang="ru-RU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4000" b="1" dirty="0">
                <a:solidFill>
                  <a:schemeClr val="bg1"/>
                </a:solidFill>
              </a:rPr>
              <a:t>Как «загружался» Рунет</a:t>
            </a:r>
            <a:endParaRPr lang="ru-RU" sz="4000" dirty="0"/>
          </a:p>
        </p:txBody>
      </p:sp>
      <p:sp>
        <p:nvSpPr>
          <p:cNvPr id="5" name="a_01_track"/>
          <p:cNvSpPr/>
          <p:nvPr/>
        </p:nvSpPr>
        <p:spPr>
          <a:xfrm>
            <a:off x="548640" y="3794760"/>
            <a:ext cx="1106424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a_02_seg0"/>
          <p:cNvSpPr/>
          <p:nvPr/>
        </p:nvSpPr>
        <p:spPr>
          <a:xfrm>
            <a:off x="603504" y="3794760"/>
            <a:ext cx="21031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7" name="a_02_ic0_c"/>
          <p:cNvSpPr/>
          <p:nvPr/>
        </p:nvSpPr>
        <p:spPr>
          <a:xfrm>
            <a:off x="1106424" y="233172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5400000">
              <a:srgbClr val="22D3EE">
                <a:alpha val="55000"/>
              </a:srgbClr>
            </a:outerShdw>
          </a:effectLst>
        </p:spPr>
      </p:sp>
      <p:pic>
        <p:nvPicPr>
          <p:cNvPr id="8" name="a_02_ic0_i" descr="/tmp/claude-0/-home-user-musor/c6980a0f-2a52-569f-a1fc-691d09a5d10f/scratchpad/cifra/icons/glob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690" y="2627986"/>
            <a:ext cx="504749" cy="504749"/>
          </a:xfrm>
          <a:prstGeom prst="rect">
            <a:avLst/>
          </a:prstGeom>
        </p:spPr>
      </p:pic>
      <p:sp>
        <p:nvSpPr>
          <p:cNvPr id="9" name="a_02_yr0"/>
          <p:cNvSpPr txBox="1"/>
          <p:nvPr/>
        </p:nvSpPr>
        <p:spPr>
          <a:xfrm>
            <a:off x="548640" y="425196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3400" b="1" dirty="0">
                <a:solidFill>
                  <a:schemeClr val="accent1"/>
                </a:solidFill>
              </a:rPr>
              <a:t>1994</a:t>
            </a:r>
            <a:endParaRPr lang="ru-RU" sz="3400" dirty="0"/>
          </a:p>
        </p:txBody>
      </p:sp>
      <p:sp>
        <p:nvSpPr>
          <p:cNvPr id="10" name="a_02_l0"/>
          <p:cNvSpPr txBox="1"/>
          <p:nvPr/>
        </p:nvSpPr>
        <p:spPr>
          <a:xfrm>
            <a:off x="548640" y="4846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100" b="1" dirty="0">
                <a:solidFill>
                  <a:schemeClr val="bg1"/>
                </a:solidFill>
              </a:rPr>
              <a:t>.RU</a:t>
            </a:r>
            <a:endParaRPr lang="ru-RU" sz="2100" dirty="0"/>
          </a:p>
        </p:txBody>
      </p:sp>
      <p:sp>
        <p:nvSpPr>
          <p:cNvPr id="11" name="a_02_s0"/>
          <p:cNvSpPr txBox="1"/>
          <p:nvPr/>
        </p:nvSpPr>
        <p:spPr>
          <a:xfrm>
            <a:off x="548640" y="52578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2"/>
                </a:solidFill>
              </a:rPr>
              <a:t>домен страны</a:t>
            </a:r>
            <a:endParaRPr lang="ru-RU" sz="1400" dirty="0"/>
          </a:p>
        </p:txBody>
      </p:sp>
      <p:sp>
        <p:nvSpPr>
          <p:cNvPr id="12" name="a_03_seg1"/>
          <p:cNvSpPr/>
          <p:nvPr/>
        </p:nvSpPr>
        <p:spPr>
          <a:xfrm>
            <a:off x="2816352" y="3794760"/>
            <a:ext cx="210312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77800" dist="50800" dir="5400000">
              <a:srgbClr val="F472B6">
                <a:alpha val="55000"/>
              </a:srgbClr>
            </a:outerShdw>
          </a:effectLst>
        </p:spPr>
      </p:sp>
      <p:sp>
        <p:nvSpPr>
          <p:cNvPr id="13" name="a_03_ic1_c"/>
          <p:cNvSpPr/>
          <p:nvPr/>
        </p:nvSpPr>
        <p:spPr>
          <a:xfrm>
            <a:off x="3319272" y="2331720"/>
            <a:ext cx="1097280" cy="10972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79400" dist="50800" dir="5400000">
              <a:srgbClr val="F472B6">
                <a:alpha val="55000"/>
              </a:srgbClr>
            </a:outerShdw>
          </a:effectLst>
        </p:spPr>
      </p:sp>
      <p:pic>
        <p:nvPicPr>
          <p:cNvPr id="14" name="a_03_ic1_i" descr="/tmp/claude-0/-home-user-musor/c6980a0f-2a52-569f-a1fc-691d09a5d10f/scratchpad/cifra/icons/lapto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538" y="2627986"/>
            <a:ext cx="504749" cy="504749"/>
          </a:xfrm>
          <a:prstGeom prst="rect">
            <a:avLst/>
          </a:prstGeom>
        </p:spPr>
      </p:pic>
      <p:sp>
        <p:nvSpPr>
          <p:cNvPr id="15" name="a_03_yr1"/>
          <p:cNvSpPr txBox="1"/>
          <p:nvPr/>
        </p:nvSpPr>
        <p:spPr>
          <a:xfrm>
            <a:off x="2761488" y="425196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3400" b="1" dirty="0">
                <a:solidFill>
                  <a:schemeClr val="accent2"/>
                </a:solidFill>
              </a:rPr>
              <a:t>1996</a:t>
            </a:r>
            <a:endParaRPr lang="ru-RU" sz="3400" dirty="0"/>
          </a:p>
        </p:txBody>
      </p:sp>
      <p:sp>
        <p:nvSpPr>
          <p:cNvPr id="16" name="a_03_l1"/>
          <p:cNvSpPr txBox="1"/>
          <p:nvPr/>
        </p:nvSpPr>
        <p:spPr>
          <a:xfrm>
            <a:off x="2761488" y="4846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100" b="1" dirty="0">
                <a:solidFill>
                  <a:schemeClr val="bg1"/>
                </a:solidFill>
              </a:rPr>
              <a:t>Rambler</a:t>
            </a:r>
            <a:endParaRPr lang="ru-RU" sz="2100" dirty="0"/>
          </a:p>
        </p:txBody>
      </p:sp>
      <p:sp>
        <p:nvSpPr>
          <p:cNvPr id="17" name="a_03_s1"/>
          <p:cNvSpPr txBox="1"/>
          <p:nvPr/>
        </p:nvSpPr>
        <p:spPr>
          <a:xfrm>
            <a:off x="2761488" y="52578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2"/>
                </a:solidFill>
              </a:rPr>
              <a:t>поисковик</a:t>
            </a:r>
            <a:endParaRPr lang="ru-RU" sz="1400" dirty="0"/>
          </a:p>
        </p:txBody>
      </p:sp>
      <p:sp>
        <p:nvSpPr>
          <p:cNvPr id="18" name="a_04_seg2"/>
          <p:cNvSpPr/>
          <p:nvPr/>
        </p:nvSpPr>
        <p:spPr>
          <a:xfrm>
            <a:off x="5029200" y="3794760"/>
            <a:ext cx="210312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9" name="a_04_ic2_c"/>
          <p:cNvSpPr/>
          <p:nvPr/>
        </p:nvSpPr>
        <p:spPr>
          <a:xfrm>
            <a:off x="5532120" y="2331720"/>
            <a:ext cx="1097280" cy="10972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279400" dist="50800" dir="5400000">
              <a:srgbClr val="34D399">
                <a:alpha val="55000"/>
              </a:srgbClr>
            </a:outerShdw>
          </a:effectLst>
        </p:spPr>
      </p:sp>
      <p:pic>
        <p:nvPicPr>
          <p:cNvPr id="20" name="a_04_ic2_i" descr="/tmp/claude-0/-home-user-musor/c6980a0f-2a52-569f-a1fc-691d09a5d10f/scratchpad/cifra/icons/search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86" y="2627986"/>
            <a:ext cx="504749" cy="504749"/>
          </a:xfrm>
          <a:prstGeom prst="rect">
            <a:avLst/>
          </a:prstGeom>
        </p:spPr>
      </p:pic>
      <p:sp>
        <p:nvSpPr>
          <p:cNvPr id="21" name="a_04_yr2"/>
          <p:cNvSpPr txBox="1"/>
          <p:nvPr/>
        </p:nvSpPr>
        <p:spPr>
          <a:xfrm>
            <a:off x="4974336" y="425196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3400" b="1" dirty="0">
                <a:solidFill>
                  <a:schemeClr val="accent3"/>
                </a:solidFill>
              </a:rPr>
              <a:t>1997</a:t>
            </a:r>
            <a:endParaRPr lang="ru-RU" sz="3400" dirty="0"/>
          </a:p>
        </p:txBody>
      </p:sp>
      <p:sp>
        <p:nvSpPr>
          <p:cNvPr id="22" name="a_04_l2"/>
          <p:cNvSpPr txBox="1"/>
          <p:nvPr/>
        </p:nvSpPr>
        <p:spPr>
          <a:xfrm>
            <a:off x="4974336" y="4846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100" b="1" dirty="0">
                <a:solidFill>
                  <a:schemeClr val="bg1"/>
                </a:solidFill>
              </a:rPr>
              <a:t>Яндекс</a:t>
            </a:r>
            <a:endParaRPr lang="ru-RU" sz="2100" dirty="0"/>
          </a:p>
        </p:txBody>
      </p:sp>
      <p:sp>
        <p:nvSpPr>
          <p:cNvPr id="23" name="a_04_s2"/>
          <p:cNvSpPr txBox="1"/>
          <p:nvPr/>
        </p:nvSpPr>
        <p:spPr>
          <a:xfrm>
            <a:off x="4974336" y="52578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2"/>
                </a:solidFill>
              </a:rPr>
              <a:t>поисковик</a:t>
            </a:r>
            <a:endParaRPr lang="ru-RU" sz="1400" dirty="0"/>
          </a:p>
        </p:txBody>
      </p:sp>
      <p:sp>
        <p:nvSpPr>
          <p:cNvPr id="24" name="a_05_seg3"/>
          <p:cNvSpPr/>
          <p:nvPr/>
        </p:nvSpPr>
        <p:spPr>
          <a:xfrm>
            <a:off x="7242048" y="3794760"/>
            <a:ext cx="210312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25" name="a_05_ic3_c"/>
          <p:cNvSpPr/>
          <p:nvPr/>
        </p:nvSpPr>
        <p:spPr>
          <a:xfrm>
            <a:off x="7744968" y="2331720"/>
            <a:ext cx="1097280" cy="10972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279400" dist="50800" dir="5400000">
              <a:srgbClr val="FBBF24">
                <a:alpha val="55000"/>
              </a:srgbClr>
            </a:outerShdw>
          </a:effectLst>
        </p:spPr>
      </p:sp>
      <p:pic>
        <p:nvPicPr>
          <p:cNvPr id="26" name="a_05_ic3_i" descr="/tmp/claude-0/-home-user-musor/c6980a0f-2a52-569f-a1fc-691d09a5d10f/scratchpad/cifra/icons/user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1234" y="2627986"/>
            <a:ext cx="504749" cy="504749"/>
          </a:xfrm>
          <a:prstGeom prst="rect">
            <a:avLst/>
          </a:prstGeom>
        </p:spPr>
      </p:pic>
      <p:sp>
        <p:nvSpPr>
          <p:cNvPr id="27" name="a_05_yr3"/>
          <p:cNvSpPr txBox="1"/>
          <p:nvPr/>
        </p:nvSpPr>
        <p:spPr>
          <a:xfrm>
            <a:off x="7187184" y="425196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3400" b="1" dirty="0">
                <a:solidFill>
                  <a:schemeClr val="accent4"/>
                </a:solidFill>
              </a:rPr>
              <a:t>2006</a:t>
            </a:r>
            <a:endParaRPr lang="ru-RU" sz="3400" dirty="0"/>
          </a:p>
        </p:txBody>
      </p:sp>
      <p:sp>
        <p:nvSpPr>
          <p:cNvPr id="28" name="a_05_l3"/>
          <p:cNvSpPr txBox="1"/>
          <p:nvPr/>
        </p:nvSpPr>
        <p:spPr>
          <a:xfrm>
            <a:off x="7187184" y="4846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100" b="1" dirty="0">
                <a:solidFill>
                  <a:schemeClr val="bg1"/>
                </a:solidFill>
              </a:rPr>
              <a:t>Соцсети</a:t>
            </a:r>
            <a:endParaRPr lang="ru-RU" sz="2100" dirty="0"/>
          </a:p>
        </p:txBody>
      </p:sp>
      <p:sp>
        <p:nvSpPr>
          <p:cNvPr id="29" name="a_05_s3"/>
          <p:cNvSpPr txBox="1"/>
          <p:nvPr/>
        </p:nvSpPr>
        <p:spPr>
          <a:xfrm>
            <a:off x="7187184" y="52578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2"/>
                </a:solidFill>
              </a:rPr>
              <a:t>ВКонтакте, ОК</a:t>
            </a:r>
            <a:endParaRPr lang="ru-RU" sz="1400" dirty="0"/>
          </a:p>
        </p:txBody>
      </p:sp>
      <p:sp>
        <p:nvSpPr>
          <p:cNvPr id="30" name="a_06_seg4"/>
          <p:cNvSpPr/>
          <p:nvPr/>
        </p:nvSpPr>
        <p:spPr>
          <a:xfrm>
            <a:off x="9454896" y="3794760"/>
            <a:ext cx="21031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77800" dist="50800" dir="5400000">
              <a:srgbClr val="8B5CF6">
                <a:alpha val="55000"/>
              </a:srgbClr>
            </a:outerShdw>
          </a:effectLst>
        </p:spPr>
      </p:sp>
      <p:sp>
        <p:nvSpPr>
          <p:cNvPr id="31" name="a_06_ic4_c"/>
          <p:cNvSpPr/>
          <p:nvPr/>
        </p:nvSpPr>
        <p:spPr>
          <a:xfrm>
            <a:off x="9957816" y="2331720"/>
            <a:ext cx="1097280" cy="10972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279400" dist="50800" dir="5400000">
              <a:srgbClr val="8B5CF6">
                <a:alpha val="55000"/>
              </a:srgbClr>
            </a:outerShdw>
          </a:effectLst>
        </p:spPr>
      </p:sp>
      <p:pic>
        <p:nvPicPr>
          <p:cNvPr id="32" name="a_06_ic4_i" descr="/tmp/claude-0/-home-user-musor/c6980a0f-2a52-569f-a1fc-691d09a5d10f/scratchpad/cifra/icons/landmar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082" y="2627986"/>
            <a:ext cx="504749" cy="504749"/>
          </a:xfrm>
          <a:prstGeom prst="rect">
            <a:avLst/>
          </a:prstGeom>
        </p:spPr>
      </p:pic>
      <p:sp>
        <p:nvSpPr>
          <p:cNvPr id="33" name="a_06_yr4"/>
          <p:cNvSpPr txBox="1"/>
          <p:nvPr/>
        </p:nvSpPr>
        <p:spPr>
          <a:xfrm>
            <a:off x="9400032" y="425196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3400" b="1" dirty="0">
                <a:solidFill>
                  <a:schemeClr val="accent5"/>
                </a:solidFill>
              </a:rPr>
              <a:t>2009</a:t>
            </a:r>
            <a:endParaRPr lang="ru-RU" sz="3400" dirty="0"/>
          </a:p>
        </p:txBody>
      </p:sp>
      <p:sp>
        <p:nvSpPr>
          <p:cNvPr id="34" name="a_06_l4"/>
          <p:cNvSpPr txBox="1"/>
          <p:nvPr/>
        </p:nvSpPr>
        <p:spPr>
          <a:xfrm>
            <a:off x="9400032" y="4846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100" b="1" dirty="0">
                <a:solidFill>
                  <a:schemeClr val="bg1"/>
                </a:solidFill>
              </a:rPr>
              <a:t>Госуслуги</a:t>
            </a:r>
            <a:endParaRPr lang="ru-RU" sz="2100" dirty="0"/>
          </a:p>
        </p:txBody>
      </p:sp>
      <p:sp>
        <p:nvSpPr>
          <p:cNvPr id="35" name="a_06_s4"/>
          <p:cNvSpPr txBox="1"/>
          <p:nvPr/>
        </p:nvSpPr>
        <p:spPr>
          <a:xfrm>
            <a:off x="9400032" y="525780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400" dirty="0">
                <a:solidFill>
                  <a:schemeClr val="tx2"/>
                </a:solidFill>
              </a:rPr>
              <a:t>государство онлайн</a:t>
            </a:r>
            <a:endParaRPr lang="ru-RU" sz="1400" dirty="0"/>
          </a:p>
        </p:txBody>
      </p:sp>
      <p:sp>
        <p:nvSpPr>
          <p:cNvPr id="36" name="a_07_pct"/>
          <p:cNvSpPr txBox="1"/>
          <p:nvPr/>
        </p:nvSpPr>
        <p:spPr>
          <a:xfrm>
            <a:off x="54864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загрузка Рунета… </a:t>
            </a:r>
            <a:pPr indent="0" marL="0">
              <a:buNone/>
            </a:pPr>
            <a:r>
              <a:rPr lang="ru-RU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ru-RU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ru-RU"/>
              <a:t>2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15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15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15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5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5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15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0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0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60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50"/>
                            </p:stCondLst>
                            <p:childTnLst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50"/>
                            </p:stCondLst>
                            <p:childTnLst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50"/>
                            </p:stCondLst>
                            <p:childTnLst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50"/>
                            </p:stCondLst>
                            <p:childTnLst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050"/>
                            </p:stCondLst>
                            <p:childTnLst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50"/>
                            </p:stCondLst>
                            <p:childTnLst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500"/>
                            </p:stCondLst>
                            <p:childTnLst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500"/>
                            </p:stCondLst>
                            <p:childTnLst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500"/>
                            </p:stCondLst>
                            <p:childTnLst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500"/>
                            </p:stCondLst>
                            <p:childTnLst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500"/>
                            </p:stCondLst>
                            <p:childTnLst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950"/>
                            </p:stCondLst>
                            <p:childTnLst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&lt;02/&gt; ИНТЕРНЕТ ДОМА</a:t>
            </a:r>
            <a:endParaRPr lang="ru-RU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4000" b="1" dirty="0">
                <a:solidFill>
                  <a:schemeClr val="bg1"/>
                </a:solidFill>
              </a:rPr>
              <a:t>9 из 10 домов — в сети</a:t>
            </a:r>
            <a:endParaRPr lang="ru-RU" sz="4000" dirty="0"/>
          </a:p>
        </p:txBody>
      </p:sp>
      <p:sp>
        <p:nvSpPr>
          <p:cNvPr id="5" name="a_01_num"/>
          <p:cNvSpPr txBox="1"/>
          <p:nvPr/>
        </p:nvSpPr>
        <p:spPr>
          <a:xfrm>
            <a:off x="548640" y="1828800"/>
            <a:ext cx="5303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2000" b="1" dirty="0">
                <a:solidFill>
                  <a:schemeClr val="accent1"/>
                </a:solidFill>
              </a:rPr>
              <a:t>90,4%</a:t>
            </a:r>
            <a:endParaRPr lang="ru-RU" sz="12000" dirty="0"/>
          </a:p>
        </p:txBody>
      </p:sp>
      <p:sp>
        <p:nvSpPr>
          <p:cNvPr id="6" name="a_01_lbl"/>
          <p:cNvSpPr txBox="1"/>
          <p:nvPr/>
        </p:nvSpPr>
        <p:spPr>
          <a:xfrm>
            <a:off x="548640" y="34747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2000" dirty="0">
                <a:solidFill>
                  <a:schemeClr val="bg1"/>
                </a:solidFill>
              </a:rPr>
              <a:t>домохозяйств России подключены к интернету (2024)</a:t>
            </a:r>
            <a:endParaRPr lang="ru-RU" sz="2000" dirty="0"/>
          </a:p>
        </p:txBody>
      </p:sp>
      <p:sp>
        <p:nvSpPr>
          <p:cNvPr id="7" name="a_07_pill"/>
          <p:cNvSpPr/>
          <p:nvPr/>
        </p:nvSpPr>
        <p:spPr>
          <a:xfrm>
            <a:off x="548640" y="4526280"/>
            <a:ext cx="3383280" cy="56692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a_07_pilltx"/>
          <p:cNvSpPr txBox="1"/>
          <p:nvPr/>
        </p:nvSpPr>
        <p:spPr>
          <a:xfrm>
            <a:off x="548640" y="45262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800" b="1" dirty="0">
                <a:solidFill>
                  <a:schemeClr val="tx1"/>
                </a:solidFill>
              </a:rPr>
              <a:t>+20 п.п. за 10 лет</a:t>
            </a:r>
            <a:endParaRPr lang="ru-RU" sz="1800" dirty="0"/>
          </a:p>
        </p:txBody>
      </p:sp>
      <p:pic>
        <p:nvPicPr>
          <p:cNvPr id="9" name="a_02_h0" descr="/tmp/claude-0/-home-user-musor/c6980a0f-2a52-569f-a1fc-691d09a5d10f/scratchpad/cifra/icons/home_22D3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828800"/>
            <a:ext cx="914400" cy="914400"/>
          </a:xfrm>
          <a:prstGeom prst="rect">
            <a:avLst/>
          </a:prstGeom>
        </p:spPr>
      </p:pic>
      <p:pic>
        <p:nvPicPr>
          <p:cNvPr id="10" name="a_03_h1" descr="/tmp/claude-0/-home-user-musor/c6980a0f-2a52-569f-a1fc-691d09a5d10f/scratchpad/cifra/icons/home_22D3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8" y="1828800"/>
            <a:ext cx="914400" cy="914400"/>
          </a:xfrm>
          <a:prstGeom prst="rect">
            <a:avLst/>
          </a:prstGeom>
        </p:spPr>
      </p:pic>
      <p:pic>
        <p:nvPicPr>
          <p:cNvPr id="11" name="a_04_h2" descr="/tmp/claude-0/-home-user-musor/c6980a0f-2a52-569f-a1fc-691d09a5d10f/scratchpad/cifra/icons/home_22D3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828800"/>
            <a:ext cx="914400" cy="914400"/>
          </a:xfrm>
          <a:prstGeom prst="rect">
            <a:avLst/>
          </a:prstGeom>
        </p:spPr>
      </p:pic>
      <p:pic>
        <p:nvPicPr>
          <p:cNvPr id="12" name="a_05_h3" descr="/tmp/claude-0/-home-user-musor/c6980a0f-2a52-569f-a1fc-691d09a5d10f/scratchpad/cifra/icons/home_22D3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4" y="1828800"/>
            <a:ext cx="914400" cy="914400"/>
          </a:xfrm>
          <a:prstGeom prst="rect">
            <a:avLst/>
          </a:prstGeom>
        </p:spPr>
      </p:pic>
      <p:pic>
        <p:nvPicPr>
          <p:cNvPr id="13" name="a_06_h4" descr="/tmp/claude-0/-home-user-musor/c6980a0f-2a52-569f-a1fc-691d09a5d10f/scratchpad/cifra/icons/home_22D3E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72" y="1828800"/>
            <a:ext cx="914400" cy="914400"/>
          </a:xfrm>
          <a:prstGeom prst="rect">
            <a:avLst/>
          </a:prstGeom>
        </p:spPr>
      </p:pic>
      <p:pic>
        <p:nvPicPr>
          <p:cNvPr id="14" name="a_02_h5" descr="/tmp/claude-0/-home-user-musor/c6980a0f-2a52-569f-a1fc-691d09a5d10f/scratchpad/cifra/icons/home_22D3E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154680"/>
            <a:ext cx="914400" cy="914400"/>
          </a:xfrm>
          <a:prstGeom prst="rect">
            <a:avLst/>
          </a:prstGeom>
        </p:spPr>
      </p:pic>
      <p:pic>
        <p:nvPicPr>
          <p:cNvPr id="15" name="a_03_h6" descr="/tmp/claude-0/-home-user-musor/c6980a0f-2a52-569f-a1fc-691d09a5d10f/scratchpad/cifra/icons/home_22D3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768" y="3154680"/>
            <a:ext cx="914400" cy="914400"/>
          </a:xfrm>
          <a:prstGeom prst="rect">
            <a:avLst/>
          </a:prstGeom>
        </p:spPr>
      </p:pic>
      <p:pic>
        <p:nvPicPr>
          <p:cNvPr id="16" name="a_04_h7" descr="/tmp/claude-0/-home-user-musor/c6980a0f-2a52-569f-a1fc-691d09a5d10f/scratchpad/cifra/icons/home_22D3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3154680"/>
            <a:ext cx="914400" cy="914400"/>
          </a:xfrm>
          <a:prstGeom prst="rect">
            <a:avLst/>
          </a:prstGeom>
        </p:spPr>
      </p:pic>
      <p:pic>
        <p:nvPicPr>
          <p:cNvPr id="17" name="a_05_h8" descr="/tmp/claude-0/-home-user-musor/c6980a0f-2a52-569f-a1fc-691d09a5d10f/scratchpad/cifra/icons/home_22D3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8904" y="3154680"/>
            <a:ext cx="914400" cy="914400"/>
          </a:xfrm>
          <a:prstGeom prst="rect">
            <a:avLst/>
          </a:prstGeom>
        </p:spPr>
      </p:pic>
      <p:pic>
        <p:nvPicPr>
          <p:cNvPr id="18" name="a_06_h9" descr="/tmp/claude-0/-home-user-musor/c6980a0f-2a52-569f-a1fc-691d09a5d10f/scratchpad/cifra/icons/home_2A356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4472" y="3154680"/>
            <a:ext cx="914400" cy="914400"/>
          </a:xfrm>
          <a:prstGeom prst="rect">
            <a:avLst/>
          </a:prstGeom>
        </p:spPr>
      </p:pic>
      <p:sp>
        <p:nvSpPr>
          <p:cNvPr id="19" name="a_07_cap"/>
          <p:cNvSpPr txBox="1"/>
          <p:nvPr/>
        </p:nvSpPr>
        <p:spPr>
          <a:xfrm>
            <a:off x="6172200" y="4572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dirty="0">
                <a:solidFill>
                  <a:schemeClr val="tx2"/>
                </a:solidFill>
              </a:rPr>
              <a:t>1 дом из 10 — пока без интернета</a:t>
            </a:r>
            <a:endParaRPr lang="ru-RU" sz="1500" dirty="0"/>
          </a:p>
        </p:txBody>
      </p:sp>
      <p:sp>
        <p:nvSpPr>
          <p:cNvPr id="20" name="a_07_src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dirty="0">
                <a:solidFill>
                  <a:schemeClr val="tx2"/>
                </a:solidFill>
              </a:rPr>
              <a:t>Источник: ИСИЭЗ НИУ ВШЭ по данным Росстата</a:t>
            </a:r>
            <a:endParaRPr lang="ru-RU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ru-RU"/>
              <a:t>3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5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0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0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5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5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95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95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95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95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&lt;03/&gt; ГОСУСЛУГИ</a:t>
            </a:r>
            <a:endParaRPr lang="ru-RU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4000" b="1" dirty="0">
                <a:solidFill>
                  <a:schemeClr val="bg1"/>
                </a:solidFill>
              </a:rPr>
              <a:t>Государство в смартфоне</a:t>
            </a:r>
            <a:endParaRPr lang="ru-RU" sz="4000" dirty="0"/>
          </a:p>
        </p:txBody>
      </p:sp>
      <p:pic>
        <p:nvPicPr>
          <p:cNvPr id="5" name="a_01_phone" descr="/tmp/claude-0/-home-user-musor/c6980a0f-2a52-569f-a1fc-691d09a5d10f/scratchpad/cifra/phon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3291840" cy="4754880"/>
          </a:xfrm>
          <a:prstGeom prst="rect">
            <a:avLst/>
          </a:prstGeom>
        </p:spPr>
      </p:pic>
      <p:sp>
        <p:nvSpPr>
          <p:cNvPr id="6" name="a_02_num"/>
          <p:cNvSpPr txBox="1"/>
          <p:nvPr/>
        </p:nvSpPr>
        <p:spPr>
          <a:xfrm>
            <a:off x="4663440" y="17373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0" b="1" dirty="0">
                <a:solidFill>
                  <a:schemeClr val="accent1"/>
                </a:solidFill>
              </a:rPr>
              <a:t>112 млн</a:t>
            </a:r>
            <a:endParaRPr lang="ru-RU" sz="11000" dirty="0"/>
          </a:p>
        </p:txBody>
      </p:sp>
      <p:sp>
        <p:nvSpPr>
          <p:cNvPr id="7" name="a_02_lbl"/>
          <p:cNvSpPr txBox="1"/>
          <p:nvPr/>
        </p:nvSpPr>
        <p:spPr>
          <a:xfrm>
            <a:off x="4709160" y="3200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100" dirty="0">
                <a:solidFill>
                  <a:schemeClr val="bg1"/>
                </a:solidFill>
              </a:rPr>
              <a:t>пользователей портала к концу 2024 года</a:t>
            </a:r>
            <a:endParaRPr lang="ru-RU" sz="2100" dirty="0"/>
          </a:p>
        </p:txBody>
      </p:sp>
      <p:sp>
        <p:nvSpPr>
          <p:cNvPr id="8" name="a_03_c0"/>
          <p:cNvSpPr/>
          <p:nvPr/>
        </p:nvSpPr>
        <p:spPr>
          <a:xfrm>
            <a:off x="4709160" y="4069080"/>
            <a:ext cx="214884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a_03_n0"/>
          <p:cNvSpPr txBox="1"/>
          <p:nvPr/>
        </p:nvSpPr>
        <p:spPr>
          <a:xfrm>
            <a:off x="4937760" y="4251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3200" b="1" dirty="0">
                <a:solidFill>
                  <a:schemeClr val="accent1"/>
                </a:solidFill>
              </a:rPr>
              <a:t>2009</a:t>
            </a:r>
            <a:endParaRPr lang="ru-RU" sz="3200" dirty="0"/>
          </a:p>
        </p:txBody>
      </p:sp>
      <p:sp>
        <p:nvSpPr>
          <p:cNvPr id="10" name="a_03_l0"/>
          <p:cNvSpPr txBox="1"/>
          <p:nvPr/>
        </p:nvSpPr>
        <p:spPr>
          <a:xfrm>
            <a:off x="4937760" y="4937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tx2"/>
                </a:solidFill>
              </a:rPr>
              <a:t>запуск портала</a:t>
            </a:r>
            <a:endParaRPr lang="ru-RU" sz="1500" dirty="0"/>
          </a:p>
        </p:txBody>
      </p:sp>
      <p:sp>
        <p:nvSpPr>
          <p:cNvPr id="11" name="a_04_c1"/>
          <p:cNvSpPr/>
          <p:nvPr/>
        </p:nvSpPr>
        <p:spPr>
          <a:xfrm>
            <a:off x="7040880" y="4069080"/>
            <a:ext cx="214884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a_04_n1"/>
          <p:cNvSpPr txBox="1"/>
          <p:nvPr/>
        </p:nvSpPr>
        <p:spPr>
          <a:xfrm>
            <a:off x="7269480" y="4251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3200" b="1" dirty="0">
                <a:solidFill>
                  <a:schemeClr val="accent2"/>
                </a:solidFill>
              </a:rPr>
              <a:t>≈60 млн</a:t>
            </a:r>
            <a:endParaRPr lang="ru-RU" sz="3200" dirty="0"/>
          </a:p>
        </p:txBody>
      </p:sp>
      <p:sp>
        <p:nvSpPr>
          <p:cNvPr id="13" name="a_04_l1"/>
          <p:cNvSpPr txBox="1"/>
          <p:nvPr/>
        </p:nvSpPr>
        <p:spPr>
          <a:xfrm>
            <a:off x="7269480" y="4937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tx2"/>
                </a:solidFill>
              </a:rPr>
              <a:t>заходят каждый месяц</a:t>
            </a:r>
            <a:endParaRPr lang="ru-RU" sz="1500" dirty="0"/>
          </a:p>
        </p:txBody>
      </p:sp>
      <p:sp>
        <p:nvSpPr>
          <p:cNvPr id="14" name="a_05_c2"/>
          <p:cNvSpPr/>
          <p:nvPr/>
        </p:nvSpPr>
        <p:spPr>
          <a:xfrm>
            <a:off x="9372600" y="4069080"/>
            <a:ext cx="214884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5" name="a_05_n2"/>
          <p:cNvSpPr txBox="1"/>
          <p:nvPr/>
        </p:nvSpPr>
        <p:spPr>
          <a:xfrm>
            <a:off x="9601200" y="4251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3200" b="1" dirty="0">
                <a:solidFill>
                  <a:schemeClr val="accent3"/>
                </a:solidFill>
              </a:rPr>
              <a:t>2 млн</a:t>
            </a:r>
            <a:endParaRPr lang="ru-RU" sz="3200" dirty="0"/>
          </a:p>
        </p:txBody>
      </p:sp>
      <p:sp>
        <p:nvSpPr>
          <p:cNvPr id="16" name="a_05_l2"/>
          <p:cNvSpPr txBox="1"/>
          <p:nvPr/>
        </p:nvSpPr>
        <p:spPr>
          <a:xfrm>
            <a:off x="9601200" y="4937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500" dirty="0">
                <a:solidFill>
                  <a:schemeClr val="tx2"/>
                </a:solidFill>
              </a:rPr>
              <a:t>заявлений в день</a:t>
            </a:r>
            <a:endParaRPr lang="ru-RU" sz="1500" dirty="0"/>
          </a:p>
        </p:txBody>
      </p:sp>
      <p:sp>
        <p:nvSpPr>
          <p:cNvPr id="17" name="a_06_src"/>
          <p:cNvSpPr txBox="1"/>
          <p:nvPr/>
        </p:nvSpPr>
        <p:spPr>
          <a:xfrm>
            <a:off x="4709160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100" dirty="0">
                <a:solidFill>
                  <a:schemeClr val="tx2"/>
                </a:solidFill>
              </a:rPr>
              <a:t>Данные Минцифры</a:t>
            </a:r>
            <a:endParaRPr lang="ru-RU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ru-RU"/>
              <a:t>4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5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5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0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0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5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5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&lt;04/&gt; ШКОЛА</a:t>
            </a:r>
            <a:endParaRPr lang="ru-RU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4000" b="1" dirty="0">
                <a:solidFill>
                  <a:schemeClr val="bg1"/>
                </a:solidFill>
              </a:rPr>
              <a:t>Школа: было → стало</a:t>
            </a:r>
            <a:endParaRPr lang="ru-RU" sz="4000" dirty="0"/>
          </a:p>
        </p:txBody>
      </p:sp>
      <p:sp>
        <p:nvSpPr>
          <p:cNvPr id="5" name="a_01_bc"/>
          <p:cNvSpPr/>
          <p:nvPr/>
        </p:nvSpPr>
        <p:spPr>
          <a:xfrm>
            <a:off x="548640" y="1783080"/>
            <a:ext cx="4983480" cy="3520440"/>
          </a:xfrm>
          <a:prstGeom prst="roundRect">
            <a:avLst>
              <a:gd name="adj" fmla="val 4156"/>
            </a:avLst>
          </a:prstGeom>
          <a:solidFill>
            <a:schemeClr val="bg2">
              <a:alpha val="7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a_01_bt"/>
          <p:cNvSpPr txBox="1"/>
          <p:nvPr/>
        </p:nvSpPr>
        <p:spPr>
          <a:xfrm>
            <a:off x="86868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БЫЛО</a:t>
            </a:r>
            <a:endParaRPr lang="ru-RU" sz="1600" dirty="0"/>
          </a:p>
        </p:txBody>
      </p:sp>
      <p:sp>
        <p:nvSpPr>
          <p:cNvPr id="7" name="a_01_bi_c"/>
          <p:cNvSpPr/>
          <p:nvPr/>
        </p:nvSpPr>
        <p:spPr>
          <a:xfrm>
            <a:off x="868680" y="2560320"/>
            <a:ext cx="1051560" cy="10515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a_01_bi_i" descr="/tmp/claude-0/-home-user-musor/c6980a0f-2a52-569f-a1fc-691d09a5d10f/scratchpad/cifra/icons/paperboo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601" y="2844241"/>
            <a:ext cx="483718" cy="483718"/>
          </a:xfrm>
          <a:prstGeom prst="rect">
            <a:avLst/>
          </a:prstGeom>
        </p:spPr>
      </p:pic>
      <p:sp>
        <p:nvSpPr>
          <p:cNvPr id="9" name="a_02_bl"/>
          <p:cNvSpPr txBox="1"/>
          <p:nvPr/>
        </p:nvSpPr>
        <p:spPr>
          <a:xfrm>
            <a:off x="868680" y="379476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ru-RU" sz="1900" dirty="0">
                <a:solidFill>
                  <a:schemeClr val="tx2"/>
                </a:solidFill>
              </a:rPr>
              <a:t>Бумажный дневник</a:t>
            </a:r>
            <a:endParaRPr lang="ru-RU" sz="1900" dirty="0"/>
          </a:p>
          <a:p>
            <a:pPr indent="0" marL="0">
              <a:spcAft>
                <a:spcPts val="600"/>
              </a:spcAft>
              <a:buNone/>
            </a:pPr>
            <a:r>
              <a:rPr lang="ru-RU" sz="1900" dirty="0">
                <a:solidFill>
                  <a:schemeClr val="tx2"/>
                </a:solidFill>
              </a:rPr>
              <a:t>Оценки — не сразу</a:t>
            </a:r>
            <a:endParaRPr lang="ru-RU" sz="1900" dirty="0"/>
          </a:p>
          <a:p>
            <a:pPr indent="0" marL="0">
              <a:spcAft>
                <a:spcPts val="600"/>
              </a:spcAft>
              <a:buNone/>
            </a:pPr>
            <a:r>
              <a:rPr lang="ru-RU" sz="1900" dirty="0">
                <a:solidFill>
                  <a:schemeClr val="tx2"/>
                </a:solidFill>
              </a:rPr>
              <a:t>Учёба — только в классе</a:t>
            </a:r>
            <a:endParaRPr lang="ru-RU" sz="1900" dirty="0"/>
          </a:p>
        </p:txBody>
      </p:sp>
      <p:pic>
        <p:nvPicPr>
          <p:cNvPr id="10" name="a_03_arr" descr="/tmp/claude-0/-home-user-musor/c6980a0f-2a52-569f-a1fc-691d09a5d10f/scratchpad/cifra/icons/arrow_22D3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223260"/>
            <a:ext cx="640080" cy="640080"/>
          </a:xfrm>
          <a:prstGeom prst="rect">
            <a:avLst/>
          </a:prstGeom>
        </p:spPr>
      </p:pic>
      <p:sp>
        <p:nvSpPr>
          <p:cNvPr id="11" name="a_04_ac"/>
          <p:cNvSpPr/>
          <p:nvPr/>
        </p:nvSpPr>
        <p:spPr>
          <a:xfrm>
            <a:off x="6629400" y="1783080"/>
            <a:ext cx="4983480" cy="3520440"/>
          </a:xfrm>
          <a:prstGeom prst="roundRect">
            <a:avLst>
              <a:gd name="adj" fmla="val 415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30200" dist="50800" dir="5400000">
              <a:srgbClr val="22D3EE">
                <a:alpha val="55000"/>
              </a:srgbClr>
            </a:outerShdw>
          </a:effectLst>
        </p:spPr>
      </p:sp>
      <p:sp>
        <p:nvSpPr>
          <p:cNvPr id="12" name="a_04_at"/>
          <p:cNvSpPr txBox="1"/>
          <p:nvPr/>
        </p:nvSpPr>
        <p:spPr>
          <a:xfrm>
            <a:off x="694944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СТАЛО</a:t>
            </a:r>
            <a:endParaRPr lang="ru-RU" sz="1600" dirty="0"/>
          </a:p>
        </p:txBody>
      </p:sp>
      <p:sp>
        <p:nvSpPr>
          <p:cNvPr id="13" name="a_04_ai_c"/>
          <p:cNvSpPr/>
          <p:nvPr/>
        </p:nvSpPr>
        <p:spPr>
          <a:xfrm>
            <a:off x="6949440" y="2560320"/>
            <a:ext cx="1051560" cy="1051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5400000">
              <a:srgbClr val="22D3EE">
                <a:alpha val="55000"/>
              </a:srgbClr>
            </a:outerShdw>
          </a:effectLst>
        </p:spPr>
      </p:sp>
      <p:pic>
        <p:nvPicPr>
          <p:cNvPr id="14" name="a_04_ai_i" descr="/tmp/claude-0/-home-user-musor/c6980a0f-2a52-569f-a1fc-691d09a5d10f/scratchpad/cifra/icons/mobil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361" y="2844241"/>
            <a:ext cx="483718" cy="483718"/>
          </a:xfrm>
          <a:prstGeom prst="rect">
            <a:avLst/>
          </a:prstGeom>
        </p:spPr>
      </p:pic>
      <p:sp>
        <p:nvSpPr>
          <p:cNvPr id="15" name="a_05_al"/>
          <p:cNvSpPr txBox="1"/>
          <p:nvPr/>
        </p:nvSpPr>
        <p:spPr>
          <a:xfrm>
            <a:off x="6949440" y="379476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ru-RU" sz="1900" b="1" dirty="0">
                <a:solidFill>
                  <a:schemeClr val="bg1"/>
                </a:solidFill>
              </a:rPr>
              <a:t>Электронный дневник</a:t>
            </a:r>
            <a:endParaRPr lang="ru-RU" sz="1900" dirty="0"/>
          </a:p>
          <a:p>
            <a:pPr indent="0" marL="0">
              <a:spcAft>
                <a:spcPts val="600"/>
              </a:spcAft>
              <a:buNone/>
            </a:pPr>
            <a:r>
              <a:rPr lang="ru-RU" sz="1900" b="1" dirty="0">
                <a:solidFill>
                  <a:schemeClr val="bg1"/>
                </a:solidFill>
              </a:rPr>
              <a:t>Оценки — в тот же день</a:t>
            </a:r>
            <a:endParaRPr lang="ru-RU" sz="1900" dirty="0"/>
          </a:p>
          <a:p>
            <a:pPr indent="0" marL="0">
              <a:spcAft>
                <a:spcPts val="600"/>
              </a:spcAft>
              <a:buNone/>
            </a:pPr>
            <a:r>
              <a:rPr lang="ru-RU" sz="1900" b="1" dirty="0">
                <a:solidFill>
                  <a:schemeClr val="bg1"/>
                </a:solidFill>
              </a:rPr>
              <a:t>Уроки и курсы онлайн</a:t>
            </a:r>
            <a:endParaRPr lang="ru-RU" sz="1900" dirty="0"/>
          </a:p>
        </p:txBody>
      </p:sp>
      <p:sp>
        <p:nvSpPr>
          <p:cNvPr id="16" name="a_06_chip"/>
          <p:cNvSpPr/>
          <p:nvPr/>
        </p:nvSpPr>
        <p:spPr>
          <a:xfrm>
            <a:off x="548640" y="557784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sp>
        <p:nvSpPr>
          <p:cNvPr id="17" name="a_06_chipt"/>
          <p:cNvSpPr txBox="1"/>
          <p:nvPr/>
        </p:nvSpPr>
        <p:spPr>
          <a:xfrm>
            <a:off x="548640" y="5577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Весна 2020</a:t>
            </a:r>
            <a:endParaRPr lang="ru-RU" sz="1700" dirty="0"/>
          </a:p>
        </p:txBody>
      </p:sp>
      <p:sp>
        <p:nvSpPr>
          <p:cNvPr id="18" name="a_06_chipx"/>
          <p:cNvSpPr txBox="1"/>
          <p:nvPr/>
        </p:nvSpPr>
        <p:spPr>
          <a:xfrm>
            <a:off x="2834640" y="5577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800" dirty="0">
                <a:solidFill>
                  <a:schemeClr val="bg1"/>
                </a:solidFill>
              </a:rPr>
              <a:t>миллионы школьников за несколько дней ушли на дистант</a:t>
            </a:r>
            <a:endParaRPr lang="ru-RU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ru-RU"/>
              <a:t>5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0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0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60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&lt;05/&gt; ЗДОРОВЬЕ</a:t>
            </a:r>
            <a:endParaRPr lang="ru-RU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4000" b="1" dirty="0">
                <a:solidFill>
                  <a:schemeClr val="bg1"/>
                </a:solidFill>
              </a:rPr>
              <a:t>Медицина: было → стало</a:t>
            </a:r>
            <a:endParaRPr lang="ru-RU" sz="4000" dirty="0"/>
          </a:p>
        </p:txBody>
      </p:sp>
      <p:sp>
        <p:nvSpPr>
          <p:cNvPr id="5" name="a_01_bc"/>
          <p:cNvSpPr/>
          <p:nvPr/>
        </p:nvSpPr>
        <p:spPr>
          <a:xfrm>
            <a:off x="548640" y="1783080"/>
            <a:ext cx="4983480" cy="3520440"/>
          </a:xfrm>
          <a:prstGeom prst="roundRect">
            <a:avLst>
              <a:gd name="adj" fmla="val 4156"/>
            </a:avLst>
          </a:prstGeom>
          <a:solidFill>
            <a:schemeClr val="bg2">
              <a:alpha val="70000"/>
            </a:schemeClr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a_01_bt"/>
          <p:cNvSpPr txBox="1"/>
          <p:nvPr/>
        </p:nvSpPr>
        <p:spPr>
          <a:xfrm>
            <a:off x="86868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БЫЛО</a:t>
            </a:r>
            <a:endParaRPr lang="ru-RU" sz="1600" dirty="0"/>
          </a:p>
        </p:txBody>
      </p:sp>
      <p:sp>
        <p:nvSpPr>
          <p:cNvPr id="7" name="a_01_bi_c"/>
          <p:cNvSpPr/>
          <p:nvPr/>
        </p:nvSpPr>
        <p:spPr>
          <a:xfrm>
            <a:off x="868680" y="2560320"/>
            <a:ext cx="1051560" cy="10515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a_01_bi_i" descr="/tmp/claude-0/-home-user-musor/c6980a0f-2a52-569f-a1fc-691d09a5d10f/scratchpad/cifra/icons/queu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601" y="2844241"/>
            <a:ext cx="483718" cy="483718"/>
          </a:xfrm>
          <a:prstGeom prst="rect">
            <a:avLst/>
          </a:prstGeom>
        </p:spPr>
      </p:pic>
      <p:sp>
        <p:nvSpPr>
          <p:cNvPr id="9" name="a_02_bl"/>
          <p:cNvSpPr txBox="1"/>
          <p:nvPr/>
        </p:nvSpPr>
        <p:spPr>
          <a:xfrm>
            <a:off x="868680" y="379476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ru-RU" sz="1900" dirty="0">
                <a:solidFill>
                  <a:schemeClr val="tx2"/>
                </a:solidFill>
              </a:rPr>
              <a:t>Очередь в регистратуру</a:t>
            </a:r>
            <a:endParaRPr lang="ru-RU" sz="1900" dirty="0"/>
          </a:p>
          <a:p>
            <a:pPr indent="0" marL="0">
              <a:spcAft>
                <a:spcPts val="600"/>
              </a:spcAft>
              <a:buNone/>
            </a:pPr>
            <a:r>
              <a:rPr lang="ru-RU" sz="1900" dirty="0">
                <a:solidFill>
                  <a:schemeClr val="tx2"/>
                </a:solidFill>
              </a:rPr>
              <a:t>Бумажные справки</a:t>
            </a:r>
            <a:endParaRPr lang="ru-RU" sz="1900" dirty="0"/>
          </a:p>
          <a:p>
            <a:pPr indent="0" marL="0">
              <a:spcAft>
                <a:spcPts val="600"/>
              </a:spcAft>
              <a:buNone/>
            </a:pPr>
            <a:r>
              <a:rPr lang="ru-RU" sz="1900" dirty="0">
                <a:solidFill>
                  <a:schemeClr val="tx2"/>
                </a:solidFill>
              </a:rPr>
              <a:t>Только очный приём</a:t>
            </a:r>
            <a:endParaRPr lang="ru-RU" sz="1900" dirty="0"/>
          </a:p>
        </p:txBody>
      </p:sp>
      <p:pic>
        <p:nvPicPr>
          <p:cNvPr id="10" name="a_03_arr" descr="/tmp/claude-0/-home-user-musor/c6980a0f-2a52-569f-a1fc-691d09a5d10f/scratchpad/cifra/icons/arrow_22D3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223260"/>
            <a:ext cx="640080" cy="640080"/>
          </a:xfrm>
          <a:prstGeom prst="rect">
            <a:avLst/>
          </a:prstGeom>
        </p:spPr>
      </p:pic>
      <p:sp>
        <p:nvSpPr>
          <p:cNvPr id="11" name="a_04_ac"/>
          <p:cNvSpPr/>
          <p:nvPr/>
        </p:nvSpPr>
        <p:spPr>
          <a:xfrm>
            <a:off x="6629400" y="1783080"/>
            <a:ext cx="4983480" cy="3520440"/>
          </a:xfrm>
          <a:prstGeom prst="roundRect">
            <a:avLst>
              <a:gd name="adj" fmla="val 4156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30200" dist="50800" dir="5400000">
              <a:srgbClr val="22D3EE">
                <a:alpha val="55000"/>
              </a:srgbClr>
            </a:outerShdw>
          </a:effectLst>
        </p:spPr>
      </p:sp>
      <p:sp>
        <p:nvSpPr>
          <p:cNvPr id="12" name="a_04_at"/>
          <p:cNvSpPr txBox="1"/>
          <p:nvPr/>
        </p:nvSpPr>
        <p:spPr>
          <a:xfrm>
            <a:off x="694944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СТАЛО</a:t>
            </a:r>
            <a:endParaRPr lang="ru-RU" sz="1600" dirty="0"/>
          </a:p>
        </p:txBody>
      </p:sp>
      <p:sp>
        <p:nvSpPr>
          <p:cNvPr id="13" name="a_04_ai_c"/>
          <p:cNvSpPr/>
          <p:nvPr/>
        </p:nvSpPr>
        <p:spPr>
          <a:xfrm>
            <a:off x="6949440" y="2560320"/>
            <a:ext cx="1051560" cy="1051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5400000">
              <a:srgbClr val="22D3EE">
                <a:alpha val="55000"/>
              </a:srgbClr>
            </a:outerShdw>
          </a:effectLst>
        </p:spPr>
      </p:sp>
      <p:pic>
        <p:nvPicPr>
          <p:cNvPr id="14" name="a_04_ai_i" descr="/tmp/claude-0/-home-user-musor/c6980a0f-2a52-569f-a1fc-691d09a5d10f/scratchpad/cifra/icons/video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361" y="2844241"/>
            <a:ext cx="483718" cy="483718"/>
          </a:xfrm>
          <a:prstGeom prst="rect">
            <a:avLst/>
          </a:prstGeom>
        </p:spPr>
      </p:pic>
      <p:sp>
        <p:nvSpPr>
          <p:cNvPr id="15" name="a_05_al"/>
          <p:cNvSpPr txBox="1"/>
          <p:nvPr/>
        </p:nvSpPr>
        <p:spPr>
          <a:xfrm>
            <a:off x="6949440" y="379476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ru-RU" sz="1900" b="1" dirty="0">
                <a:solidFill>
                  <a:schemeClr val="bg1"/>
                </a:solidFill>
              </a:rPr>
              <a:t>Запись в приложении</a:t>
            </a:r>
            <a:endParaRPr lang="ru-RU" sz="1900" dirty="0"/>
          </a:p>
          <a:p>
            <a:pPr indent="0" marL="0">
              <a:spcAft>
                <a:spcPts val="600"/>
              </a:spcAft>
              <a:buNone/>
            </a:pPr>
            <a:r>
              <a:rPr lang="ru-RU" sz="1900" b="1" dirty="0">
                <a:solidFill>
                  <a:schemeClr val="bg1"/>
                </a:solidFill>
              </a:rPr>
              <a:t>Анализы в личном кабинете</a:t>
            </a:r>
            <a:endParaRPr lang="ru-RU" sz="1900" dirty="0"/>
          </a:p>
          <a:p>
            <a:pPr indent="0" marL="0">
              <a:spcAft>
                <a:spcPts val="600"/>
              </a:spcAft>
              <a:buNone/>
            </a:pPr>
            <a:r>
              <a:rPr lang="ru-RU" sz="1900" b="1" dirty="0">
                <a:solidFill>
                  <a:schemeClr val="bg1"/>
                </a:solidFill>
              </a:rPr>
              <a:t>Врач по видеосвязи</a:t>
            </a:r>
            <a:endParaRPr lang="ru-RU" sz="1900" dirty="0"/>
          </a:p>
        </p:txBody>
      </p:sp>
      <p:sp>
        <p:nvSpPr>
          <p:cNvPr id="16" name="a_06_chip"/>
          <p:cNvSpPr/>
          <p:nvPr/>
        </p:nvSpPr>
        <p:spPr>
          <a:xfrm>
            <a:off x="548640" y="557784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77800" dist="50800" dir="5400000">
              <a:srgbClr val="F472B6">
                <a:alpha val="55000"/>
              </a:srgbClr>
            </a:outerShdw>
          </a:effectLst>
        </p:spPr>
      </p:sp>
      <p:sp>
        <p:nvSpPr>
          <p:cNvPr id="17" name="a_06_chipt"/>
          <p:cNvSpPr txBox="1"/>
          <p:nvPr/>
        </p:nvSpPr>
        <p:spPr>
          <a:xfrm>
            <a:off x="548640" y="5577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b="1" dirty="0">
                <a:solidFill>
                  <a:schemeClr val="tx1"/>
                </a:solidFill>
              </a:rPr>
              <a:t>1 янв 2018</a:t>
            </a:r>
            <a:endParaRPr lang="ru-RU" sz="1700" dirty="0"/>
          </a:p>
        </p:txBody>
      </p:sp>
      <p:sp>
        <p:nvSpPr>
          <p:cNvPr id="18" name="a_06_chipx"/>
          <p:cNvSpPr txBox="1"/>
          <p:nvPr/>
        </p:nvSpPr>
        <p:spPr>
          <a:xfrm>
            <a:off x="2834640" y="5577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800" dirty="0">
                <a:solidFill>
                  <a:schemeClr val="bg1"/>
                </a:solidFill>
              </a:rPr>
              <a:t>телемедицина разрешена законом</a:t>
            </a:r>
            <a:endParaRPr lang="ru-RU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ru-RU"/>
              <a:t>6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0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0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60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&lt;06/&gt; ГОРОД И ДОСУГ</a:t>
            </a:r>
            <a:endParaRPr lang="ru-RU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4000" b="1" dirty="0">
                <a:solidFill>
                  <a:schemeClr val="bg1"/>
                </a:solidFill>
              </a:rPr>
              <a:t>Жизнь в пару касаний</a:t>
            </a:r>
            <a:endParaRPr lang="ru-RU" sz="4000" dirty="0"/>
          </a:p>
        </p:txBody>
      </p:sp>
      <p:sp>
        <p:nvSpPr>
          <p:cNvPr id="5" name="a_01_t0"/>
          <p:cNvSpPr/>
          <p:nvPr/>
        </p:nvSpPr>
        <p:spPr>
          <a:xfrm>
            <a:off x="548640" y="1783080"/>
            <a:ext cx="3566160" cy="434340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a_01_i0_c"/>
          <p:cNvSpPr/>
          <p:nvPr/>
        </p:nvSpPr>
        <p:spPr>
          <a:xfrm>
            <a:off x="914400" y="2194560"/>
            <a:ext cx="1325880" cy="1325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5400000">
              <a:srgbClr val="22D3EE">
                <a:alpha val="55000"/>
              </a:srgbClr>
            </a:outerShdw>
          </a:effectLst>
        </p:spPr>
      </p:sp>
      <p:pic>
        <p:nvPicPr>
          <p:cNvPr id="7" name="a_01_i0_i" descr="/tmp/claude-0/-home-user-musor/c6980a0f-2a52-569f-a1fc-691d09a5d10f/scratchpad/cifra/icons/subwa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388" y="2552548"/>
            <a:ext cx="609905" cy="609905"/>
          </a:xfrm>
          <a:prstGeom prst="rect">
            <a:avLst/>
          </a:prstGeom>
        </p:spPr>
      </p:pic>
      <p:sp>
        <p:nvSpPr>
          <p:cNvPr id="8" name="a_01_n0"/>
          <p:cNvSpPr txBox="1"/>
          <p:nvPr/>
        </p:nvSpPr>
        <p:spPr>
          <a:xfrm>
            <a:off x="91440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800" b="1" dirty="0">
                <a:solidFill>
                  <a:schemeClr val="bg1"/>
                </a:solidFill>
              </a:rPr>
              <a:t>Транспорт</a:t>
            </a:r>
            <a:endParaRPr lang="ru-RU" sz="2800" dirty="0"/>
          </a:p>
        </p:txBody>
      </p:sp>
      <p:sp>
        <p:nvSpPr>
          <p:cNvPr id="9" name="a_01_d0"/>
          <p:cNvSpPr txBox="1"/>
          <p:nvPr/>
        </p:nvSpPr>
        <p:spPr>
          <a:xfrm>
            <a:off x="914400" y="4297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tx2"/>
                </a:solidFill>
              </a:rPr>
              <a:t>оплата смартфоном и по лицу</a:t>
            </a:r>
            <a:endParaRPr lang="ru-RU" sz="1600" dirty="0"/>
          </a:p>
        </p:txBody>
      </p:sp>
      <p:sp>
        <p:nvSpPr>
          <p:cNvPr id="10" name="a_04_bb0"/>
          <p:cNvSpPr/>
          <p:nvPr/>
        </p:nvSpPr>
        <p:spPr>
          <a:xfrm>
            <a:off x="914400" y="5166360"/>
            <a:ext cx="28346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a_04_bt0"/>
          <p:cNvSpPr txBox="1"/>
          <p:nvPr/>
        </p:nvSpPr>
        <p:spPr>
          <a:xfrm>
            <a:off x="914400" y="5166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200" b="1" dirty="0">
                <a:solidFill>
                  <a:schemeClr val="tx1"/>
                </a:solidFill>
              </a:rPr>
              <a:t>Face Pay · 2021</a:t>
            </a:r>
            <a:endParaRPr lang="ru-RU" sz="2200" dirty="0"/>
          </a:p>
        </p:txBody>
      </p:sp>
      <p:sp>
        <p:nvSpPr>
          <p:cNvPr id="12" name="a_02_t1"/>
          <p:cNvSpPr/>
          <p:nvPr/>
        </p:nvSpPr>
        <p:spPr>
          <a:xfrm>
            <a:off x="4297680" y="1783080"/>
            <a:ext cx="3566160" cy="434340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3" name="a_02_i1_c"/>
          <p:cNvSpPr/>
          <p:nvPr/>
        </p:nvSpPr>
        <p:spPr>
          <a:xfrm>
            <a:off x="4663440" y="2194560"/>
            <a:ext cx="1325880" cy="1325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79400" dist="50800" dir="5400000">
              <a:srgbClr val="F472B6">
                <a:alpha val="55000"/>
              </a:srgbClr>
            </a:outerShdw>
          </a:effectLst>
        </p:spPr>
      </p:sp>
      <p:pic>
        <p:nvPicPr>
          <p:cNvPr id="14" name="a_02_i1_i" descr="/tmp/claude-0/-home-user-musor/c6980a0f-2a52-569f-a1fc-691d09a5d10f/scratchpad/cifra/icons/ba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428" y="2552548"/>
            <a:ext cx="609905" cy="609905"/>
          </a:xfrm>
          <a:prstGeom prst="rect">
            <a:avLst/>
          </a:prstGeom>
        </p:spPr>
      </p:pic>
      <p:sp>
        <p:nvSpPr>
          <p:cNvPr id="15" name="a_02_n1"/>
          <p:cNvSpPr txBox="1"/>
          <p:nvPr/>
        </p:nvSpPr>
        <p:spPr>
          <a:xfrm>
            <a:off x="466344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800" b="1" dirty="0">
                <a:solidFill>
                  <a:schemeClr val="bg1"/>
                </a:solidFill>
              </a:rPr>
              <a:t>Сервисы</a:t>
            </a:r>
            <a:endParaRPr lang="ru-RU" sz="2800" dirty="0"/>
          </a:p>
        </p:txBody>
      </p:sp>
      <p:sp>
        <p:nvSpPr>
          <p:cNvPr id="16" name="a_02_d1"/>
          <p:cNvSpPr txBox="1"/>
          <p:nvPr/>
        </p:nvSpPr>
        <p:spPr>
          <a:xfrm>
            <a:off x="4663440" y="4297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tx2"/>
                </a:solidFill>
              </a:rPr>
              <a:t>такси, доставка, покупки</a:t>
            </a:r>
            <a:endParaRPr lang="ru-RU" sz="1600" dirty="0"/>
          </a:p>
        </p:txBody>
      </p:sp>
      <p:sp>
        <p:nvSpPr>
          <p:cNvPr id="17" name="a_04_bb1"/>
          <p:cNvSpPr/>
          <p:nvPr/>
        </p:nvSpPr>
        <p:spPr>
          <a:xfrm>
            <a:off x="4663440" y="5166360"/>
            <a:ext cx="283464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a_04_bt1"/>
          <p:cNvSpPr txBox="1"/>
          <p:nvPr/>
        </p:nvSpPr>
        <p:spPr>
          <a:xfrm>
            <a:off x="4663440" y="5166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200" b="1" dirty="0">
                <a:solidFill>
                  <a:schemeClr val="tx1"/>
                </a:solidFill>
              </a:rPr>
              <a:t>24/7</a:t>
            </a:r>
            <a:endParaRPr lang="ru-RU" sz="2200" dirty="0"/>
          </a:p>
        </p:txBody>
      </p:sp>
      <p:sp>
        <p:nvSpPr>
          <p:cNvPr id="19" name="a_03_t2"/>
          <p:cNvSpPr/>
          <p:nvPr/>
        </p:nvSpPr>
        <p:spPr>
          <a:xfrm>
            <a:off x="8046720" y="1783080"/>
            <a:ext cx="3566160" cy="434340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0" name="a_03_i2_c"/>
          <p:cNvSpPr/>
          <p:nvPr/>
        </p:nvSpPr>
        <p:spPr>
          <a:xfrm>
            <a:off x="8412480" y="2194560"/>
            <a:ext cx="1325880" cy="1325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279400" dist="50800" dir="5400000">
              <a:srgbClr val="8B5CF6">
                <a:alpha val="55000"/>
              </a:srgbClr>
            </a:outerShdw>
          </a:effectLst>
        </p:spPr>
      </p:sp>
      <p:pic>
        <p:nvPicPr>
          <p:cNvPr id="21" name="a_03_i2_i" descr="/tmp/claude-0/-home-user-musor/c6980a0f-2a52-569f-a1fc-691d09a5d10f/scratchpad/cifra/icons/theate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468" y="2552548"/>
            <a:ext cx="609905" cy="609905"/>
          </a:xfrm>
          <a:prstGeom prst="rect">
            <a:avLst/>
          </a:prstGeom>
        </p:spPr>
      </p:pic>
      <p:sp>
        <p:nvSpPr>
          <p:cNvPr id="22" name="a_03_n2"/>
          <p:cNvSpPr txBox="1"/>
          <p:nvPr/>
        </p:nvSpPr>
        <p:spPr>
          <a:xfrm>
            <a:off x="8412480" y="3749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800" b="1" dirty="0">
                <a:solidFill>
                  <a:schemeClr val="bg1"/>
                </a:solidFill>
              </a:rPr>
              <a:t>Культура</a:t>
            </a:r>
            <a:endParaRPr lang="ru-RU" sz="2800" dirty="0"/>
          </a:p>
        </p:txBody>
      </p:sp>
      <p:sp>
        <p:nvSpPr>
          <p:cNvPr id="23" name="a_03_d2"/>
          <p:cNvSpPr txBox="1"/>
          <p:nvPr/>
        </p:nvSpPr>
        <p:spPr>
          <a:xfrm>
            <a:off x="8412480" y="4297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600" dirty="0">
                <a:solidFill>
                  <a:schemeClr val="tx2"/>
                </a:solidFill>
              </a:rPr>
              <a:t>«Пушкинская карта» с 2021 г.</a:t>
            </a:r>
            <a:endParaRPr lang="ru-RU" sz="1600" dirty="0"/>
          </a:p>
        </p:txBody>
      </p:sp>
      <p:sp>
        <p:nvSpPr>
          <p:cNvPr id="24" name="a_04_bb2"/>
          <p:cNvSpPr/>
          <p:nvPr/>
        </p:nvSpPr>
        <p:spPr>
          <a:xfrm>
            <a:off x="8412480" y="5166360"/>
            <a:ext cx="2834640" cy="640080"/>
          </a:xfrm>
          <a:prstGeom prst="roundRect">
            <a:avLst>
              <a:gd name="adj" fmla="val 1714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a_04_bt2"/>
          <p:cNvSpPr txBox="1"/>
          <p:nvPr/>
        </p:nvSpPr>
        <p:spPr>
          <a:xfrm>
            <a:off x="8412480" y="5166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2200" b="1" dirty="0">
                <a:solidFill>
                  <a:schemeClr val="tx1"/>
                </a:solidFill>
              </a:rPr>
              <a:t>10+ млн карт</a:t>
            </a:r>
            <a:endParaRPr lang="ru-RU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ru-RU"/>
              <a:t>7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5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5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15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15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5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0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60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600"/>
                            </p:stCondLst>
                            <p:childTnLst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2" grpId="0" animBg="1"/>
      <p:bldP spid="13" grpId="0" animBg="1"/>
      <p:bldP spid="15" grpId="0" animBg="1"/>
      <p:bldP spid="16" grpId="0" animBg="1"/>
      <p:bldP spid="19" grpId="0" animBg="1"/>
      <p:bldP spid="20" grpId="0" animBg="1"/>
      <p:bldP spid="22" grpId="0" animBg="1"/>
      <p:bldP spid="23" grpId="0" animBg="1"/>
      <p:bldP spid="10" grpId="0" animBg="1"/>
      <p:bldP spid="11" grpId="0" animBg="1"/>
      <p:bldP spid="17" grpId="0" animBg="1"/>
      <p:bldP spid="18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&lt;07/&gt; ПЕРЕЛОМ</a:t>
            </a:r>
            <a:endParaRPr lang="ru-RU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4000" b="1" dirty="0">
                <a:solidFill>
                  <a:schemeClr val="bg1"/>
                </a:solidFill>
              </a:rPr>
              <a:t>Пандемия нажала «ускорение»</a:t>
            </a:r>
            <a:endParaRPr lang="ru-RU" sz="4000" dirty="0"/>
          </a:p>
        </p:txBody>
      </p:sp>
      <p:sp>
        <p:nvSpPr>
          <p:cNvPr id="5" name="a_01_yr"/>
          <p:cNvSpPr txBox="1"/>
          <p:nvPr/>
        </p:nvSpPr>
        <p:spPr>
          <a:xfrm>
            <a:off x="365760" y="1554480"/>
            <a:ext cx="603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1000" b="1" dirty="0">
                <a:solidFill>
                  <a:schemeClr val="accent5">
                    <a:alpha val="65000"/>
                  </a:schemeClr>
                </a:solidFill>
              </a:rPr>
              <a:t>2020</a:t>
            </a:r>
            <a:endParaRPr lang="ru-RU" sz="21000" dirty="0"/>
          </a:p>
        </p:txBody>
      </p:sp>
      <p:sp>
        <p:nvSpPr>
          <p:cNvPr id="6" name="a_06_stm"/>
          <p:cNvSpPr txBox="1"/>
          <p:nvPr/>
        </p:nvSpPr>
        <p:spPr>
          <a:xfrm>
            <a:off x="548640" y="42519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4000" b="1" dirty="0">
                <a:solidFill>
                  <a:schemeClr val="bg1"/>
                </a:solidFill>
              </a:rPr>
              <a:t>годы перемен</a:t>
            </a:r>
            <a:endParaRPr lang="ru-RU" sz="4000" dirty="0"/>
          </a:p>
          <a:p>
            <a:pPr indent="0" marL="0">
              <a:buNone/>
            </a:pPr>
            <a:r>
              <a:rPr lang="ru-RU" sz="4000" b="1" dirty="0">
                <a:solidFill>
                  <a:schemeClr val="accent1"/>
                </a:solidFill>
              </a:rPr>
              <a:t>→ за месяцы</a:t>
            </a:r>
            <a:endParaRPr lang="ru-RU" sz="4000" dirty="0"/>
          </a:p>
        </p:txBody>
      </p:sp>
      <p:sp>
        <p:nvSpPr>
          <p:cNvPr id="7" name="a_02_c0"/>
          <p:cNvSpPr/>
          <p:nvPr/>
        </p:nvSpPr>
        <p:spPr>
          <a:xfrm>
            <a:off x="6583680" y="1783080"/>
            <a:ext cx="2377440" cy="1965960"/>
          </a:xfrm>
          <a:prstGeom prst="roundRect">
            <a:avLst>
              <a:gd name="adj" fmla="val 744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a_02_i0_c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5400000">
              <a:srgbClr val="22D3EE">
                <a:alpha val="55000"/>
              </a:srgbClr>
            </a:outerShdw>
          </a:effectLst>
        </p:spPr>
      </p:sp>
      <p:pic>
        <p:nvPicPr>
          <p:cNvPr id="9" name="a_02_i0_i" descr="/tmp/claude-0/-home-user-musor/c6980a0f-2a52-569f-a1fc-691d09a5d10f/scratchpad/cifra/icons/laptophou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544" y="2291944"/>
            <a:ext cx="399593" cy="399593"/>
          </a:xfrm>
          <a:prstGeom prst="rect">
            <a:avLst/>
          </a:prstGeom>
        </p:spPr>
      </p:pic>
      <p:sp>
        <p:nvSpPr>
          <p:cNvPr id="10" name="a_02_t0"/>
          <p:cNvSpPr txBox="1"/>
          <p:nvPr/>
        </p:nvSpPr>
        <p:spPr>
          <a:xfrm>
            <a:off x="685800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Удалёнка</a:t>
            </a:r>
            <a:endParaRPr lang="ru-RU" sz="1800" dirty="0"/>
          </a:p>
        </p:txBody>
      </p:sp>
      <p:sp>
        <p:nvSpPr>
          <p:cNvPr id="11" name="a_03_c1"/>
          <p:cNvSpPr/>
          <p:nvPr/>
        </p:nvSpPr>
        <p:spPr>
          <a:xfrm>
            <a:off x="9144000" y="1783080"/>
            <a:ext cx="2377440" cy="1965960"/>
          </a:xfrm>
          <a:prstGeom prst="roundRect">
            <a:avLst>
              <a:gd name="adj" fmla="val 7442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a_03_i1_c"/>
          <p:cNvSpPr/>
          <p:nvPr/>
        </p:nvSpPr>
        <p:spPr>
          <a:xfrm>
            <a:off x="9418320" y="205740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79400" dist="50800" dir="5400000">
              <a:srgbClr val="F472B6">
                <a:alpha val="55000"/>
              </a:srgbClr>
            </a:outerShdw>
          </a:effectLst>
        </p:spPr>
      </p:sp>
      <p:pic>
        <p:nvPicPr>
          <p:cNvPr id="13" name="a_03_i1_i" descr="/tmp/claude-0/-home-user-musor/c6980a0f-2a52-569f-a1fc-691d09a5d10f/scratchpad/cifra/icons/schoo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64" y="2291944"/>
            <a:ext cx="399593" cy="399593"/>
          </a:xfrm>
          <a:prstGeom prst="rect">
            <a:avLst/>
          </a:prstGeom>
        </p:spPr>
      </p:pic>
      <p:sp>
        <p:nvSpPr>
          <p:cNvPr id="14" name="a_03_t1"/>
          <p:cNvSpPr txBox="1"/>
          <p:nvPr/>
        </p:nvSpPr>
        <p:spPr>
          <a:xfrm>
            <a:off x="9418320" y="3017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Дистант</a:t>
            </a:r>
            <a:endParaRPr lang="ru-RU" sz="1800" dirty="0"/>
          </a:p>
        </p:txBody>
      </p:sp>
      <p:sp>
        <p:nvSpPr>
          <p:cNvPr id="15" name="a_04_c2"/>
          <p:cNvSpPr/>
          <p:nvPr/>
        </p:nvSpPr>
        <p:spPr>
          <a:xfrm>
            <a:off x="6583680" y="3931920"/>
            <a:ext cx="2377440" cy="1965960"/>
          </a:xfrm>
          <a:prstGeom prst="roundRect">
            <a:avLst>
              <a:gd name="adj" fmla="val 7442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6" name="a_04_i2_c"/>
          <p:cNvSpPr/>
          <p:nvPr/>
        </p:nvSpPr>
        <p:spPr>
          <a:xfrm>
            <a:off x="6858000" y="420624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279400" dist="50800" dir="5400000">
              <a:srgbClr val="34D399">
                <a:alpha val="55000"/>
              </a:srgbClr>
            </a:outerShdw>
          </a:effectLst>
        </p:spPr>
      </p:sp>
      <p:pic>
        <p:nvPicPr>
          <p:cNvPr id="17" name="a_04_i2_i" descr="/tmp/claude-0/-home-user-musor/c6980a0f-2a52-569f-a1fc-691d09a5d10f/scratchpad/cifra/icons/q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544" y="4440784"/>
            <a:ext cx="399593" cy="399593"/>
          </a:xfrm>
          <a:prstGeom prst="rect">
            <a:avLst/>
          </a:prstGeom>
        </p:spPr>
      </p:pic>
      <p:sp>
        <p:nvSpPr>
          <p:cNvPr id="18" name="a_04_t2"/>
          <p:cNvSpPr txBox="1"/>
          <p:nvPr/>
        </p:nvSpPr>
        <p:spPr>
          <a:xfrm>
            <a:off x="6858000" y="5166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Цифровые пропуска</a:t>
            </a:r>
            <a:endParaRPr lang="ru-RU" sz="1800" dirty="0"/>
          </a:p>
        </p:txBody>
      </p:sp>
      <p:sp>
        <p:nvSpPr>
          <p:cNvPr id="19" name="a_05_c3"/>
          <p:cNvSpPr/>
          <p:nvPr/>
        </p:nvSpPr>
        <p:spPr>
          <a:xfrm>
            <a:off x="9144000" y="3931920"/>
            <a:ext cx="2377440" cy="1965960"/>
          </a:xfrm>
          <a:prstGeom prst="roundRect">
            <a:avLst>
              <a:gd name="adj" fmla="val 7442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0" name="a_05_i3_c"/>
          <p:cNvSpPr/>
          <p:nvPr/>
        </p:nvSpPr>
        <p:spPr>
          <a:xfrm>
            <a:off x="9418320" y="4206240"/>
            <a:ext cx="868680" cy="8686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279400" dist="50800" dir="5400000">
              <a:srgbClr val="FBBF24">
                <a:alpha val="55000"/>
              </a:srgbClr>
            </a:outerShdw>
          </a:effectLst>
        </p:spPr>
      </p:sp>
      <p:pic>
        <p:nvPicPr>
          <p:cNvPr id="21" name="a_05_i3_i" descr="/tmp/claude-0/-home-user-musor/c6980a0f-2a52-569f-a1fc-691d09a5d10f/scratchpad/cifra/icons/video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864" y="4440784"/>
            <a:ext cx="399593" cy="399593"/>
          </a:xfrm>
          <a:prstGeom prst="rect">
            <a:avLst/>
          </a:prstGeom>
        </p:spPr>
      </p:pic>
      <p:sp>
        <p:nvSpPr>
          <p:cNvPr id="22" name="a_05_t3"/>
          <p:cNvSpPr txBox="1"/>
          <p:nvPr/>
        </p:nvSpPr>
        <p:spPr>
          <a:xfrm>
            <a:off x="9418320" y="5166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1800" b="1" dirty="0">
                <a:solidFill>
                  <a:schemeClr val="bg1"/>
                </a:solidFill>
              </a:rPr>
              <a:t>Видеозвонки</a:t>
            </a:r>
            <a:endParaRPr lang="ru-RU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ru-RU"/>
              <a:t>8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5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15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15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60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60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5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5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5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5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&lt;08/&gt; РИСКИ</a:t>
            </a:r>
            <a:endParaRPr lang="ru-RU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4000" b="1" dirty="0">
                <a:solidFill>
                  <a:schemeClr val="bg1"/>
                </a:solidFill>
              </a:rPr>
              <a:t>Обратная сторона</a:t>
            </a:r>
            <a:endParaRPr lang="ru-RU" sz="4000" dirty="0"/>
          </a:p>
        </p:txBody>
      </p:sp>
      <p:sp>
        <p:nvSpPr>
          <p:cNvPr id="5" name="a_01_c0"/>
          <p:cNvSpPr/>
          <p:nvPr/>
        </p:nvSpPr>
        <p:spPr>
          <a:xfrm>
            <a:off x="548640" y="1828800"/>
            <a:ext cx="2628900" cy="2834640"/>
          </a:xfrm>
          <a:prstGeom prst="roundRect">
            <a:avLst>
              <a:gd name="adj" fmla="val 556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6" name="a_01_i0_c"/>
          <p:cNvSpPr/>
          <p:nvPr/>
        </p:nvSpPr>
        <p:spPr>
          <a:xfrm>
            <a:off x="1223010" y="22402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79400" dist="50800" dir="5400000">
              <a:srgbClr val="F472B6">
                <a:alpha val="55000"/>
              </a:srgbClr>
            </a:outerShdw>
          </a:effectLst>
        </p:spPr>
      </p:sp>
      <p:pic>
        <p:nvPicPr>
          <p:cNvPr id="7" name="a_01_i0_i" descr="/tmp/claude-0/-home-user-musor/c6980a0f-2a52-569f-a1fc-691d09a5d10f/scratchpad/cifra/icons/eld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653" y="2585923"/>
            <a:ext cx="588874" cy="588874"/>
          </a:xfrm>
          <a:prstGeom prst="rect">
            <a:avLst/>
          </a:prstGeom>
        </p:spPr>
      </p:pic>
      <p:sp>
        <p:nvSpPr>
          <p:cNvPr id="8" name="a_01_t0"/>
          <p:cNvSpPr txBox="1"/>
          <p:nvPr/>
        </p:nvSpPr>
        <p:spPr>
          <a:xfrm>
            <a:off x="731520" y="3749040"/>
            <a:ext cx="2263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Цифровое неравенство</a:t>
            </a:r>
            <a:endParaRPr lang="ru-RU" sz="2000" dirty="0"/>
          </a:p>
        </p:txBody>
      </p:sp>
      <p:sp>
        <p:nvSpPr>
          <p:cNvPr id="9" name="a_02_c1"/>
          <p:cNvSpPr/>
          <p:nvPr/>
        </p:nvSpPr>
        <p:spPr>
          <a:xfrm>
            <a:off x="3360420" y="1828800"/>
            <a:ext cx="2628900" cy="2834640"/>
          </a:xfrm>
          <a:prstGeom prst="roundRect">
            <a:avLst>
              <a:gd name="adj" fmla="val 556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0" name="a_02_i1_c"/>
          <p:cNvSpPr/>
          <p:nvPr/>
        </p:nvSpPr>
        <p:spPr>
          <a:xfrm>
            <a:off x="4034790" y="22402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79400" dist="50800" dir="5400000">
              <a:srgbClr val="F472B6">
                <a:alpha val="55000"/>
              </a:srgbClr>
            </a:outerShdw>
          </a:effectLst>
        </p:spPr>
      </p:sp>
      <p:pic>
        <p:nvPicPr>
          <p:cNvPr id="11" name="a_02_i1_i" descr="/tmp/claude-0/-home-user-musor/c6980a0f-2a52-569f-a1fc-691d09a5d10f/scratchpad/cifra/icons/phoneslas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433" y="2585923"/>
            <a:ext cx="588874" cy="588874"/>
          </a:xfrm>
          <a:prstGeom prst="rect">
            <a:avLst/>
          </a:prstGeom>
        </p:spPr>
      </p:pic>
      <p:sp>
        <p:nvSpPr>
          <p:cNvPr id="12" name="a_02_t1"/>
          <p:cNvSpPr txBox="1"/>
          <p:nvPr/>
        </p:nvSpPr>
        <p:spPr>
          <a:xfrm>
            <a:off x="3543300" y="3749040"/>
            <a:ext cx="2263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Мошенники</a:t>
            </a:r>
            <a:endParaRPr lang="ru-RU" sz="2000" dirty="0"/>
          </a:p>
        </p:txBody>
      </p:sp>
      <p:sp>
        <p:nvSpPr>
          <p:cNvPr id="13" name="a_03_c2"/>
          <p:cNvSpPr/>
          <p:nvPr/>
        </p:nvSpPr>
        <p:spPr>
          <a:xfrm>
            <a:off x="6172200" y="1828800"/>
            <a:ext cx="2628900" cy="2834640"/>
          </a:xfrm>
          <a:prstGeom prst="roundRect">
            <a:avLst>
              <a:gd name="adj" fmla="val 556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4" name="a_03_i2_c"/>
          <p:cNvSpPr/>
          <p:nvPr/>
        </p:nvSpPr>
        <p:spPr>
          <a:xfrm>
            <a:off x="6846570" y="22402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79400" dist="50800" dir="5400000">
              <a:srgbClr val="F472B6">
                <a:alpha val="55000"/>
              </a:srgbClr>
            </a:outerShdw>
          </a:effectLst>
        </p:spPr>
      </p:sp>
      <p:pic>
        <p:nvPicPr>
          <p:cNvPr id="15" name="a_03_i2_i" descr="/tmp/claude-0/-home-user-musor/c6980a0f-2a52-569f-a1fc-691d09a5d10f/scratchpad/cifra/icons/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213" y="2585923"/>
            <a:ext cx="588874" cy="588874"/>
          </a:xfrm>
          <a:prstGeom prst="rect">
            <a:avLst/>
          </a:prstGeom>
        </p:spPr>
      </p:pic>
      <p:sp>
        <p:nvSpPr>
          <p:cNvPr id="16" name="a_03_t2"/>
          <p:cNvSpPr txBox="1"/>
          <p:nvPr/>
        </p:nvSpPr>
        <p:spPr>
          <a:xfrm>
            <a:off x="6355080" y="3749040"/>
            <a:ext cx="2263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Утечки данных</a:t>
            </a:r>
            <a:endParaRPr lang="ru-RU" sz="2000" dirty="0"/>
          </a:p>
        </p:txBody>
      </p:sp>
      <p:sp>
        <p:nvSpPr>
          <p:cNvPr id="17" name="a_04_c3"/>
          <p:cNvSpPr/>
          <p:nvPr/>
        </p:nvSpPr>
        <p:spPr>
          <a:xfrm>
            <a:off x="8983980" y="1828800"/>
            <a:ext cx="2628900" cy="2834640"/>
          </a:xfrm>
          <a:prstGeom prst="roundRect">
            <a:avLst>
              <a:gd name="adj" fmla="val 556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8" name="a_04_i3_c"/>
          <p:cNvSpPr/>
          <p:nvPr/>
        </p:nvSpPr>
        <p:spPr>
          <a:xfrm>
            <a:off x="9658350" y="2240280"/>
            <a:ext cx="1280160" cy="1280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79400" dist="50800" dir="5400000">
              <a:srgbClr val="F472B6">
                <a:alpha val="55000"/>
              </a:srgbClr>
            </a:outerShdw>
          </a:effectLst>
        </p:spPr>
      </p:sp>
      <p:pic>
        <p:nvPicPr>
          <p:cNvPr id="19" name="a_04_i3_i" descr="/tmp/claude-0/-home-user-musor/c6980a0f-2a52-569f-a1fc-691d09a5d10f/scratchpad/cifra/icons/battery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993" y="2585923"/>
            <a:ext cx="588874" cy="588874"/>
          </a:xfrm>
          <a:prstGeom prst="rect">
            <a:avLst/>
          </a:prstGeom>
        </p:spPr>
      </p:pic>
      <p:sp>
        <p:nvSpPr>
          <p:cNvPr id="20" name="a_04_t3"/>
          <p:cNvSpPr txBox="1"/>
          <p:nvPr/>
        </p:nvSpPr>
        <p:spPr>
          <a:xfrm>
            <a:off x="9166860" y="3749040"/>
            <a:ext cx="22631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2000" b="1" dirty="0">
                <a:solidFill>
                  <a:schemeClr val="bg1"/>
                </a:solidFill>
              </a:rPr>
              <a:t>Цифровая усталость</a:t>
            </a:r>
            <a:endParaRPr lang="ru-RU" sz="2000" dirty="0"/>
          </a:p>
        </p:txBody>
      </p:sp>
      <p:sp>
        <p:nvSpPr>
          <p:cNvPr id="21" name="a_05_ans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684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228600" dist="50800" dir="5400000">
              <a:srgbClr val="34D399">
                <a:alpha val="55000"/>
              </a:srgbClr>
            </a:outerShdw>
          </a:effectLst>
        </p:spPr>
      </p:sp>
      <p:pic>
        <p:nvPicPr>
          <p:cNvPr id="22" name="a_05_ansi" descr="/tmp/claude-0/-home-user-musor/c6980a0f-2a52-569f-a1fc-691d09a5d10f/scratchpad/cifra/icons/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57800"/>
            <a:ext cx="502920" cy="502920"/>
          </a:xfrm>
          <a:prstGeom prst="rect">
            <a:avLst/>
          </a:prstGeom>
        </p:spPr>
      </p:pic>
      <p:sp>
        <p:nvSpPr>
          <p:cNvPr id="23" name="a_05_anst"/>
          <p:cNvSpPr txBox="1"/>
          <p:nvPr/>
        </p:nvSpPr>
        <p:spPr>
          <a:xfrm>
            <a:off x="1554480" y="50749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2100" b="1" dirty="0">
                <a:solidFill>
                  <a:schemeClr val="tx1"/>
                </a:solidFill>
              </a:rPr>
              <a:t>Ответ — цифровая грамотность: </a:t>
            </a:r>
            <a:pPr indent="0" marL="0">
              <a:buNone/>
            </a:pPr>
            <a:r>
              <a:rPr lang="ru-RU" sz="2100" dirty="0">
                <a:solidFill>
                  <a:schemeClr val="tx1"/>
                </a:solidFill>
              </a:rPr>
              <a:t>пользоваться технологиями безопасно</a:t>
            </a:r>
            <a:endParaRPr lang="ru-RU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ru-RU"/>
              <a:t>9</a:t>
            </a:fld>
            <a:endParaRPr lang="ru-RU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15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15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5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5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60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0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0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5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5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50"/>
                            </p:stCondLst>
                            <p:childTnLst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_01_eb"/>
          <p:cNvSpPr txBox="1"/>
          <p:nvPr/>
        </p:nvSpPr>
        <p:spPr>
          <a:xfrm>
            <a:off x="68580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&lt;09/&gt; ИТОГ</a:t>
            </a:r>
            <a:endParaRPr lang="ru-RU" sz="1600" dirty="0"/>
          </a:p>
        </p:txBody>
      </p:sp>
      <p:sp>
        <p:nvSpPr>
          <p:cNvPr id="4" name="a_01_t"/>
          <p:cNvSpPr txBox="1"/>
          <p:nvPr/>
        </p:nvSpPr>
        <p:spPr>
          <a:xfrm>
            <a:off x="685800" y="128016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sz="6200" b="1" dirty="0">
                <a:solidFill>
                  <a:schemeClr val="bg1"/>
                </a:solidFill>
              </a:rPr>
              <a:t>Цифра стала</a:t>
            </a:r>
            <a:endParaRPr lang="ru-RU" sz="6200" dirty="0"/>
          </a:p>
          <a:p>
            <a:pPr indent="0" marL="0">
              <a:buNone/>
            </a:pPr>
            <a:r>
              <a:rPr lang="ru-RU" sz="6200" b="1" dirty="0">
                <a:solidFill>
                  <a:schemeClr val="accent1"/>
                </a:solidFill>
              </a:rPr>
              <a:t>средой жизни</a:t>
            </a:r>
            <a:endParaRPr lang="ru-RU" sz="6200" dirty="0"/>
          </a:p>
        </p:txBody>
      </p:sp>
      <p:sp>
        <p:nvSpPr>
          <p:cNvPr id="5" name="a_02_b0_c"/>
          <p:cNvSpPr/>
          <p:nvPr/>
        </p:nvSpPr>
        <p:spPr>
          <a:xfrm>
            <a:off x="685800" y="37033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5400000">
              <a:srgbClr val="22D3EE">
                <a:alpha val="55000"/>
              </a:srgbClr>
            </a:outerShdw>
          </a:effectLst>
        </p:spPr>
      </p:sp>
      <p:pic>
        <p:nvPicPr>
          <p:cNvPr id="6" name="a_02_b0_i" descr="/tmp/claude-0/-home-user-musor/c6980a0f-2a52-569f-a1fc-691d09a5d10f/scratchpad/cifra/icons/boo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7" y="3974897"/>
            <a:ext cx="462686" cy="462686"/>
          </a:xfrm>
          <a:prstGeom prst="rect">
            <a:avLst/>
          </a:prstGeom>
        </p:spPr>
      </p:pic>
      <p:sp>
        <p:nvSpPr>
          <p:cNvPr id="7" name="a_02_l0"/>
          <p:cNvSpPr txBox="1"/>
          <p:nvPr/>
        </p:nvSpPr>
        <p:spPr>
          <a:xfrm>
            <a:off x="320040" y="4800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учёба</a:t>
            </a:r>
            <a:endParaRPr lang="ru-RU" sz="1700" dirty="0"/>
          </a:p>
        </p:txBody>
      </p:sp>
      <p:sp>
        <p:nvSpPr>
          <p:cNvPr id="8" name="a_03_b1_c"/>
          <p:cNvSpPr/>
          <p:nvPr/>
        </p:nvSpPr>
        <p:spPr>
          <a:xfrm>
            <a:off x="2697480" y="3703320"/>
            <a:ext cx="1005840" cy="10058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79400" dist="50800" dir="5400000">
              <a:srgbClr val="F472B6">
                <a:alpha val="55000"/>
              </a:srgbClr>
            </a:outerShdw>
          </a:effectLst>
        </p:spPr>
      </p:sp>
      <p:pic>
        <p:nvPicPr>
          <p:cNvPr id="9" name="a_03_b1_i" descr="/tmp/claude-0/-home-user-musor/c6980a0f-2a52-569f-a1fc-691d09a5d10f/scratchpad/cifra/icons/docto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057" y="3974897"/>
            <a:ext cx="462686" cy="462686"/>
          </a:xfrm>
          <a:prstGeom prst="rect">
            <a:avLst/>
          </a:prstGeom>
        </p:spPr>
      </p:pic>
      <p:sp>
        <p:nvSpPr>
          <p:cNvPr id="10" name="a_03_l1"/>
          <p:cNvSpPr txBox="1"/>
          <p:nvPr/>
        </p:nvSpPr>
        <p:spPr>
          <a:xfrm>
            <a:off x="2331720" y="4800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здоровье</a:t>
            </a:r>
            <a:endParaRPr lang="ru-RU" sz="1700" dirty="0"/>
          </a:p>
        </p:txBody>
      </p:sp>
      <p:sp>
        <p:nvSpPr>
          <p:cNvPr id="11" name="a_04_b2_c"/>
          <p:cNvSpPr/>
          <p:nvPr/>
        </p:nvSpPr>
        <p:spPr>
          <a:xfrm>
            <a:off x="4709160" y="3703320"/>
            <a:ext cx="1005840" cy="1005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279400" dist="50800" dir="5400000">
              <a:srgbClr val="34D399">
                <a:alpha val="55000"/>
              </a:srgbClr>
            </a:outerShdw>
          </a:effectLst>
        </p:spPr>
      </p:sp>
      <p:pic>
        <p:nvPicPr>
          <p:cNvPr id="12" name="a_04_b2_i" descr="/tmp/claude-0/-home-user-musor/c6980a0f-2a52-569f-a1fc-691d09a5d10f/scratchpad/cifra/icons/cha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737" y="3974897"/>
            <a:ext cx="462686" cy="462686"/>
          </a:xfrm>
          <a:prstGeom prst="rect">
            <a:avLst/>
          </a:prstGeom>
        </p:spPr>
      </p:pic>
      <p:sp>
        <p:nvSpPr>
          <p:cNvPr id="13" name="a_04_l2"/>
          <p:cNvSpPr txBox="1"/>
          <p:nvPr/>
        </p:nvSpPr>
        <p:spPr>
          <a:xfrm>
            <a:off x="4343400" y="4800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общение</a:t>
            </a:r>
            <a:endParaRPr lang="ru-RU" sz="1700" dirty="0"/>
          </a:p>
        </p:txBody>
      </p:sp>
      <p:sp>
        <p:nvSpPr>
          <p:cNvPr id="14" name="a_05_b3_c"/>
          <p:cNvSpPr/>
          <p:nvPr/>
        </p:nvSpPr>
        <p:spPr>
          <a:xfrm>
            <a:off x="6720840" y="3703320"/>
            <a:ext cx="1005840" cy="10058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279400" dist="50800" dir="5400000">
              <a:srgbClr val="FBBF24">
                <a:alpha val="55000"/>
              </a:srgbClr>
            </a:outerShdw>
          </a:effectLst>
        </p:spPr>
      </p:sp>
      <p:pic>
        <p:nvPicPr>
          <p:cNvPr id="15" name="a_05_b3_i" descr="/tmp/claude-0/-home-user-musor/c6980a0f-2a52-569f-a1fc-691d09a5d10f/scratchpad/cifra/icons/landmar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417" y="3974897"/>
            <a:ext cx="462686" cy="462686"/>
          </a:xfrm>
          <a:prstGeom prst="rect">
            <a:avLst/>
          </a:prstGeom>
        </p:spPr>
      </p:pic>
      <p:sp>
        <p:nvSpPr>
          <p:cNvPr id="16" name="a_05_l3"/>
          <p:cNvSpPr txBox="1"/>
          <p:nvPr/>
        </p:nvSpPr>
        <p:spPr>
          <a:xfrm>
            <a:off x="6355080" y="4800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государство</a:t>
            </a:r>
            <a:endParaRPr lang="ru-RU" sz="1700" dirty="0"/>
          </a:p>
        </p:txBody>
      </p:sp>
      <p:sp>
        <p:nvSpPr>
          <p:cNvPr id="17" name="a_06_b4_c"/>
          <p:cNvSpPr/>
          <p:nvPr/>
        </p:nvSpPr>
        <p:spPr>
          <a:xfrm>
            <a:off x="8732520" y="3703320"/>
            <a:ext cx="1005840" cy="10058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279400" dist="50800" dir="5400000">
              <a:srgbClr val="8B5CF6">
                <a:alpha val="55000"/>
              </a:srgbClr>
            </a:outerShdw>
          </a:effectLst>
        </p:spPr>
      </p:sp>
      <p:pic>
        <p:nvPicPr>
          <p:cNvPr id="18" name="a_06_b4_i" descr="/tmp/claude-0/-home-user-musor/c6980a0f-2a52-569f-a1fc-691d09a5d10f/scratchpad/cifra/icons/theater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4097" y="3974897"/>
            <a:ext cx="462686" cy="462686"/>
          </a:xfrm>
          <a:prstGeom prst="rect">
            <a:avLst/>
          </a:prstGeom>
        </p:spPr>
      </p:pic>
      <p:sp>
        <p:nvSpPr>
          <p:cNvPr id="19" name="a_06_l4"/>
          <p:cNvSpPr txBox="1"/>
          <p:nvPr/>
        </p:nvSpPr>
        <p:spPr>
          <a:xfrm>
            <a:off x="8366760" y="4800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700" dirty="0">
                <a:solidFill>
                  <a:schemeClr val="bg1"/>
                </a:solidFill>
              </a:rPr>
              <a:t>культура</a:t>
            </a:r>
            <a:endParaRPr lang="ru-RU" sz="1700" dirty="0"/>
          </a:p>
        </p:txBody>
      </p:sp>
      <p:sp>
        <p:nvSpPr>
          <p:cNvPr id="20" name="a_07_th"/>
          <p:cNvSpPr txBox="1"/>
          <p:nvPr/>
        </p:nvSpPr>
        <p:spPr>
          <a:xfrm>
            <a:off x="68580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ru-RU" sz="3200" b="1" dirty="0">
                <a:solidFill>
                  <a:schemeClr val="accent1"/>
                </a:solidFill>
              </a:rPr>
              <a:t>Спасибо за внимание!</a:t>
            </a:r>
            <a:endParaRPr lang="ru-RU" sz="3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5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5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15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60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5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5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5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95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Цифра неон">
  <a:themeElements>
    <a:clrScheme name="Цифра неон">
      <a:dk1>
        <a:srgbClr val="0B1026"/>
      </a:dk1>
      <a:lt1>
        <a:srgbClr val="FFFFFF"/>
      </a:lt1>
      <a:dk2>
        <a:srgbClr val="9AA4D4"/>
      </a:dk2>
      <a:lt2>
        <a:srgbClr val="161F45"/>
      </a:lt2>
      <a:accent1>
        <a:srgbClr val="22D3EE"/>
      </a:accent1>
      <a:accent2>
        <a:srgbClr val="F472B6"/>
      </a:accent2>
      <a:accent3>
        <a:srgbClr val="34D399"/>
      </a:accent3>
      <a:accent4>
        <a:srgbClr val="FBBF24"/>
      </a:accent4>
      <a:accent5>
        <a:srgbClr val="8B5CF6"/>
      </a:accent5>
      <a:accent6>
        <a:srgbClr val="3D5AFE"/>
      </a:accent6>
      <a:hlink>
        <a:srgbClr val="22D3EE"/>
      </a:hlink>
      <a:folHlink>
        <a:srgbClr val="8B5CF6"/>
      </a:folHlink>
    </a:clrScheme>
    <a:fontScheme name="Цифра неон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Цифра в каждом доме: как цифровизация входила в жизнь общества России</dc:title>
  <dc:subject>PptxGenJS Presentation</dc:subject>
  <dc:creator>PptxGenJS</dc:creator>
  <cp:lastModifiedBy>PptxGenJS</cp:lastModifiedBy>
  <cp:revision>1</cp:revision>
  <dcterms:created xsi:type="dcterms:W3CDTF">2026-10-19T17:19:34Z</dcterms:created>
  <dcterms:modified xsi:type="dcterms:W3CDTF">2026-10-19T17:19:34Z</dcterms:modified>
</cp:coreProperties>
</file>