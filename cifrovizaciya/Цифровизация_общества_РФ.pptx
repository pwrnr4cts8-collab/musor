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65dcdaf-f3a2-01ab-2c34-adfb00781254}">
          <p14:sldIdLst>
            <p14:sldId id="256"/>
          </p14:sldIdLst>
        </p14:section>
        <p14:section name="История" id="{a131842f-4ae4-8f85-bd0f-cdfa899c4649}">
          <p14:sldIdLst>
            <p14:sldId id="257"/>
            <p14:sldId id="258"/>
          </p14:sldIdLst>
        </p14:section>
        <p14:section name="Сферы жизни" id="{4662181c-0606-902b-895f-1a582842f786}">
          <p14:sldIdLst>
            <p14:sldId id="259"/>
            <p14:sldId id="260"/>
            <p14:sldId id="261"/>
            <p14:sldId id="262"/>
          </p14:sldIdLst>
        </p14:section>
        <p14:section name="Перелом и вызовы" id="{89df8752-cbda-82c6-9af3-b8a621c84212}">
          <p14:sldIdLst>
            <p14:sldId id="263"/>
            <p14:sldId id="264"/>
          </p14:sldIdLst>
        </p14:section>
        <p14:section name="Итоги" id="{1772a1ad-8b22-12e5-1b6d-8d4843a8dd4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C9D1F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C9D1F0"/>
                </a:solidFill>
                <a:latin typeface="+mn-lt"/>
              </a:rPr>
              <a:t>Доля домохозяйств с интернетом,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домохозяйств, %</c:v>
                </c:pt>
              </c:strCache>
            </c:strRef>
          </c:tx>
          <c:spPr>
            <a:solidFill>
              <a:srgbClr val="C9D1F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1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2A88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2014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69.9</c:v>
                </c:pt>
                <c:pt idx="1">
                  <c:v>90.4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C9D1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Тема моего доклада — как цифровизация входила в жизнь общества России. Сразу оговорюсь: я не буду говорить об экономике, ВВП и рынке IT. Меня интересует другое — как цифровые технологии изменили повседневную жизнь обычного человека: как мы общаемся, учимся, лечимся, ездим по городу, ходим в театр и решаем вопросы с государством.
Ещё тридцать лет назад интернет в России был диковинкой для учёных и энтузиастов. Сегодня у большинства из нас в кармане смартфон, через который можно записаться к врачу, проверить оценки ребёнка, оплатить проезд и купить билет в музей. Как мы к этому пришли — об этом и поговорим.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Отправной точкой российского интернета принято считать 7 апреля 1994 года — в этот день был зарегистрирован национальный домен .RU. У Рунета появился собственный «адрес», и эту дату до сих пор отмечают как день рождения Рунета.
Дальше события развивались быстро. В 1996 году заработал Rambler — один из первых российских поисковиков, в 1997 году появился Яндекс. Именно поисковики сделали интернет полезным для обычного человека: в сети стало можно найти расписание, новости, рецепт или ответ на вопрос.
Следующий перелом — 2006 год, когда появились «ВКонтакте» и «Одноклассники». Общение начало уходить в сеть: люди находили одноклассников, сослуживцев, родственников в других городах. Интернет стал не только справочником, но и местом встречи.
А в 2009 году открылся портал Госуслуг. Это важный символический момент: в интернет пришло государство. Об этом — чуть позже, а пока посмотрим, насколько широко сеть распространилась по стране.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цифра этого слайда — 90,4 процента. Столько домохозяйств в России было подключено к интернету в 2024 году, по оценке Института статистических исследований и экономики знаний ВШЭ на основе данных Росстата. За десять лет этот показатель вырос примерно на 20 процентных пунктов — с примерно 70 процентов в 2014 году.
Важно, как именно люди выходят в сеть. Для большинства главным «окном» в интернет стал не компьютер, а смартфон. Именно это сделало цифровые сервисы по-настоящему массовыми: теперь ими пользуются и школьники, и пенсионеры, у которых никогда не было ноутбука.
Отдельная история — небольшие населённые пункты. По государственной программе устранения цифрового неравенства связь и интернет проводят в сёла и посёлки, куда коммерческим операторам заходить невыгодно. Так интернет постепенно перестаёт быть привилегией больших городов.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выбрать один символ цифровизации России, это, пожалуй, Госуслуги. Портал запустили 15 декабря 2009 года, а к концу 2024 года, по данным Минцифры, на нём зарегистрировались более 112 миллионов человек. Около 60 миллионов заходят на портал или в приложение хотя бы раз в месяц.
Что это изменило в жизни людей? Раньше, чтобы оформить загранпаспорт или пособие, нужно было собрать справки и отстоять несколько очередей. Теперь многие вещи делаются из дома: запись к врачу, заявление на паспорт, оплата штрафов и налогов, получение выплат. Часть услуг стала «проактивной» — например, при рождении ребёнка некоторые выплаты и сертификат на материнский капитал оформляются без отдельного заявления.
С 2020 года в России появились электронные трудовые книжки — бумажную больше не нужно носить с места на место. А с 2019 года в Москве, а с 2021 года и на выборах в Государственную думу в ряде регионов используется дистанционное электронное голосование. Можно спорить о его плюсах и минусах, но сам факт показателен: даже выборы частично переехали в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Очень заметно цифровизация изменила школу. Бумажный дневник, который можно было «забыть» дома, уступил место электронному: оценки и домашние задания видны и ученику, и родителям в тот же день.
В Москве с 2016–2017 годов развивается «Московская электронная школа» — с цифровыми сценариями уроков, тестами и электронными учебными материалами. Похожие платформы появились и в других регионах. Для общения учителей, учеников и родителей создана платформа «Сферум».
Но настоящую проверку школа прошла весной 2020 года, когда из-за пандемии миллионы детей за несколько дней перешли на дистанционное обучение. Было трудно: не у всех хватало компьютеров, не все учителя умели вести уроки онлайн. Зато этот опыт показал, что учиться можно и на расстоянии, а онлайн-курсы и лекции вузов стали обычным делом и для взрослых.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Посмотрим на цифровизацию глазами пациента. Первый шаг — запись к врачу. Раньше люди занимали очередь в регистратуру с утра, сегодня записаться можно через Госуслуги, региональный портал или приложение поликлиники.
Второй шаг — консультация. С 1 января 2018 года телемедицина в России официально разрешена законом: врач может проконсультировать пациента по видеосвязи, например, обсудить результаты анализов или скорректировать лечение.
Дальше — электронные рецепты и медицинские документы. Результаты анализов, справки, сведения о прививках можно посмотреть в личном кабинете. Особенно это ценно для тех, кто живёт далеко от крупных больниц: часть вопросов решается без долгой поездки в райцентр.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Цифровизация незаметно изменила и обычный день горожанина. В транспорте — транспортные карты вроде московской «Тройки», оплата проезда телефоном или банковской картой. С октября 2021 года в московском метро можно оплатить проезд с помощью биометрии — системой Face Pay, просто посмотрев в камеру на турникете.
Такси, доставка продуктов и готовой еды, покупки в интернете, запись в парикмахерскую — всё это стало делом пары касаний. Для многих людей, особенно с маленькими детьми или ограниченной подвижностью, это реальное облегчение жизни.
Отдельно хочу сказать о культуре. С 1 сентября 2021 года действует «Пушкинская карта»: молодые люди от 14 до 22 лет получают от государства деньги на билеты в театры, музеи, на концерты и выставки. Оформляется она в приложении, а билеты покупаются онлайн. По словам министра культуры, выпущено уже более 10 миллионов таких карт. Это хороший пример того, как цифровой инструмент приводит людей в совсем не цифровые места — в театр и музей.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бы нужно было назвать год, который сильнее всего ускорил цифровизацию, это 2020-й. С весны миллионы людей перешли на удалённую работу, школьники и студенты — на дистанционное обучение.
В апреле 2020 года в Москве ввели цифровые пропуска для передвижения по городу — их оформляли онлайн. Резко выросли доставка, онлайн-консультации врачей, видеозвонки: многие бабушки и дедушки впервые освоили видеосвязь, чтобы увидеть внуков.
В 2021 году появились QR-коды о вакцинации или перенесённой болезни — их показывали на входе в кафе, театры и торговые центры. Отношение к этим мерам было разным, но с точки зрения цифровизации главное другое: то, на что в обычное время ушли бы годы, произошло за месяцы.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Было бы нечестно говорить только о плюсах. У цифровизации есть обратная сторона, и о ней важно знать.
Первое — цифровое неравенство. Пожилым людям и жителям отдалённых сёл бывает сложно освоить новые сервисы, а когда что-то переходит «только в онлайн», они рискуют остаться без помощи.
Второе — мошенники. Телефонные и интернет-мошенники пользуются тем, что люди доверяют звонкам «из банка» или «из поликлиники». Третье — личные данные: утечки баз данных заставляют задуматься, кто и как хранит информацию о нас. И четвёртое — цифровая усталость: жизнь в смартфоне отнимает время на живое общение, прогулки и сон.
Общий ответ на эти вызовы — цифровая грамотность. Технологии сами по себе не хорошие и не плохие; важно уметь пользоваться ими безопасно и осознанно.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За тридцать с небольшим лет интернет в России прошёл путь от диковинки для энтузиастов до привычной среды — почти как электричество или водопровод. Мы замечаем его, только когда он пропадает.
Главные изменения оказались не экономическими, а человеческими: по-другому устроены учёба, лечение, общение с близкими и общение с государством.
И, на мой взгляд, следующий шаг — не столько новые сервисы, сколько умение людей пользоваться ими безопасно и с пользой. Спасибо за внимание! Буду рад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Цифровизация общества России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Цифровизация общества России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_04_hero" descr="/tmp/claude-0/-home-user-musor/c6980a0f-2a52-569f-a1fc-691d09a5d10f/scratchpad/cifra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11480"/>
            <a:ext cx="5029200" cy="5943600"/>
          </a:xfrm>
          <a:prstGeom prst="rect">
            <a:avLst/>
          </a:prstGeom>
        </p:spPr>
      </p:pic>
      <p:sp>
        <p:nvSpPr>
          <p:cNvPr id="4" name="a_01_eyebrow"/>
          <p:cNvSpPr txBox="1"/>
          <p:nvPr/>
        </p:nvSpPr>
        <p:spPr>
          <a:xfrm>
            <a:off x="685800" y="1325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spc="300" kern="0" dirty="0">
                <a:solidFill>
                  <a:schemeClr val="accent3"/>
                </a:solidFill>
              </a:rPr>
              <a:t>ДОКЛАД  ·  ОБЩЕСТВО И ТЕХНОЛОГИИ</a:t>
            </a:r>
            <a:endParaRPr lang="ru-RU" sz="1400" dirty="0"/>
          </a:p>
        </p:txBody>
      </p:sp>
      <p:sp>
        <p:nvSpPr>
          <p:cNvPr id="5" name="a_01_title"/>
          <p:cNvSpPr txBox="1"/>
          <p:nvPr/>
        </p:nvSpPr>
        <p:spPr>
          <a:xfrm>
            <a:off x="685800" y="17830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5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Цифра в каждом доме</a:t>
            </a:r>
            <a:endParaRPr lang="ru-RU" sz="5400" dirty="0"/>
          </a:p>
        </p:txBody>
      </p:sp>
      <p:sp>
        <p:nvSpPr>
          <p:cNvPr id="6" name="a_02_subtitle"/>
          <p:cNvSpPr txBox="1"/>
          <p:nvPr/>
        </p:nvSpPr>
        <p:spPr>
          <a:xfrm>
            <a:off x="685800" y="35204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dirty="0">
                <a:solidFill>
                  <a:schemeClr val="accent6"/>
                </a:solidFill>
              </a:rPr>
              <a:t>Как цифровизация входила в жизнь общества России</a:t>
            </a:r>
            <a:endParaRPr lang="ru-RU" sz="2400" dirty="0"/>
          </a:p>
        </p:txBody>
      </p:sp>
      <p:sp>
        <p:nvSpPr>
          <p:cNvPr id="7" name="a_03_tagline"/>
          <p:cNvSpPr txBox="1"/>
          <p:nvPr/>
        </p:nvSpPr>
        <p:spPr>
          <a:xfrm>
            <a:off x="685800" y="45720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i="1" dirty="0">
                <a:solidFill>
                  <a:schemeClr val="accent6"/>
                </a:solidFill>
              </a:rPr>
              <a:t>От первых сайтов — до Госуслуг, онлайн-школы и Пушкинской карты</a:t>
            </a:r>
            <a:endParaRPr lang="ru-RU" sz="1600" dirty="0"/>
          </a:p>
        </p:txBody>
      </p:sp>
      <p:sp>
        <p:nvSpPr>
          <p:cNvPr id="8" name="a_03_author"/>
          <p:cNvSpPr txBox="1"/>
          <p:nvPr/>
        </p:nvSpPr>
        <p:spPr>
          <a:xfrm>
            <a:off x="685800" y="5989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dirty="0">
                <a:solidFill>
                  <a:schemeClr val="accent6"/>
                </a:solidFill>
              </a:rPr>
              <a:t>[ФИО докладчика]  ·  [группа / организация]  ·  2026</a:t>
            </a:r>
            <a:endParaRPr lang="ru-RU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Как всё начиналось: 1994–2009</a:t>
            </a:r>
            <a:endParaRPr lang="ru-RU" sz="3600" dirty="0"/>
          </a:p>
        </p:txBody>
      </p:sp>
      <p:sp>
        <p:nvSpPr>
          <p:cNvPr id="4" name="a_01_line"/>
          <p:cNvSpPr/>
          <p:nvPr/>
        </p:nvSpPr>
        <p:spPr>
          <a:xfrm>
            <a:off x="822960" y="2788920"/>
            <a:ext cx="1056132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dash"/>
          </a:ln>
        </p:spPr>
      </p:sp>
      <p:sp>
        <p:nvSpPr>
          <p:cNvPr id="5" name="a_02_year0"/>
          <p:cNvSpPr txBox="1"/>
          <p:nvPr/>
        </p:nvSpPr>
        <p:spPr>
          <a:xfrm>
            <a:off x="59436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200" b="1" dirty="0">
                <a:solidFill>
                  <a:schemeClr val="accent1"/>
                </a:solidFill>
              </a:rPr>
              <a:t>1994</a:t>
            </a:r>
            <a:endParaRPr lang="ru-RU" sz="3200" dirty="0"/>
          </a:p>
        </p:txBody>
      </p:sp>
      <p:sp>
        <p:nvSpPr>
          <p:cNvPr id="6" name="a_02_node0_c"/>
          <p:cNvSpPr/>
          <p:nvPr/>
        </p:nvSpPr>
        <p:spPr>
          <a:xfrm>
            <a:off x="1216152" y="2404872"/>
            <a:ext cx="768096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a_02_node0_i" descr="/tmp/claude-0/-home-user-musor/c6980a0f-2a52-569f-a1fc-691d09a5d10f/scratchpad/cifra/icons/glob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1219" y="2619939"/>
            <a:ext cx="337962" cy="337962"/>
          </a:xfrm>
          <a:prstGeom prst="rect">
            <a:avLst/>
          </a:prstGeom>
        </p:spPr>
      </p:pic>
      <p:sp>
        <p:nvSpPr>
          <p:cNvPr id="8" name="a_02_card0"/>
          <p:cNvSpPr/>
          <p:nvPr/>
        </p:nvSpPr>
        <p:spPr>
          <a:xfrm>
            <a:off x="594360" y="3520440"/>
            <a:ext cx="2011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_02_cardtxt0"/>
          <p:cNvSpPr txBox="1"/>
          <p:nvPr/>
        </p:nvSpPr>
        <p:spPr>
          <a:xfrm>
            <a:off x="731520" y="3611880"/>
            <a:ext cx="1737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Зарегистрирован домен .RU — у Рунета появился свой «адрес»</a:t>
            </a:r>
            <a:endParaRPr lang="ru-RU" sz="1500" dirty="0"/>
          </a:p>
        </p:txBody>
      </p:sp>
      <p:sp>
        <p:nvSpPr>
          <p:cNvPr id="10" name="a_03_year1"/>
          <p:cNvSpPr txBox="1"/>
          <p:nvPr/>
        </p:nvSpPr>
        <p:spPr>
          <a:xfrm>
            <a:off x="27889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200" b="1" dirty="0">
                <a:solidFill>
                  <a:schemeClr val="accent2"/>
                </a:solidFill>
              </a:rPr>
              <a:t>1996</a:t>
            </a:r>
            <a:endParaRPr lang="ru-RU" sz="3200" dirty="0"/>
          </a:p>
        </p:txBody>
      </p:sp>
      <p:sp>
        <p:nvSpPr>
          <p:cNvPr id="11" name="a_03_node1_c"/>
          <p:cNvSpPr/>
          <p:nvPr/>
        </p:nvSpPr>
        <p:spPr>
          <a:xfrm>
            <a:off x="3410712" y="2404872"/>
            <a:ext cx="768096" cy="7680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a_03_node1_i" descr="/tmp/claude-0/-home-user-musor/c6980a0f-2a52-569f-a1fc-691d09a5d10f/scratchpad/cifra/icons/lapto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779" y="2619939"/>
            <a:ext cx="337962" cy="337962"/>
          </a:xfrm>
          <a:prstGeom prst="rect">
            <a:avLst/>
          </a:prstGeom>
        </p:spPr>
      </p:pic>
      <p:sp>
        <p:nvSpPr>
          <p:cNvPr id="13" name="a_03_card1"/>
          <p:cNvSpPr/>
          <p:nvPr/>
        </p:nvSpPr>
        <p:spPr>
          <a:xfrm>
            <a:off x="2788920" y="3520440"/>
            <a:ext cx="2011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_03_cardtxt1"/>
          <p:cNvSpPr txBox="1"/>
          <p:nvPr/>
        </p:nvSpPr>
        <p:spPr>
          <a:xfrm>
            <a:off x="2926080" y="3611880"/>
            <a:ext cx="1737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Запущен Rambler — один из первых российских поисковиков</a:t>
            </a:r>
            <a:endParaRPr lang="ru-RU" sz="1500" dirty="0"/>
          </a:p>
        </p:txBody>
      </p:sp>
      <p:sp>
        <p:nvSpPr>
          <p:cNvPr id="15" name="a_04_year2"/>
          <p:cNvSpPr txBox="1"/>
          <p:nvPr/>
        </p:nvSpPr>
        <p:spPr>
          <a:xfrm>
            <a:off x="498348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200" b="1" dirty="0">
                <a:solidFill>
                  <a:schemeClr val="accent3"/>
                </a:solidFill>
              </a:rPr>
              <a:t>1997</a:t>
            </a:r>
            <a:endParaRPr lang="ru-RU" sz="3200" dirty="0"/>
          </a:p>
        </p:txBody>
      </p:sp>
      <p:sp>
        <p:nvSpPr>
          <p:cNvPr id="16" name="a_04_node2_c"/>
          <p:cNvSpPr/>
          <p:nvPr/>
        </p:nvSpPr>
        <p:spPr>
          <a:xfrm>
            <a:off x="5605272" y="2404872"/>
            <a:ext cx="768096" cy="76809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a_04_node2_i" descr="/tmp/claude-0/-home-user-musor/c6980a0f-2a52-569f-a1fc-691d09a5d10f/scratchpad/cifra/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339" y="2619939"/>
            <a:ext cx="337962" cy="337962"/>
          </a:xfrm>
          <a:prstGeom prst="rect">
            <a:avLst/>
          </a:prstGeom>
        </p:spPr>
      </p:pic>
      <p:sp>
        <p:nvSpPr>
          <p:cNvPr id="18" name="a_04_card2"/>
          <p:cNvSpPr/>
          <p:nvPr/>
        </p:nvSpPr>
        <p:spPr>
          <a:xfrm>
            <a:off x="4983480" y="3520440"/>
            <a:ext cx="2011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_04_cardtxt2"/>
          <p:cNvSpPr txBox="1"/>
          <p:nvPr/>
        </p:nvSpPr>
        <p:spPr>
          <a:xfrm>
            <a:off x="5120640" y="3611880"/>
            <a:ext cx="1737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Появился Яндекс: искать информацию в сети стало привычкой</a:t>
            </a:r>
            <a:endParaRPr lang="ru-RU" sz="1500" dirty="0"/>
          </a:p>
        </p:txBody>
      </p:sp>
      <p:sp>
        <p:nvSpPr>
          <p:cNvPr id="20" name="a_05_year3"/>
          <p:cNvSpPr txBox="1"/>
          <p:nvPr/>
        </p:nvSpPr>
        <p:spPr>
          <a:xfrm>
            <a:off x="717804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200" b="1" dirty="0">
                <a:solidFill>
                  <a:schemeClr val="accent4"/>
                </a:solidFill>
              </a:rPr>
              <a:t>2006</a:t>
            </a:r>
            <a:endParaRPr lang="ru-RU" sz="3200" dirty="0"/>
          </a:p>
        </p:txBody>
      </p:sp>
      <p:sp>
        <p:nvSpPr>
          <p:cNvPr id="21" name="a_05_node3_c"/>
          <p:cNvSpPr/>
          <p:nvPr/>
        </p:nvSpPr>
        <p:spPr>
          <a:xfrm>
            <a:off x="7799832" y="2404872"/>
            <a:ext cx="768096" cy="76809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a_05_node3_i" descr="/tmp/claude-0/-home-user-musor/c6980a0f-2a52-569f-a1fc-691d09a5d10f/scratchpad/cifra/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899" y="2619939"/>
            <a:ext cx="337962" cy="337962"/>
          </a:xfrm>
          <a:prstGeom prst="rect">
            <a:avLst/>
          </a:prstGeom>
        </p:spPr>
      </p:pic>
      <p:sp>
        <p:nvSpPr>
          <p:cNvPr id="23" name="a_05_card3"/>
          <p:cNvSpPr/>
          <p:nvPr/>
        </p:nvSpPr>
        <p:spPr>
          <a:xfrm>
            <a:off x="7178040" y="3520440"/>
            <a:ext cx="2011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_05_cardtxt3"/>
          <p:cNvSpPr txBox="1"/>
          <p:nvPr/>
        </p:nvSpPr>
        <p:spPr>
          <a:xfrm>
            <a:off x="7315200" y="3611880"/>
            <a:ext cx="1737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«ВКонтакте» и «Одноклассники»: общение уходит в соцсети</a:t>
            </a:r>
            <a:endParaRPr lang="ru-RU" sz="1500" dirty="0"/>
          </a:p>
        </p:txBody>
      </p:sp>
      <p:sp>
        <p:nvSpPr>
          <p:cNvPr id="25" name="a_06_year4"/>
          <p:cNvSpPr txBox="1"/>
          <p:nvPr/>
        </p:nvSpPr>
        <p:spPr>
          <a:xfrm>
            <a:off x="937260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2009</a:t>
            </a:r>
            <a:endParaRPr lang="ru-RU" sz="3200" dirty="0"/>
          </a:p>
        </p:txBody>
      </p:sp>
      <p:sp>
        <p:nvSpPr>
          <p:cNvPr id="26" name="a_06_node4_c"/>
          <p:cNvSpPr/>
          <p:nvPr/>
        </p:nvSpPr>
        <p:spPr>
          <a:xfrm>
            <a:off x="9994392" y="2404872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a_06_node4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9459" y="2619939"/>
            <a:ext cx="337962" cy="337962"/>
          </a:xfrm>
          <a:prstGeom prst="rect">
            <a:avLst/>
          </a:prstGeom>
        </p:spPr>
      </p:pic>
      <p:sp>
        <p:nvSpPr>
          <p:cNvPr id="28" name="a_06_card4"/>
          <p:cNvSpPr/>
          <p:nvPr/>
        </p:nvSpPr>
        <p:spPr>
          <a:xfrm>
            <a:off x="9372600" y="3520440"/>
            <a:ext cx="2011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a_06_cardtxt4"/>
          <p:cNvSpPr txBox="1"/>
          <p:nvPr/>
        </p:nvSpPr>
        <p:spPr>
          <a:xfrm>
            <a:off x="9509760" y="3611880"/>
            <a:ext cx="1737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Открыт портал Госуслуг — государство выходит в онлайн</a:t>
            </a:r>
            <a:endParaRPr lang="ru-RU" sz="1500" dirty="0"/>
          </a:p>
        </p:txBody>
      </p:sp>
      <p:sp>
        <p:nvSpPr>
          <p:cNvPr id="30" name="a_07_summary"/>
          <p:cNvSpPr txBox="1"/>
          <p:nvPr/>
        </p:nvSpPr>
        <p:spPr>
          <a:xfrm>
            <a:off x="59436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i="1" dirty="0">
                <a:solidFill>
                  <a:schemeClr val="tx2"/>
                </a:solidFill>
              </a:rPr>
              <a:t>За 15 лет интернет превратился из диковинки для учёных и энтузиастов в часть повседневной жизни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5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05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50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50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50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50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950"/>
                            </p:stCondLst>
                            <p:childTnLst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Интернет пришёл почти в каждый дом</a:t>
            </a:r>
            <a:endParaRPr lang="ru-RU" sz="3600" dirty="0"/>
          </a:p>
        </p:txBody>
      </p:sp>
      <p:sp>
        <p:nvSpPr>
          <p:cNvPr id="4" name="a_01_bigstat"/>
          <p:cNvSpPr txBox="1"/>
          <p:nvPr/>
        </p:nvSpPr>
        <p:spPr>
          <a:xfrm>
            <a:off x="548640" y="14173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0" b="1" dirty="0">
                <a:solidFill>
                  <a:schemeClr val="accent3"/>
                </a:solidFill>
              </a:rPr>
              <a:t>90,4%</a:t>
            </a:r>
            <a:endParaRPr lang="ru-RU" sz="11000" dirty="0"/>
          </a:p>
        </p:txBody>
      </p:sp>
      <p:sp>
        <p:nvSpPr>
          <p:cNvPr id="5" name="a_01_biglabel"/>
          <p:cNvSpPr txBox="1"/>
          <p:nvPr/>
        </p:nvSpPr>
        <p:spPr>
          <a:xfrm>
            <a:off x="548640" y="2880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bg1"/>
                </a:solidFill>
              </a:rPr>
              <a:t>домохозяйств России подключены к интернету (2024)</a:t>
            </a:r>
            <a:endParaRPr lang="ru-RU" sz="2000" dirty="0"/>
          </a:p>
        </p:txBody>
      </p:sp>
      <p:sp>
        <p:nvSpPr>
          <p:cNvPr id="6" name="a_02_deltabg"/>
          <p:cNvSpPr/>
          <p:nvPr/>
        </p:nvSpPr>
        <p:spPr>
          <a:xfrm>
            <a:off x="548640" y="39319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a_02_deltatxt"/>
          <p:cNvSpPr txBox="1"/>
          <p:nvPr/>
        </p:nvSpPr>
        <p:spPr>
          <a:xfrm>
            <a:off x="822960" y="393192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chemeClr val="accent4"/>
                </a:solidFill>
              </a:rPr>
              <a:t>+20,5 п.п.</a:t>
            </a:r>
            <a:endParaRPr lang="ru-RU" sz="3000" dirty="0"/>
          </a:p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рост за десять лет — примерно с 70% в 2014 году</a:t>
            </a:r>
            <a:endParaRPr lang="ru-RU" sz="3000" dirty="0"/>
          </a:p>
        </p:txBody>
      </p:sp>
      <p:sp>
        <p:nvSpPr>
          <p:cNvPr id="8" name="a_04_src"/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accent6"/>
                </a:solidFill>
              </a:rPr>
              <a:t>Источник: ИСИЭЗ НИУ ВШЭ по данным Росстата; 2014 — оценка (90,4% − 20,5 п.п.)</a:t>
            </a:r>
            <a:endParaRPr lang="ru-RU" sz="1100" dirty="0"/>
          </a:p>
        </p:txBody>
      </p:sp>
      <p:graphicFrame>
        <p:nvGraphicFramePr>
          <p:cNvPr id="9" name="a_02_chart" descr=""/>
          <p:cNvGraphicFramePr/>
          <p:nvPr/>
        </p:nvGraphicFramePr>
        <p:xfrm>
          <a:off x="6035040" y="1371600"/>
          <a:ext cx="55778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_03_fact0_c"/>
          <p:cNvSpPr/>
          <p:nvPr/>
        </p:nvSpPr>
        <p:spPr>
          <a:xfrm>
            <a:off x="6035040" y="42519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a_03_fact0_i" descr="/tmp/claude-0/-home-user-musor/c6980a0f-2a52-569f-a1fc-691d09a5d10f/scratchpad/cifra/icons/mobi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780" y="4410700"/>
            <a:ext cx="249448" cy="249448"/>
          </a:xfrm>
          <a:prstGeom prst="rect">
            <a:avLst/>
          </a:prstGeom>
        </p:spPr>
      </p:pic>
      <p:sp>
        <p:nvSpPr>
          <p:cNvPr id="12" name="a_03_facttxt0"/>
          <p:cNvSpPr txBox="1"/>
          <p:nvPr/>
        </p:nvSpPr>
        <p:spPr>
          <a:xfrm>
            <a:off x="6766560" y="42062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Смартфон стал главным «окном» в интернет — даже у тех, у кого никогда не было компьютера</a:t>
            </a:r>
            <a:endParaRPr lang="ru-RU" sz="1500" dirty="0"/>
          </a:p>
        </p:txBody>
      </p:sp>
      <p:sp>
        <p:nvSpPr>
          <p:cNvPr id="13" name="a_04_fact1_c"/>
          <p:cNvSpPr/>
          <p:nvPr/>
        </p:nvSpPr>
        <p:spPr>
          <a:xfrm>
            <a:off x="6035040" y="502920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a_04_fact1_i" descr="/tmp/claude-0/-home-user-musor/c6980a0f-2a52-569f-a1fc-691d09a5d10f/scratchpad/cifra/icons/wifi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780" y="5187940"/>
            <a:ext cx="249448" cy="249448"/>
          </a:xfrm>
          <a:prstGeom prst="rect">
            <a:avLst/>
          </a:prstGeom>
        </p:spPr>
      </p:pic>
      <p:sp>
        <p:nvSpPr>
          <p:cNvPr id="15" name="a_04_facttxt1"/>
          <p:cNvSpPr txBox="1"/>
          <p:nvPr/>
        </p:nvSpPr>
        <p:spPr>
          <a:xfrm>
            <a:off x="6766560" y="498348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Программа устранения цифрового неравенства проводит связь в небольшие сёла и посёлки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10" grpId="0" animBg="1"/>
      <p:bldP spid="12" grpId="0" animBg="1"/>
      <p:bldP spid="8" grpId="0" animBg="1"/>
      <p:bldP spid="13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Госуслуги: государство в смартфоне</a:t>
            </a:r>
            <a:endParaRPr lang="ru-RU" sz="3600" dirty="0"/>
          </a:p>
        </p:txBody>
      </p:sp>
      <p:sp>
        <p:nvSpPr>
          <p:cNvPr id="4" name="a_01_callbg"/>
          <p:cNvSpPr/>
          <p:nvPr/>
        </p:nvSpPr>
        <p:spPr>
          <a:xfrm>
            <a:off x="548640" y="1417320"/>
            <a:ext cx="3749040" cy="4663440"/>
          </a:xfrm>
          <a:prstGeom prst="roundRect">
            <a:avLst>
              <a:gd name="adj" fmla="val 36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_01_callnum"/>
          <p:cNvSpPr txBox="1"/>
          <p:nvPr/>
        </p:nvSpPr>
        <p:spPr>
          <a:xfrm>
            <a:off x="822960" y="1691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6000" b="1" dirty="0">
                <a:solidFill>
                  <a:schemeClr val="bg1"/>
                </a:solidFill>
              </a:rPr>
              <a:t>112 млн</a:t>
            </a:r>
            <a:endParaRPr lang="ru-RU" sz="6000" dirty="0"/>
          </a:p>
        </p:txBody>
      </p:sp>
      <p:sp>
        <p:nvSpPr>
          <p:cNvPr id="6" name="a_01_calllbl"/>
          <p:cNvSpPr txBox="1"/>
          <p:nvPr/>
        </p:nvSpPr>
        <p:spPr>
          <a:xfrm>
            <a:off x="822960" y="26974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пользователей зарегистрировано на портале к концу 2024 года</a:t>
            </a:r>
            <a:endParaRPr lang="ru-RU" sz="1700" dirty="0"/>
          </a:p>
        </p:txBody>
      </p:sp>
      <p:sp>
        <p:nvSpPr>
          <p:cNvPr id="7" name="a_02_callmore"/>
          <p:cNvSpPr txBox="1"/>
          <p:nvPr/>
        </p:nvSpPr>
        <p:spPr>
          <a:xfrm>
            <a:off x="822960" y="379476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bg1"/>
                </a:solidFill>
              </a:rPr>
              <a:t>15 декабря 2009</a:t>
            </a:r>
            <a:endParaRPr lang="ru-RU" sz="1600" dirty="0"/>
          </a:p>
          <a:p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портал начал работу</a:t>
            </a:r>
            <a:endParaRPr lang="ru-RU" sz="1600" dirty="0"/>
          </a:p>
          <a:p>
            <a:pPr indent="0" marL="0">
              <a:buNone/>
            </a:pPr>
            <a:r>
              <a:rPr lang="ru-RU" sz="800" dirty="0">
                <a:solidFill>
                  <a:schemeClr val="bg1"/>
                </a:solidFill>
              </a:rPr>
              <a:t> </a:t>
            </a:r>
            <a:endParaRPr lang="ru-RU" sz="1600" dirty="0"/>
          </a:p>
          <a:p>
            <a:pPr indent="0" marL="0">
              <a:buNone/>
            </a:pPr>
            <a:r>
              <a:rPr lang="ru-RU" sz="1600" b="1" dirty="0">
                <a:solidFill>
                  <a:schemeClr val="bg1"/>
                </a:solidFill>
              </a:rPr>
              <a:t>≈60 млн</a:t>
            </a:r>
            <a:endParaRPr lang="ru-RU" sz="1600" dirty="0"/>
          </a:p>
          <a:p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заходят хотя бы раз в месяц</a:t>
            </a:r>
            <a:endParaRPr lang="ru-RU" sz="1600" dirty="0"/>
          </a:p>
        </p:txBody>
      </p:sp>
      <p:sp>
        <p:nvSpPr>
          <p:cNvPr id="8" name="a_02_callsrc"/>
          <p:cNvSpPr txBox="1"/>
          <p:nvPr/>
        </p:nvSpPr>
        <p:spPr>
          <a:xfrm>
            <a:off x="82296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accent6"/>
                </a:solidFill>
              </a:rPr>
              <a:t>Данные Минцифры</a:t>
            </a:r>
            <a:endParaRPr lang="ru-RU" sz="1100" dirty="0"/>
          </a:p>
        </p:txBody>
      </p:sp>
      <p:sp>
        <p:nvSpPr>
          <p:cNvPr id="9" name="a_03_svc0"/>
          <p:cNvSpPr/>
          <p:nvPr/>
        </p:nvSpPr>
        <p:spPr>
          <a:xfrm>
            <a:off x="4572000" y="141732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_03_svcic0_c"/>
          <p:cNvSpPr/>
          <p:nvPr/>
        </p:nvSpPr>
        <p:spPr>
          <a:xfrm>
            <a:off x="484632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a_03_svcic0_i" descr="/tmp/claude-0/-home-user-musor/c6980a0f-2a52-569f-a1fc-691d09a5d10f/scratchpad/cifra/icons/docto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1146" y="1896466"/>
            <a:ext cx="321869" cy="321869"/>
          </a:xfrm>
          <a:prstGeom prst="rect">
            <a:avLst/>
          </a:prstGeom>
        </p:spPr>
      </p:pic>
      <p:sp>
        <p:nvSpPr>
          <p:cNvPr id="12" name="a_03_svct0"/>
          <p:cNvSpPr txBox="1"/>
          <p:nvPr/>
        </p:nvSpPr>
        <p:spPr>
          <a:xfrm>
            <a:off x="4846320" y="2560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 к врачу</a:t>
            </a:r>
            <a:endParaRPr lang="ru-RU" sz="1800" dirty="0"/>
          </a:p>
        </p:txBody>
      </p:sp>
      <p:sp>
        <p:nvSpPr>
          <p:cNvPr id="13" name="a_03_svcd0"/>
          <p:cNvSpPr txBox="1"/>
          <p:nvPr/>
        </p:nvSpPr>
        <p:spPr>
          <a:xfrm>
            <a:off x="4846320" y="295351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без очереди в регистратуре</a:t>
            </a:r>
            <a:endParaRPr lang="ru-RU" sz="1400" dirty="0"/>
          </a:p>
        </p:txBody>
      </p:sp>
      <p:sp>
        <p:nvSpPr>
          <p:cNvPr id="14" name="a_04_svc1"/>
          <p:cNvSpPr/>
          <p:nvPr/>
        </p:nvSpPr>
        <p:spPr>
          <a:xfrm>
            <a:off x="6995160" y="141732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_04_svcic1_c"/>
          <p:cNvSpPr/>
          <p:nvPr/>
        </p:nvSpPr>
        <p:spPr>
          <a:xfrm>
            <a:off x="7269480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a_04_svcic1_i" descr="/tmp/claude-0/-home-user-musor/c6980a0f-2a52-569f-a1fc-691d09a5d10f/scratchpad/cifra/icons/passpor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4306" y="1896466"/>
            <a:ext cx="321869" cy="321869"/>
          </a:xfrm>
          <a:prstGeom prst="rect">
            <a:avLst/>
          </a:prstGeom>
        </p:spPr>
      </p:pic>
      <p:sp>
        <p:nvSpPr>
          <p:cNvPr id="17" name="a_04_svct1"/>
          <p:cNvSpPr txBox="1"/>
          <p:nvPr/>
        </p:nvSpPr>
        <p:spPr>
          <a:xfrm>
            <a:off x="7269480" y="2560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Загранпаспорт</a:t>
            </a:r>
            <a:endParaRPr lang="ru-RU" sz="1800" dirty="0"/>
          </a:p>
        </p:txBody>
      </p:sp>
      <p:sp>
        <p:nvSpPr>
          <p:cNvPr id="18" name="a_04_svcd1"/>
          <p:cNvSpPr txBox="1"/>
          <p:nvPr/>
        </p:nvSpPr>
        <p:spPr>
          <a:xfrm>
            <a:off x="7269480" y="295351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заявление из дома</a:t>
            </a:r>
            <a:endParaRPr lang="ru-RU" sz="1400" dirty="0"/>
          </a:p>
        </p:txBody>
      </p:sp>
      <p:sp>
        <p:nvSpPr>
          <p:cNvPr id="19" name="a_05_svc2"/>
          <p:cNvSpPr/>
          <p:nvPr/>
        </p:nvSpPr>
        <p:spPr>
          <a:xfrm>
            <a:off x="9418320" y="141732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_05_svcic2_c"/>
          <p:cNvSpPr/>
          <p:nvPr/>
        </p:nvSpPr>
        <p:spPr>
          <a:xfrm>
            <a:off x="9692640" y="1691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a_05_svcic2_i" descr="/tmp/claude-0/-home-user-musor/c6980a0f-2a52-569f-a1fc-691d09a5d10f/scratchpad/cifra/icons/bab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466" y="1896466"/>
            <a:ext cx="321869" cy="321869"/>
          </a:xfrm>
          <a:prstGeom prst="rect">
            <a:avLst/>
          </a:prstGeom>
        </p:spPr>
      </p:pic>
      <p:sp>
        <p:nvSpPr>
          <p:cNvPr id="22" name="a_05_svct2"/>
          <p:cNvSpPr txBox="1"/>
          <p:nvPr/>
        </p:nvSpPr>
        <p:spPr>
          <a:xfrm>
            <a:off x="9692640" y="2560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Пособия</a:t>
            </a:r>
            <a:endParaRPr lang="ru-RU" sz="1800" dirty="0"/>
          </a:p>
        </p:txBody>
      </p:sp>
      <p:sp>
        <p:nvSpPr>
          <p:cNvPr id="23" name="a_05_svcd2"/>
          <p:cNvSpPr txBox="1"/>
          <p:nvPr/>
        </p:nvSpPr>
        <p:spPr>
          <a:xfrm>
            <a:off x="9692640" y="295351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часть — проактивно, без заявления</a:t>
            </a:r>
            <a:endParaRPr lang="ru-RU" sz="1400" dirty="0"/>
          </a:p>
        </p:txBody>
      </p:sp>
      <p:sp>
        <p:nvSpPr>
          <p:cNvPr id="24" name="a_06_svc3"/>
          <p:cNvSpPr/>
          <p:nvPr/>
        </p:nvSpPr>
        <p:spPr>
          <a:xfrm>
            <a:off x="4572000" y="384048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a_06_svcic3_c"/>
          <p:cNvSpPr/>
          <p:nvPr/>
        </p:nvSpPr>
        <p:spPr>
          <a:xfrm>
            <a:off x="4846320" y="411480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a_06_svcic3_i" descr="/tmp/claude-0/-home-user-musor/c6980a0f-2a52-569f-a1fc-691d09a5d10f/scratchpad/cifra/icons/car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146" y="4319626"/>
            <a:ext cx="321869" cy="321869"/>
          </a:xfrm>
          <a:prstGeom prst="rect">
            <a:avLst/>
          </a:prstGeom>
        </p:spPr>
      </p:pic>
      <p:sp>
        <p:nvSpPr>
          <p:cNvPr id="27" name="a_06_svct3"/>
          <p:cNvSpPr txBox="1"/>
          <p:nvPr/>
        </p:nvSpPr>
        <p:spPr>
          <a:xfrm>
            <a:off x="4846320" y="4983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Штрафы и налоги</a:t>
            </a:r>
            <a:endParaRPr lang="ru-RU" sz="1800" dirty="0"/>
          </a:p>
        </p:txBody>
      </p:sp>
      <p:sp>
        <p:nvSpPr>
          <p:cNvPr id="28" name="a_06_svcd3"/>
          <p:cNvSpPr txBox="1"/>
          <p:nvPr/>
        </p:nvSpPr>
        <p:spPr>
          <a:xfrm>
            <a:off x="4846320" y="537667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проверка и оплата онлайн</a:t>
            </a:r>
            <a:endParaRPr lang="ru-RU" sz="1400" dirty="0"/>
          </a:p>
        </p:txBody>
      </p:sp>
      <p:sp>
        <p:nvSpPr>
          <p:cNvPr id="29" name="a_07_svc4"/>
          <p:cNvSpPr/>
          <p:nvPr/>
        </p:nvSpPr>
        <p:spPr>
          <a:xfrm>
            <a:off x="6995160" y="384048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_07_svcic4_c"/>
          <p:cNvSpPr/>
          <p:nvPr/>
        </p:nvSpPr>
        <p:spPr>
          <a:xfrm>
            <a:off x="7269480" y="4114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a_07_svcic4_i" descr="/tmp/claude-0/-home-user-musor/c6980a0f-2a52-569f-a1fc-691d09a5d10f/scratchpad/cifra/icons/briefcas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306" y="4319626"/>
            <a:ext cx="321869" cy="321869"/>
          </a:xfrm>
          <a:prstGeom prst="rect">
            <a:avLst/>
          </a:prstGeom>
        </p:spPr>
      </p:pic>
      <p:sp>
        <p:nvSpPr>
          <p:cNvPr id="32" name="a_07_svct4"/>
          <p:cNvSpPr txBox="1"/>
          <p:nvPr/>
        </p:nvSpPr>
        <p:spPr>
          <a:xfrm>
            <a:off x="7269480" y="4983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Трудовая книжка</a:t>
            </a:r>
            <a:endParaRPr lang="ru-RU" sz="1800" dirty="0"/>
          </a:p>
        </p:txBody>
      </p:sp>
      <p:sp>
        <p:nvSpPr>
          <p:cNvPr id="33" name="a_07_svcd4"/>
          <p:cNvSpPr txBox="1"/>
          <p:nvPr/>
        </p:nvSpPr>
        <p:spPr>
          <a:xfrm>
            <a:off x="7269480" y="537667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электронная — с 2020 года</a:t>
            </a:r>
            <a:endParaRPr lang="ru-RU" sz="1400" dirty="0"/>
          </a:p>
        </p:txBody>
      </p:sp>
      <p:sp>
        <p:nvSpPr>
          <p:cNvPr id="34" name="a_08_svc5"/>
          <p:cNvSpPr/>
          <p:nvPr/>
        </p:nvSpPr>
        <p:spPr>
          <a:xfrm>
            <a:off x="9418320" y="3840480"/>
            <a:ext cx="22402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a_08_svcic5_c"/>
          <p:cNvSpPr/>
          <p:nvPr/>
        </p:nvSpPr>
        <p:spPr>
          <a:xfrm>
            <a:off x="9692640" y="41148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6" name="a_08_svcic5_i" descr="/tmp/claude-0/-home-user-musor/c6980a0f-2a52-569f-a1fc-691d09a5d10f/scratchpad/cifra/icons/vot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7466" y="4319626"/>
            <a:ext cx="321869" cy="321869"/>
          </a:xfrm>
          <a:prstGeom prst="rect">
            <a:avLst/>
          </a:prstGeom>
        </p:spPr>
      </p:pic>
      <p:sp>
        <p:nvSpPr>
          <p:cNvPr id="37" name="a_08_svct5"/>
          <p:cNvSpPr txBox="1"/>
          <p:nvPr/>
        </p:nvSpPr>
        <p:spPr>
          <a:xfrm>
            <a:off x="9692640" y="4983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Голосование</a:t>
            </a:r>
            <a:endParaRPr lang="ru-RU" sz="1800" dirty="0"/>
          </a:p>
        </p:txBody>
      </p:sp>
      <p:sp>
        <p:nvSpPr>
          <p:cNvPr id="38" name="a_08_svcd5"/>
          <p:cNvSpPr txBox="1"/>
          <p:nvPr/>
        </p:nvSpPr>
        <p:spPr>
          <a:xfrm>
            <a:off x="9692640" y="537667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ДЭГ: с 2019 года в Москве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5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5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50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50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50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50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95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950"/>
                            </p:stCondLst>
                            <p:childTnLst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950"/>
                            </p:stCondLst>
                            <p:childTnLst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950"/>
                            </p:stCondLst>
                            <p:childTnLst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2950"/>
                            </p:stCondLst>
                            <p:childTnLst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3400"/>
                            </p:stCondLst>
                            <p:childTnLst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3400"/>
                            </p:stCondLst>
                            <p:childTnLst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3400"/>
                            </p:stCondLst>
                            <p:childTnLst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1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3400"/>
                            </p:stCondLst>
                            <p:childTnLst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3400"/>
                            </p:stCondLst>
                            <p:childTnLst>
                              <p:par>
                                <p:cTn id="2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2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Школа и учёба в цифре</a:t>
            </a:r>
            <a:endParaRPr lang="ru-RU" sz="3600" dirty="0"/>
          </a:p>
        </p:txBody>
      </p:sp>
      <p:sp>
        <p:nvSpPr>
          <p:cNvPr id="4" name="a_01_row0_c"/>
          <p:cNvSpPr/>
          <p:nvPr/>
        </p:nvSpPr>
        <p:spPr>
          <a:xfrm>
            <a:off x="548640" y="14630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_01_row0_i" descr="/tmp/claude-0/-home-user-musor/c6980a0f-2a52-569f-a1fc-691d09a5d10f/scratchpad/cifra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267" y="1680667"/>
            <a:ext cx="341986" cy="341986"/>
          </a:xfrm>
          <a:prstGeom prst="rect">
            <a:avLst/>
          </a:prstGeom>
        </p:spPr>
      </p:pic>
      <p:sp>
        <p:nvSpPr>
          <p:cNvPr id="6" name="a_01_rowt0"/>
          <p:cNvSpPr txBox="1"/>
          <p:nvPr/>
        </p:nvSpPr>
        <p:spPr>
          <a:xfrm>
            <a:off x="1554480" y="1444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Электронный дневник</a:t>
            </a:r>
            <a:endParaRPr lang="ru-RU" sz="2000" dirty="0"/>
          </a:p>
        </p:txBody>
      </p:sp>
      <p:sp>
        <p:nvSpPr>
          <p:cNvPr id="7" name="a_01_rowd0"/>
          <p:cNvSpPr txBox="1"/>
          <p:nvPr/>
        </p:nvSpPr>
        <p:spPr>
          <a:xfrm>
            <a:off x="155448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Оценки и домашние задания видны ученику и родителям в тот же день</a:t>
            </a:r>
            <a:endParaRPr lang="ru-RU" sz="1500" dirty="0"/>
          </a:p>
        </p:txBody>
      </p:sp>
      <p:sp>
        <p:nvSpPr>
          <p:cNvPr id="8" name="a_02_row1_c"/>
          <p:cNvSpPr/>
          <p:nvPr/>
        </p:nvSpPr>
        <p:spPr>
          <a:xfrm>
            <a:off x="548640" y="2633472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a_02_row1_i" descr="/tmp/claude-0/-home-user-musor/c6980a0f-2a52-569f-a1fc-691d09a5d10f/scratchpad/cifra/icons/lapto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" y="2851099"/>
            <a:ext cx="341986" cy="341986"/>
          </a:xfrm>
          <a:prstGeom prst="rect">
            <a:avLst/>
          </a:prstGeom>
        </p:spPr>
      </p:pic>
      <p:sp>
        <p:nvSpPr>
          <p:cNvPr id="10" name="a_02_rowt1"/>
          <p:cNvSpPr txBox="1"/>
          <p:nvPr/>
        </p:nvSpPr>
        <p:spPr>
          <a:xfrm>
            <a:off x="1554480" y="261518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Цифровые платформы</a:t>
            </a:r>
            <a:endParaRPr lang="ru-RU" sz="2000" dirty="0"/>
          </a:p>
        </p:txBody>
      </p:sp>
      <p:sp>
        <p:nvSpPr>
          <p:cNvPr id="11" name="a_02_rowd1"/>
          <p:cNvSpPr txBox="1"/>
          <p:nvPr/>
        </p:nvSpPr>
        <p:spPr>
          <a:xfrm>
            <a:off x="1554480" y="3017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«Московская электронная школа» (с 2016–2017 гг.) и региональные аналоги</a:t>
            </a:r>
            <a:endParaRPr lang="ru-RU" sz="1500" dirty="0"/>
          </a:p>
        </p:txBody>
      </p:sp>
      <p:sp>
        <p:nvSpPr>
          <p:cNvPr id="12" name="a_03_row2_c"/>
          <p:cNvSpPr/>
          <p:nvPr/>
        </p:nvSpPr>
        <p:spPr>
          <a:xfrm>
            <a:off x="548640" y="3803904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a_03_row2_i" descr="/tmp/claude-0/-home-user-musor/c6980a0f-2a52-569f-a1fc-691d09a5d10f/scratchpad/cifra/icons/cha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" y="4021531"/>
            <a:ext cx="341986" cy="341986"/>
          </a:xfrm>
          <a:prstGeom prst="rect">
            <a:avLst/>
          </a:prstGeom>
        </p:spPr>
      </p:pic>
      <p:sp>
        <p:nvSpPr>
          <p:cNvPr id="14" name="a_03_rowt2"/>
          <p:cNvSpPr txBox="1"/>
          <p:nvPr/>
        </p:nvSpPr>
        <p:spPr>
          <a:xfrm>
            <a:off x="1554480" y="378561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«Сферум»</a:t>
            </a:r>
            <a:endParaRPr lang="ru-RU" sz="2000" dirty="0"/>
          </a:p>
        </p:txBody>
      </p:sp>
      <p:sp>
        <p:nvSpPr>
          <p:cNvPr id="15" name="a_03_rowd2"/>
          <p:cNvSpPr txBox="1"/>
          <p:nvPr/>
        </p:nvSpPr>
        <p:spPr>
          <a:xfrm>
            <a:off x="1554480" y="41879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Общение учителей, учеников и родителей в одной платформе</a:t>
            </a:r>
            <a:endParaRPr lang="ru-RU" sz="1500" dirty="0"/>
          </a:p>
        </p:txBody>
      </p:sp>
      <p:sp>
        <p:nvSpPr>
          <p:cNvPr id="16" name="a_04_row3_c"/>
          <p:cNvSpPr/>
          <p:nvPr/>
        </p:nvSpPr>
        <p:spPr>
          <a:xfrm>
            <a:off x="548640" y="4974336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a_04_row3_i" descr="/tmp/claude-0/-home-user-musor/c6980a0f-2a52-569f-a1fc-691d09a5d10f/scratchpad/cifra/icons/gr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" y="5191963"/>
            <a:ext cx="341986" cy="341986"/>
          </a:xfrm>
          <a:prstGeom prst="rect">
            <a:avLst/>
          </a:prstGeom>
        </p:spPr>
      </p:pic>
      <p:sp>
        <p:nvSpPr>
          <p:cNvPr id="18" name="a_04_rowt3"/>
          <p:cNvSpPr txBox="1"/>
          <p:nvPr/>
        </p:nvSpPr>
        <p:spPr>
          <a:xfrm>
            <a:off x="1554480" y="49560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Онлайн-курсы</a:t>
            </a:r>
            <a:endParaRPr lang="ru-RU" sz="2000" dirty="0"/>
          </a:p>
        </p:txBody>
      </p:sp>
      <p:sp>
        <p:nvSpPr>
          <p:cNvPr id="19" name="a_04_rowd3"/>
          <p:cNvSpPr txBox="1"/>
          <p:nvPr/>
        </p:nvSpPr>
        <p:spPr>
          <a:xfrm>
            <a:off x="1554480" y="53583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Лекции, курсы и экзамены в сети — для школьников и взрослых</a:t>
            </a:r>
            <a:endParaRPr lang="ru-RU" sz="1500" dirty="0"/>
          </a:p>
        </p:txBody>
      </p:sp>
      <p:sp>
        <p:nvSpPr>
          <p:cNvPr id="20" name="a_05_qbg"/>
          <p:cNvSpPr/>
          <p:nvPr/>
        </p:nvSpPr>
        <p:spPr>
          <a:xfrm>
            <a:off x="7086600" y="1463040"/>
            <a:ext cx="4526280" cy="4526280"/>
          </a:xfrm>
          <a:prstGeom prst="roundRect">
            <a:avLst>
              <a:gd name="adj" fmla="val 303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38100" dir="5400000">
              <a:srgbClr val="0E1630">
                <a:alpha val="12000"/>
              </a:srgbClr>
            </a:outerShdw>
          </a:effectLst>
        </p:spPr>
      </p:sp>
      <p:sp>
        <p:nvSpPr>
          <p:cNvPr id="21" name="a_05_qic_c"/>
          <p:cNvSpPr/>
          <p:nvPr/>
        </p:nvSpPr>
        <p:spPr>
          <a:xfrm>
            <a:off x="7452360" y="182880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a_05_qic_i" descr="/tmp/claude-0/-home-user-musor/c6980a0f-2a52-569f-a1fc-691d09a5d10f/scratchpad/cifra/icons/laptophous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5590" y="2072030"/>
            <a:ext cx="382219" cy="382219"/>
          </a:xfrm>
          <a:prstGeom prst="rect">
            <a:avLst/>
          </a:prstGeom>
        </p:spPr>
      </p:pic>
      <p:sp>
        <p:nvSpPr>
          <p:cNvPr id="23" name="a_05_qyear"/>
          <p:cNvSpPr txBox="1"/>
          <p:nvPr/>
        </p:nvSpPr>
        <p:spPr>
          <a:xfrm>
            <a:off x="7452360" y="2880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000" b="1" dirty="0">
                <a:solidFill>
                  <a:schemeClr val="accent4"/>
                </a:solidFill>
              </a:rPr>
              <a:t>Весна 2020</a:t>
            </a:r>
            <a:endParaRPr lang="ru-RU" sz="3000" dirty="0"/>
          </a:p>
        </p:txBody>
      </p:sp>
      <p:sp>
        <p:nvSpPr>
          <p:cNvPr id="24" name="a_06_qtxt"/>
          <p:cNvSpPr txBox="1"/>
          <p:nvPr/>
        </p:nvSpPr>
        <p:spPr>
          <a:xfrm>
            <a:off x="7452360" y="347472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Миллионы школьников за несколько дней перешли на дистанционное обучение. Было трудно — но стало ясно, что учиться можно и на расстоянии.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5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5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Здоровье: врач на расстоянии клика</a:t>
            </a:r>
            <a:endParaRPr lang="ru-RU" sz="3600" dirty="0"/>
          </a:p>
        </p:txBody>
      </p:sp>
      <p:sp>
        <p:nvSpPr>
          <p:cNvPr id="4" name="a_01_sub"/>
          <p:cNvSpPr txBox="1"/>
          <p:nvPr/>
        </p:nvSpPr>
        <p:spPr>
          <a:xfrm>
            <a:off x="548640" y="1325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2"/>
                </a:solidFill>
              </a:rPr>
              <a:t>Путь пациента сегодня</a:t>
            </a:r>
            <a:endParaRPr lang="ru-RU" sz="1800" dirty="0"/>
          </a:p>
        </p:txBody>
      </p:sp>
      <p:sp>
        <p:nvSpPr>
          <p:cNvPr id="5" name="a_02_st0"/>
          <p:cNvSpPr/>
          <p:nvPr/>
        </p:nvSpPr>
        <p:spPr>
          <a:xfrm>
            <a:off x="548640" y="1874520"/>
            <a:ext cx="2377440" cy="251460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_02_stn0"/>
          <p:cNvSpPr txBox="1"/>
          <p:nvPr/>
        </p:nvSpPr>
        <p:spPr>
          <a:xfrm>
            <a:off x="22402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2800" b="1" dirty="0">
                <a:solidFill>
                  <a:schemeClr val="accent6"/>
                </a:solidFill>
              </a:rPr>
              <a:t>1</a:t>
            </a:r>
            <a:endParaRPr lang="ru-RU" sz="2800" dirty="0"/>
          </a:p>
        </p:txBody>
      </p:sp>
      <p:sp>
        <p:nvSpPr>
          <p:cNvPr id="7" name="a_02_stic0_c"/>
          <p:cNvSpPr/>
          <p:nvPr/>
        </p:nvSpPr>
        <p:spPr>
          <a:xfrm>
            <a:off x="822960" y="214884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a_02_stic0_i" descr="/tmp/claude-0/-home-user-musor/c6980a0f-2a52-569f-a1fc-691d09a5d10f/scratchpad/cifra/icons/calenda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587" y="2366467"/>
            <a:ext cx="341986" cy="341986"/>
          </a:xfrm>
          <a:prstGeom prst="rect">
            <a:avLst/>
          </a:prstGeom>
        </p:spPr>
      </p:pic>
      <p:sp>
        <p:nvSpPr>
          <p:cNvPr id="9" name="a_02_stt0"/>
          <p:cNvSpPr txBox="1"/>
          <p:nvPr/>
        </p:nvSpPr>
        <p:spPr>
          <a:xfrm>
            <a:off x="822960" y="3108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</a:t>
            </a:r>
            <a:endParaRPr lang="ru-RU" sz="1800" dirty="0"/>
          </a:p>
        </p:txBody>
      </p:sp>
      <p:sp>
        <p:nvSpPr>
          <p:cNvPr id="10" name="a_02_std0"/>
          <p:cNvSpPr txBox="1"/>
          <p:nvPr/>
        </p:nvSpPr>
        <p:spPr>
          <a:xfrm>
            <a:off x="822960" y="3520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через Госуслуги или приложение поликлиники</a:t>
            </a:r>
            <a:endParaRPr lang="ru-RU" sz="1400" dirty="0"/>
          </a:p>
        </p:txBody>
      </p:sp>
      <p:sp>
        <p:nvSpPr>
          <p:cNvPr id="11" name="a_02_arr0"/>
          <p:cNvSpPr/>
          <p:nvPr/>
        </p:nvSpPr>
        <p:spPr>
          <a:xfrm>
            <a:off x="3017520" y="2967228"/>
            <a:ext cx="320040" cy="32918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a_03_st1"/>
          <p:cNvSpPr/>
          <p:nvPr/>
        </p:nvSpPr>
        <p:spPr>
          <a:xfrm>
            <a:off x="3429000" y="1874520"/>
            <a:ext cx="2377440" cy="251460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_03_stn1"/>
          <p:cNvSpPr txBox="1"/>
          <p:nvPr/>
        </p:nvSpPr>
        <p:spPr>
          <a:xfrm>
            <a:off x="51206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2800" b="1" dirty="0">
                <a:solidFill>
                  <a:schemeClr val="accent6"/>
                </a:solidFill>
              </a:rPr>
              <a:t>2</a:t>
            </a:r>
            <a:endParaRPr lang="ru-RU" sz="2800" dirty="0"/>
          </a:p>
        </p:txBody>
      </p:sp>
      <p:sp>
        <p:nvSpPr>
          <p:cNvPr id="14" name="a_03_stic1_c"/>
          <p:cNvSpPr/>
          <p:nvPr/>
        </p:nvSpPr>
        <p:spPr>
          <a:xfrm>
            <a:off x="3703320" y="214884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a_03_stic1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947" y="2366467"/>
            <a:ext cx="341986" cy="341986"/>
          </a:xfrm>
          <a:prstGeom prst="rect">
            <a:avLst/>
          </a:prstGeom>
        </p:spPr>
      </p:pic>
      <p:sp>
        <p:nvSpPr>
          <p:cNvPr id="16" name="a_03_stt1"/>
          <p:cNvSpPr txBox="1"/>
          <p:nvPr/>
        </p:nvSpPr>
        <p:spPr>
          <a:xfrm>
            <a:off x="3703320" y="3108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Консультация</a:t>
            </a:r>
            <a:endParaRPr lang="ru-RU" sz="1800" dirty="0"/>
          </a:p>
        </p:txBody>
      </p:sp>
      <p:sp>
        <p:nvSpPr>
          <p:cNvPr id="17" name="a_03_std1"/>
          <p:cNvSpPr txBox="1"/>
          <p:nvPr/>
        </p:nvSpPr>
        <p:spPr>
          <a:xfrm>
            <a:off x="3703320" y="3520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врач на связи по видео — из дома</a:t>
            </a:r>
            <a:endParaRPr lang="ru-RU" sz="1400" dirty="0"/>
          </a:p>
        </p:txBody>
      </p:sp>
      <p:sp>
        <p:nvSpPr>
          <p:cNvPr id="18" name="a_03_arr1"/>
          <p:cNvSpPr/>
          <p:nvPr/>
        </p:nvSpPr>
        <p:spPr>
          <a:xfrm>
            <a:off x="5897880" y="2967228"/>
            <a:ext cx="320040" cy="32918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_04_st2"/>
          <p:cNvSpPr/>
          <p:nvPr/>
        </p:nvSpPr>
        <p:spPr>
          <a:xfrm>
            <a:off x="6309360" y="1874520"/>
            <a:ext cx="2377440" cy="251460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_04_stn2"/>
          <p:cNvSpPr txBox="1"/>
          <p:nvPr/>
        </p:nvSpPr>
        <p:spPr>
          <a:xfrm>
            <a:off x="80010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2800" b="1" dirty="0">
                <a:solidFill>
                  <a:schemeClr val="accent6"/>
                </a:solidFill>
              </a:rPr>
              <a:t>3</a:t>
            </a:r>
            <a:endParaRPr lang="ru-RU" sz="2800" dirty="0"/>
          </a:p>
        </p:txBody>
      </p:sp>
      <p:sp>
        <p:nvSpPr>
          <p:cNvPr id="21" name="a_04_stic2_c"/>
          <p:cNvSpPr/>
          <p:nvPr/>
        </p:nvSpPr>
        <p:spPr>
          <a:xfrm>
            <a:off x="6583680" y="2148840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a_04_stic2_i" descr="/tmp/claude-0/-home-user-musor/c6980a0f-2a52-569f-a1fc-691d09a5d10f/scratchpad/cifra/icons/pill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307" y="2366467"/>
            <a:ext cx="341986" cy="341986"/>
          </a:xfrm>
          <a:prstGeom prst="rect">
            <a:avLst/>
          </a:prstGeom>
        </p:spPr>
      </p:pic>
      <p:sp>
        <p:nvSpPr>
          <p:cNvPr id="23" name="a_04_stt2"/>
          <p:cNvSpPr txBox="1"/>
          <p:nvPr/>
        </p:nvSpPr>
        <p:spPr>
          <a:xfrm>
            <a:off x="6583680" y="3108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Рецепт</a:t>
            </a:r>
            <a:endParaRPr lang="ru-RU" sz="1800" dirty="0"/>
          </a:p>
        </p:txBody>
      </p:sp>
      <p:sp>
        <p:nvSpPr>
          <p:cNvPr id="24" name="a_04_std2"/>
          <p:cNvSpPr txBox="1"/>
          <p:nvPr/>
        </p:nvSpPr>
        <p:spPr>
          <a:xfrm>
            <a:off x="6583680" y="3520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электронный, без бумажного бланка</a:t>
            </a:r>
            <a:endParaRPr lang="ru-RU" sz="1400" dirty="0"/>
          </a:p>
        </p:txBody>
      </p:sp>
      <p:sp>
        <p:nvSpPr>
          <p:cNvPr id="25" name="a_04_arr2"/>
          <p:cNvSpPr/>
          <p:nvPr/>
        </p:nvSpPr>
        <p:spPr>
          <a:xfrm>
            <a:off x="8778240" y="2967228"/>
            <a:ext cx="320040" cy="32918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a_05_st3"/>
          <p:cNvSpPr/>
          <p:nvPr/>
        </p:nvSpPr>
        <p:spPr>
          <a:xfrm>
            <a:off x="9189720" y="1874520"/>
            <a:ext cx="2377440" cy="251460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a_05_stn3"/>
          <p:cNvSpPr txBox="1"/>
          <p:nvPr/>
        </p:nvSpPr>
        <p:spPr>
          <a:xfrm>
            <a:off x="108813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2800" b="1" dirty="0">
                <a:solidFill>
                  <a:schemeClr val="accent6"/>
                </a:solidFill>
              </a:rPr>
              <a:t>4</a:t>
            </a:r>
            <a:endParaRPr lang="ru-RU" sz="2800" dirty="0"/>
          </a:p>
        </p:txBody>
      </p:sp>
      <p:sp>
        <p:nvSpPr>
          <p:cNvPr id="28" name="a_05_stic3_c"/>
          <p:cNvSpPr/>
          <p:nvPr/>
        </p:nvSpPr>
        <p:spPr>
          <a:xfrm>
            <a:off x="9464040" y="214884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a_05_stic3_i" descr="/tmp/claude-0/-home-user-musor/c6980a0f-2a52-569f-a1fc-691d09a5d10f/scratchpad/cifra/icons/fileme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1667" y="2366467"/>
            <a:ext cx="341986" cy="341986"/>
          </a:xfrm>
          <a:prstGeom prst="rect">
            <a:avLst/>
          </a:prstGeom>
        </p:spPr>
      </p:pic>
      <p:sp>
        <p:nvSpPr>
          <p:cNvPr id="30" name="a_05_stt3"/>
          <p:cNvSpPr txBox="1"/>
          <p:nvPr/>
        </p:nvSpPr>
        <p:spPr>
          <a:xfrm>
            <a:off x="9464040" y="3108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Анализы</a:t>
            </a:r>
            <a:endParaRPr lang="ru-RU" sz="1800" dirty="0"/>
          </a:p>
        </p:txBody>
      </p:sp>
      <p:sp>
        <p:nvSpPr>
          <p:cNvPr id="31" name="a_05_std3"/>
          <p:cNvSpPr txBox="1"/>
          <p:nvPr/>
        </p:nvSpPr>
        <p:spPr>
          <a:xfrm>
            <a:off x="9464040" y="3520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результаты — в личном кабинете</a:t>
            </a:r>
            <a:endParaRPr lang="ru-RU" sz="1400" dirty="0"/>
          </a:p>
        </p:txBody>
      </p:sp>
      <p:sp>
        <p:nvSpPr>
          <p:cNvPr id="32" name="a_06_lawbg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1037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a_06_lawic_c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_06_lawic_i" descr="/tmp/claude-0/-home-user-musor/c6980a0f-2a52-569f-a1fc-691d09a5d10f/scratchpad/cifra/icons/hear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5201107"/>
            <a:ext cx="341986" cy="341986"/>
          </a:xfrm>
          <a:prstGeom prst="rect">
            <a:avLst/>
          </a:prstGeom>
        </p:spPr>
      </p:pic>
      <p:sp>
        <p:nvSpPr>
          <p:cNvPr id="35" name="a_06_lawtxt"/>
          <p:cNvSpPr txBox="1"/>
          <p:nvPr/>
        </p:nvSpPr>
        <p:spPr>
          <a:xfrm>
            <a:off x="1874520" y="484632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accent4"/>
                </a:solidFill>
              </a:rPr>
              <a:t>1 января 2018 года</a:t>
            </a:r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 телемедицина в России разрешена законом: врач может консультировать пациента по видеосвязи. Особенно это важно для тех, кто живёт далеко от крупных больниц.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6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60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05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05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05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05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050"/>
                            </p:stCondLst>
                            <p:childTnLst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050"/>
                            </p:stCondLst>
                            <p:childTnLst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500"/>
                            </p:stCondLst>
                            <p:childTnLst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2500"/>
                            </p:stCondLst>
                            <p:childTnLst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2500"/>
                            </p:stCondLst>
                            <p:childTnLst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2500"/>
                            </p:stCondLst>
                            <p:childTnLst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Город и досуг: цифра в повседневности</a:t>
            </a:r>
            <a:endParaRPr lang="ru-RU" sz="3600" dirty="0"/>
          </a:p>
        </p:txBody>
      </p:sp>
      <p:sp>
        <p:nvSpPr>
          <p:cNvPr id="4" name="a_01_col0"/>
          <p:cNvSpPr/>
          <p:nvPr/>
        </p:nvSpPr>
        <p:spPr>
          <a:xfrm>
            <a:off x="548640" y="1417320"/>
            <a:ext cx="3566160" cy="45720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_01_colic0_c"/>
          <p:cNvSpPr/>
          <p:nvPr/>
        </p:nvSpPr>
        <p:spPr>
          <a:xfrm>
            <a:off x="868680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a_01_colic0_i" descr="/tmp/claude-0/-home-user-musor/c6980a0f-2a52-569f-a1fc-691d09a5d10f/scratchpad/cifra/icons/subw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993392"/>
            <a:ext cx="402336" cy="402336"/>
          </a:xfrm>
          <a:prstGeom prst="rect">
            <a:avLst/>
          </a:prstGeom>
        </p:spPr>
      </p:pic>
      <p:sp>
        <p:nvSpPr>
          <p:cNvPr id="7" name="a_01_colt0"/>
          <p:cNvSpPr txBox="1"/>
          <p:nvPr/>
        </p:nvSpPr>
        <p:spPr>
          <a:xfrm>
            <a:off x="86868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Транспорт</a:t>
            </a:r>
            <a:endParaRPr lang="ru-RU" sz="2400" dirty="0"/>
          </a:p>
        </p:txBody>
      </p:sp>
      <p:sp>
        <p:nvSpPr>
          <p:cNvPr id="8" name="a_01_cold0"/>
          <p:cNvSpPr txBox="1"/>
          <p:nvPr/>
        </p:nvSpPr>
        <p:spPr>
          <a:xfrm>
            <a:off x="868680" y="34290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Карта «Тройка» и оплата телефоном</a:t>
            </a:r>
            <a:endParaRPr lang="ru-RU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С октября 2021 года в метро Москвы — оплата по лицу (Face Pay)</a:t>
            </a:r>
            <a:endParaRPr lang="ru-RU" sz="1500" dirty="0"/>
          </a:p>
        </p:txBody>
      </p:sp>
      <p:sp>
        <p:nvSpPr>
          <p:cNvPr id="9" name="a_02_col1"/>
          <p:cNvSpPr/>
          <p:nvPr/>
        </p:nvSpPr>
        <p:spPr>
          <a:xfrm>
            <a:off x="4297680" y="1417320"/>
            <a:ext cx="3566160" cy="45720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_02_colic1_c"/>
          <p:cNvSpPr/>
          <p:nvPr/>
        </p:nvSpPr>
        <p:spPr>
          <a:xfrm>
            <a:off x="4617720" y="17373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a_02_colic1_i" descr="/tmp/claude-0/-home-user-musor/c6980a0f-2a52-569f-a1fc-691d09a5d10f/scratchpad/cifra/icons/ba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993392"/>
            <a:ext cx="402336" cy="402336"/>
          </a:xfrm>
          <a:prstGeom prst="rect">
            <a:avLst/>
          </a:prstGeom>
        </p:spPr>
      </p:pic>
      <p:sp>
        <p:nvSpPr>
          <p:cNvPr id="12" name="a_02_colt1"/>
          <p:cNvSpPr txBox="1"/>
          <p:nvPr/>
        </p:nvSpPr>
        <p:spPr>
          <a:xfrm>
            <a:off x="461772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Сервисы</a:t>
            </a:r>
            <a:endParaRPr lang="ru-RU" sz="2400" dirty="0"/>
          </a:p>
        </p:txBody>
      </p:sp>
      <p:sp>
        <p:nvSpPr>
          <p:cNvPr id="13" name="a_02_cold1"/>
          <p:cNvSpPr txBox="1"/>
          <p:nvPr/>
        </p:nvSpPr>
        <p:spPr>
          <a:xfrm>
            <a:off x="4617720" y="34290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Такси, доставка еды и продуктов</a:t>
            </a:r>
            <a:endParaRPr lang="ru-RU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Покупки и запись к мастеру — в пару касаний</a:t>
            </a:r>
            <a:endParaRPr lang="ru-RU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Онлайн-кинотеатры и электронные книги</a:t>
            </a:r>
            <a:endParaRPr lang="ru-RU" sz="1500" dirty="0"/>
          </a:p>
        </p:txBody>
      </p:sp>
      <p:sp>
        <p:nvSpPr>
          <p:cNvPr id="14" name="a_03_col2"/>
          <p:cNvSpPr/>
          <p:nvPr/>
        </p:nvSpPr>
        <p:spPr>
          <a:xfrm>
            <a:off x="8046720" y="1417320"/>
            <a:ext cx="3566160" cy="45720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_03_colic2_c"/>
          <p:cNvSpPr/>
          <p:nvPr/>
        </p:nvSpPr>
        <p:spPr>
          <a:xfrm>
            <a:off x="8366760" y="1737360"/>
            <a:ext cx="914400" cy="9144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a_03_colic2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1993392"/>
            <a:ext cx="402336" cy="402336"/>
          </a:xfrm>
          <a:prstGeom prst="rect">
            <a:avLst/>
          </a:prstGeom>
        </p:spPr>
      </p:pic>
      <p:sp>
        <p:nvSpPr>
          <p:cNvPr id="17" name="a_03_colt2"/>
          <p:cNvSpPr txBox="1"/>
          <p:nvPr/>
        </p:nvSpPr>
        <p:spPr>
          <a:xfrm>
            <a:off x="836676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Культура</a:t>
            </a:r>
            <a:endParaRPr lang="ru-RU" sz="2400" dirty="0"/>
          </a:p>
        </p:txBody>
      </p:sp>
      <p:sp>
        <p:nvSpPr>
          <p:cNvPr id="18" name="a_03_cold2"/>
          <p:cNvSpPr txBox="1"/>
          <p:nvPr/>
        </p:nvSpPr>
        <p:spPr>
          <a:xfrm>
            <a:off x="8366760" y="34290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«Пушкинская карта» с 1 сентября 2021 года</a:t>
            </a:r>
            <a:endParaRPr lang="ru-RU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500" dirty="0">
                <a:solidFill>
                  <a:schemeClr val="tx1"/>
                </a:solidFill>
              </a:rPr>
              <a:t>Молодёжь 14–22 лет ходит в театры и музеи за счёт государства</a:t>
            </a:r>
            <a:endParaRPr lang="ru-RU" sz="1500" dirty="0"/>
          </a:p>
        </p:txBody>
      </p:sp>
      <p:sp>
        <p:nvSpPr>
          <p:cNvPr id="19" name="a_04_pkbg"/>
          <p:cNvSpPr/>
          <p:nvPr/>
        </p:nvSpPr>
        <p:spPr>
          <a:xfrm>
            <a:off x="8366760" y="4983480"/>
            <a:ext cx="2926080" cy="822960"/>
          </a:xfrm>
          <a:prstGeom prst="roundRect">
            <a:avLst>
              <a:gd name="adj" fmla="val 1111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a_04_pktxt"/>
          <p:cNvSpPr txBox="1"/>
          <p:nvPr/>
        </p:nvSpPr>
        <p:spPr>
          <a:xfrm>
            <a:off x="8549640" y="4983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10+ млн</a:t>
            </a:r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  карт выпущено</a:t>
            </a:r>
            <a:endParaRPr lang="ru-RU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2020: пандемия как ускоритель</a:t>
            </a:r>
            <a:endParaRPr lang="ru-RU" sz="3600" dirty="0"/>
          </a:p>
        </p:txBody>
      </p:sp>
      <p:sp>
        <p:nvSpPr>
          <p:cNvPr id="4" name="a_01_ev0_c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_01_ev0_i" descr="/tmp/claude-0/-home-user-musor/c6980a0f-2a52-569f-a1fc-691d09a5d10f/scratchpad/cifra/icons/laptophou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1667866"/>
            <a:ext cx="321869" cy="321869"/>
          </a:xfrm>
          <a:prstGeom prst="rect">
            <a:avLst/>
          </a:prstGeom>
        </p:spPr>
      </p:pic>
      <p:sp>
        <p:nvSpPr>
          <p:cNvPr id="6" name="a_01_evd0"/>
          <p:cNvSpPr txBox="1"/>
          <p:nvPr/>
        </p:nvSpPr>
        <p:spPr>
          <a:xfrm>
            <a:off x="1463040" y="14264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accent1"/>
                </a:solidFill>
              </a:rPr>
              <a:t>Весна 2020</a:t>
            </a:r>
            <a:endParaRPr lang="ru-RU" sz="1800" dirty="0"/>
          </a:p>
        </p:txBody>
      </p:sp>
      <p:sp>
        <p:nvSpPr>
          <p:cNvPr id="7" name="a_01_evt0"/>
          <p:cNvSpPr txBox="1"/>
          <p:nvPr/>
        </p:nvSpPr>
        <p:spPr>
          <a:xfrm>
            <a:off x="1463040" y="18105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Удалённая работа и дистанционная учёба становятся нормой</a:t>
            </a:r>
            <a:endParaRPr lang="ru-RU" sz="1500" dirty="0"/>
          </a:p>
        </p:txBody>
      </p:sp>
      <p:sp>
        <p:nvSpPr>
          <p:cNvPr id="8" name="a_02_ev1_c"/>
          <p:cNvSpPr/>
          <p:nvPr/>
        </p:nvSpPr>
        <p:spPr>
          <a:xfrm>
            <a:off x="548640" y="2487168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a_02_ev1_i" descr="/tmp/claude-0/-home-user-musor/c6980a0f-2a52-569f-a1fc-691d09a5d10f/scratchpad/cifra/icons/q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2691994"/>
            <a:ext cx="321869" cy="321869"/>
          </a:xfrm>
          <a:prstGeom prst="rect">
            <a:avLst/>
          </a:prstGeom>
        </p:spPr>
      </p:pic>
      <p:sp>
        <p:nvSpPr>
          <p:cNvPr id="10" name="a_02_evd1"/>
          <p:cNvSpPr txBox="1"/>
          <p:nvPr/>
        </p:nvSpPr>
        <p:spPr>
          <a:xfrm>
            <a:off x="1463040" y="24505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accent3"/>
                </a:solidFill>
              </a:rPr>
              <a:t>Апрель 2020</a:t>
            </a:r>
            <a:endParaRPr lang="ru-RU" sz="1800" dirty="0"/>
          </a:p>
        </p:txBody>
      </p:sp>
      <p:sp>
        <p:nvSpPr>
          <p:cNvPr id="11" name="a_02_evt1"/>
          <p:cNvSpPr txBox="1"/>
          <p:nvPr/>
        </p:nvSpPr>
        <p:spPr>
          <a:xfrm>
            <a:off x="1463040" y="2834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В Москве вводят цифровые пропуска для поездок по городу</a:t>
            </a:r>
            <a:endParaRPr lang="ru-RU" sz="1500" dirty="0"/>
          </a:p>
        </p:txBody>
      </p:sp>
      <p:sp>
        <p:nvSpPr>
          <p:cNvPr id="12" name="a_03_ev2_c"/>
          <p:cNvSpPr/>
          <p:nvPr/>
        </p:nvSpPr>
        <p:spPr>
          <a:xfrm>
            <a:off x="548640" y="3511296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a_03_ev2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6" y="3716122"/>
            <a:ext cx="321869" cy="321869"/>
          </a:xfrm>
          <a:prstGeom prst="rect">
            <a:avLst/>
          </a:prstGeom>
        </p:spPr>
      </p:pic>
      <p:sp>
        <p:nvSpPr>
          <p:cNvPr id="14" name="a_03_evd2"/>
          <p:cNvSpPr txBox="1"/>
          <p:nvPr/>
        </p:nvSpPr>
        <p:spPr>
          <a:xfrm>
            <a:off x="1463040" y="3474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accent2"/>
                </a:solidFill>
              </a:rPr>
              <a:t>2020</a:t>
            </a:r>
            <a:endParaRPr lang="ru-RU" sz="1800" dirty="0"/>
          </a:p>
        </p:txBody>
      </p:sp>
      <p:sp>
        <p:nvSpPr>
          <p:cNvPr id="15" name="a_03_evt2"/>
          <p:cNvSpPr txBox="1"/>
          <p:nvPr/>
        </p:nvSpPr>
        <p:spPr>
          <a:xfrm>
            <a:off x="1463040" y="38587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Онлайн-врачи, доставка и видеозвонки — даже для бабушек</a:t>
            </a:r>
            <a:endParaRPr lang="ru-RU" sz="1500" dirty="0"/>
          </a:p>
        </p:txBody>
      </p:sp>
      <p:sp>
        <p:nvSpPr>
          <p:cNvPr id="16" name="a_04_ev3_c"/>
          <p:cNvSpPr/>
          <p:nvPr/>
        </p:nvSpPr>
        <p:spPr>
          <a:xfrm>
            <a:off x="548640" y="4535424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a_04_ev3_i" descr="/tmp/claude-0/-home-user-musor/c6980a0f-2a52-569f-a1fc-691d09a5d10f/scratchpad/cifra/icons/qr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6" y="4740250"/>
            <a:ext cx="321869" cy="321869"/>
          </a:xfrm>
          <a:prstGeom prst="rect">
            <a:avLst/>
          </a:prstGeom>
        </p:spPr>
      </p:pic>
      <p:sp>
        <p:nvSpPr>
          <p:cNvPr id="18" name="a_04_evd3"/>
          <p:cNvSpPr txBox="1"/>
          <p:nvPr/>
        </p:nvSpPr>
        <p:spPr>
          <a:xfrm>
            <a:off x="1463040" y="44988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accent4"/>
                </a:solidFill>
              </a:rPr>
              <a:t>2021</a:t>
            </a:r>
            <a:endParaRPr lang="ru-RU" sz="1800" dirty="0"/>
          </a:p>
        </p:txBody>
      </p:sp>
      <p:sp>
        <p:nvSpPr>
          <p:cNvPr id="19" name="a_04_evt3"/>
          <p:cNvSpPr txBox="1"/>
          <p:nvPr/>
        </p:nvSpPr>
        <p:spPr>
          <a:xfrm>
            <a:off x="1463040" y="488289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bg1"/>
                </a:solidFill>
              </a:rPr>
              <a:t>QR-коды о вакцинации на входе в кафе и театры</a:t>
            </a:r>
            <a:endParaRPr lang="ru-RU" sz="1500" dirty="0"/>
          </a:p>
        </p:txBody>
      </p:sp>
      <p:sp>
        <p:nvSpPr>
          <p:cNvPr id="20" name="a_05_stbg"/>
          <p:cNvSpPr/>
          <p:nvPr/>
        </p:nvSpPr>
        <p:spPr>
          <a:xfrm>
            <a:off x="7086600" y="1463040"/>
            <a:ext cx="4526280" cy="3931920"/>
          </a:xfrm>
          <a:prstGeom prst="roundRect">
            <a:avLst>
              <a:gd name="adj" fmla="val 348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_05_sttxt"/>
          <p:cNvSpPr txBox="1"/>
          <p:nvPr/>
        </p:nvSpPr>
        <p:spPr>
          <a:xfrm>
            <a:off x="7452360" y="178308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3200" b="1" dirty="0">
                <a:solidFill>
                  <a:schemeClr val="bg1"/>
                </a:solidFill>
              </a:rPr>
              <a:t>То, на что ушли бы годы, произошло за месяцы</a:t>
            </a:r>
            <a:endParaRPr lang="ru-RU" sz="3200" dirty="0"/>
          </a:p>
        </p:txBody>
      </p:sp>
      <p:sp>
        <p:nvSpPr>
          <p:cNvPr id="22" name="a_06_stsub"/>
          <p:cNvSpPr txBox="1"/>
          <p:nvPr/>
        </p:nvSpPr>
        <p:spPr>
          <a:xfrm>
            <a:off x="745236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i="1" dirty="0">
                <a:solidFill>
                  <a:schemeClr val="bg1"/>
                </a:solidFill>
              </a:rPr>
              <a:t>Многие пожилые люди впервые освоили видеосвязь, чтобы увидеть внуков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tx1"/>
                </a:solidFill>
              </a:rPr>
              <a:t>Обратная сторона цифровизации</a:t>
            </a:r>
            <a:endParaRPr lang="ru-RU" sz="3600" dirty="0"/>
          </a:p>
        </p:txBody>
      </p:sp>
      <p:sp>
        <p:nvSpPr>
          <p:cNvPr id="4" name="a_01_dn0"/>
          <p:cNvSpPr/>
          <p:nvPr/>
        </p:nvSpPr>
        <p:spPr>
          <a:xfrm>
            <a:off x="548640" y="1417320"/>
            <a:ext cx="5440680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_01_dnic0_c"/>
          <p:cNvSpPr/>
          <p:nvPr/>
        </p:nvSpPr>
        <p:spPr>
          <a:xfrm>
            <a:off x="868680" y="18745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a_01_dnic0_i" descr="/tmp/claude-0/-home-user-musor/c6980a0f-2a52-569f-a1fc-691d09a5d10f/scratchpad/cifra/icons/eld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2117750"/>
            <a:ext cx="382219" cy="382219"/>
          </a:xfrm>
          <a:prstGeom prst="rect">
            <a:avLst/>
          </a:prstGeom>
        </p:spPr>
      </p:pic>
      <p:sp>
        <p:nvSpPr>
          <p:cNvPr id="7" name="a_01_dnt0"/>
          <p:cNvSpPr txBox="1"/>
          <p:nvPr/>
        </p:nvSpPr>
        <p:spPr>
          <a:xfrm>
            <a:off x="2011680" y="17373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Цифровое неравенство</a:t>
            </a:r>
            <a:endParaRPr lang="ru-RU" sz="2000" dirty="0"/>
          </a:p>
        </p:txBody>
      </p:sp>
      <p:sp>
        <p:nvSpPr>
          <p:cNvPr id="8" name="a_01_dnd0"/>
          <p:cNvSpPr txBox="1"/>
          <p:nvPr/>
        </p:nvSpPr>
        <p:spPr>
          <a:xfrm>
            <a:off x="2011680" y="222199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Пожилым и жителям отдалённых сёл сложнее освоить новые сервисы</a:t>
            </a:r>
            <a:endParaRPr lang="ru-RU" sz="1500" dirty="0"/>
          </a:p>
        </p:txBody>
      </p:sp>
      <p:sp>
        <p:nvSpPr>
          <p:cNvPr id="9" name="a_02_dn1"/>
          <p:cNvSpPr/>
          <p:nvPr/>
        </p:nvSpPr>
        <p:spPr>
          <a:xfrm>
            <a:off x="6172200" y="1417320"/>
            <a:ext cx="5440680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_02_dnic1_c"/>
          <p:cNvSpPr/>
          <p:nvPr/>
        </p:nvSpPr>
        <p:spPr>
          <a:xfrm>
            <a:off x="6492240" y="18745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a_02_dnic1_i" descr="/tmp/claude-0/-home-user-musor/c6980a0f-2a52-569f-a1fc-691d09a5d10f/scratchpad/cifra/icons/phonesla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470" y="2117750"/>
            <a:ext cx="382219" cy="382219"/>
          </a:xfrm>
          <a:prstGeom prst="rect">
            <a:avLst/>
          </a:prstGeom>
        </p:spPr>
      </p:pic>
      <p:sp>
        <p:nvSpPr>
          <p:cNvPr id="12" name="a_02_dnt1"/>
          <p:cNvSpPr txBox="1"/>
          <p:nvPr/>
        </p:nvSpPr>
        <p:spPr>
          <a:xfrm>
            <a:off x="7635240" y="17373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Мошенники</a:t>
            </a:r>
            <a:endParaRPr lang="ru-RU" sz="2000" dirty="0"/>
          </a:p>
        </p:txBody>
      </p:sp>
      <p:sp>
        <p:nvSpPr>
          <p:cNvPr id="13" name="a_02_dnd1"/>
          <p:cNvSpPr txBox="1"/>
          <p:nvPr/>
        </p:nvSpPr>
        <p:spPr>
          <a:xfrm>
            <a:off x="7635240" y="222199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Звонки «из банка» и фальшивые сайты используют доверчивость людей</a:t>
            </a:r>
            <a:endParaRPr lang="ru-RU" sz="1500" dirty="0"/>
          </a:p>
        </p:txBody>
      </p:sp>
      <p:sp>
        <p:nvSpPr>
          <p:cNvPr id="14" name="a_03_dn2"/>
          <p:cNvSpPr/>
          <p:nvPr/>
        </p:nvSpPr>
        <p:spPr>
          <a:xfrm>
            <a:off x="548640" y="3383280"/>
            <a:ext cx="5440680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_03_dnic2_c"/>
          <p:cNvSpPr/>
          <p:nvPr/>
        </p:nvSpPr>
        <p:spPr>
          <a:xfrm>
            <a:off x="868680" y="38404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_03_dnic2_i" descr="/tmp/claude-0/-home-user-musor/c6980a0f-2a52-569f-a1fc-691d09a5d10f/scratchpad/cifra/icons/lo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10" y="4083710"/>
            <a:ext cx="382219" cy="382219"/>
          </a:xfrm>
          <a:prstGeom prst="rect">
            <a:avLst/>
          </a:prstGeom>
        </p:spPr>
      </p:pic>
      <p:sp>
        <p:nvSpPr>
          <p:cNvPr id="17" name="a_03_dnt2"/>
          <p:cNvSpPr txBox="1"/>
          <p:nvPr/>
        </p:nvSpPr>
        <p:spPr>
          <a:xfrm>
            <a:off x="2011680" y="37033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Личные данные</a:t>
            </a:r>
            <a:endParaRPr lang="ru-RU" sz="2000" dirty="0"/>
          </a:p>
        </p:txBody>
      </p:sp>
      <p:sp>
        <p:nvSpPr>
          <p:cNvPr id="18" name="a_03_dnd2"/>
          <p:cNvSpPr txBox="1"/>
          <p:nvPr/>
        </p:nvSpPr>
        <p:spPr>
          <a:xfrm>
            <a:off x="2011680" y="418795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Утечки баз заставляют задуматься: кто и как хранит информацию о нас</a:t>
            </a:r>
            <a:endParaRPr lang="ru-RU" sz="1500" dirty="0"/>
          </a:p>
        </p:txBody>
      </p:sp>
      <p:sp>
        <p:nvSpPr>
          <p:cNvPr id="19" name="a_04_dn3"/>
          <p:cNvSpPr/>
          <p:nvPr/>
        </p:nvSpPr>
        <p:spPr>
          <a:xfrm>
            <a:off x="6172200" y="3383280"/>
            <a:ext cx="5440680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_04_dnic3_c"/>
          <p:cNvSpPr/>
          <p:nvPr/>
        </p:nvSpPr>
        <p:spPr>
          <a:xfrm>
            <a:off x="6492240" y="3840480"/>
            <a:ext cx="868680" cy="8686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a_04_dnic3_i" descr="/tmp/claude-0/-home-user-musor/c6980a0f-2a52-569f-a1fc-691d09a5d10f/scratchpad/cifra/icons/batte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470" y="4083710"/>
            <a:ext cx="382219" cy="382219"/>
          </a:xfrm>
          <a:prstGeom prst="rect">
            <a:avLst/>
          </a:prstGeom>
        </p:spPr>
      </p:pic>
      <p:sp>
        <p:nvSpPr>
          <p:cNvPr id="22" name="a_04_dnt3"/>
          <p:cNvSpPr txBox="1"/>
          <p:nvPr/>
        </p:nvSpPr>
        <p:spPr>
          <a:xfrm>
            <a:off x="7635240" y="37033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Цифровая усталость</a:t>
            </a:r>
            <a:endParaRPr lang="ru-RU" sz="2000" dirty="0"/>
          </a:p>
        </p:txBody>
      </p:sp>
      <p:sp>
        <p:nvSpPr>
          <p:cNvPr id="23" name="a_04_dnd3"/>
          <p:cNvSpPr txBox="1"/>
          <p:nvPr/>
        </p:nvSpPr>
        <p:spPr>
          <a:xfrm>
            <a:off x="7635240" y="418795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Жизнь в смартфоне отнимает время на живое общение и сон</a:t>
            </a:r>
            <a:endParaRPr lang="ru-RU" sz="1500" dirty="0"/>
          </a:p>
        </p:txBody>
      </p:sp>
      <p:sp>
        <p:nvSpPr>
          <p:cNvPr id="24" name="a_05_ansbg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a_05_anstxt"/>
          <p:cNvSpPr txBox="1"/>
          <p:nvPr/>
        </p:nvSpPr>
        <p:spPr>
          <a:xfrm>
            <a:off x="86868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Ответ — цифровая грамотность: </a:t>
            </a:r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уметь пользоваться технологиями безопасно и осознанно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05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05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Итог: цифра стала средой жизни</a:t>
            </a:r>
            <a:endParaRPr lang="ru-RU" sz="3600" dirty="0"/>
          </a:p>
        </p:txBody>
      </p:sp>
      <p:sp>
        <p:nvSpPr>
          <p:cNvPr id="4" name="a_01_n0"/>
          <p:cNvSpPr txBox="1"/>
          <p:nvPr/>
        </p:nvSpPr>
        <p:spPr>
          <a:xfrm>
            <a:off x="548640" y="14630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6000" b="1" dirty="0">
                <a:solidFill>
                  <a:schemeClr val="accent3"/>
                </a:solidFill>
              </a:rPr>
              <a:t>01</a:t>
            </a:r>
            <a:endParaRPr lang="ru-RU" sz="6000" dirty="0"/>
          </a:p>
        </p:txBody>
      </p:sp>
      <p:sp>
        <p:nvSpPr>
          <p:cNvPr id="5" name="a_01_t0"/>
          <p:cNvSpPr txBox="1"/>
          <p:nvPr/>
        </p:nvSpPr>
        <p:spPr>
          <a:xfrm>
            <a:off x="548640" y="246888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900" dirty="0">
                <a:solidFill>
                  <a:schemeClr val="bg1"/>
                </a:solidFill>
              </a:rPr>
              <a:t>За 30 лет интернет прошёл путь от диковинки до привычной среды — почти как электричество</a:t>
            </a:r>
            <a:endParaRPr lang="ru-RU" sz="1900" dirty="0"/>
          </a:p>
        </p:txBody>
      </p:sp>
      <p:sp>
        <p:nvSpPr>
          <p:cNvPr id="6" name="a_02_n1"/>
          <p:cNvSpPr txBox="1"/>
          <p:nvPr/>
        </p:nvSpPr>
        <p:spPr>
          <a:xfrm>
            <a:off x="4297680" y="14630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6000" b="1" dirty="0">
                <a:solidFill>
                  <a:schemeClr val="accent4"/>
                </a:solidFill>
              </a:rPr>
              <a:t>02</a:t>
            </a:r>
            <a:endParaRPr lang="ru-RU" sz="6000" dirty="0"/>
          </a:p>
        </p:txBody>
      </p:sp>
      <p:sp>
        <p:nvSpPr>
          <p:cNvPr id="7" name="a_02_t1"/>
          <p:cNvSpPr txBox="1"/>
          <p:nvPr/>
        </p:nvSpPr>
        <p:spPr>
          <a:xfrm>
            <a:off x="4297680" y="246888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900" dirty="0">
                <a:solidFill>
                  <a:schemeClr val="bg1"/>
                </a:solidFill>
              </a:rPr>
              <a:t>Главные перемены — человеческие: учёба, лечение, общение с близкими и с государством</a:t>
            </a:r>
            <a:endParaRPr lang="ru-RU" sz="1900" dirty="0"/>
          </a:p>
        </p:txBody>
      </p:sp>
      <p:sp>
        <p:nvSpPr>
          <p:cNvPr id="8" name="a_03_n2"/>
          <p:cNvSpPr txBox="1"/>
          <p:nvPr/>
        </p:nvSpPr>
        <p:spPr>
          <a:xfrm>
            <a:off x="8046720" y="14630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6000" b="1" dirty="0">
                <a:solidFill>
                  <a:schemeClr val="accent2"/>
                </a:solidFill>
              </a:rPr>
              <a:t>03</a:t>
            </a:r>
            <a:endParaRPr lang="ru-RU" sz="6000" dirty="0"/>
          </a:p>
        </p:txBody>
      </p:sp>
      <p:sp>
        <p:nvSpPr>
          <p:cNvPr id="9" name="a_03_t2"/>
          <p:cNvSpPr txBox="1"/>
          <p:nvPr/>
        </p:nvSpPr>
        <p:spPr>
          <a:xfrm>
            <a:off x="8046720" y="246888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900" dirty="0">
                <a:solidFill>
                  <a:schemeClr val="bg1"/>
                </a:solidFill>
              </a:rPr>
              <a:t>Следующий шаг — не новые сервисы, а умение пользоваться ими безопасно и с пользой</a:t>
            </a:r>
            <a:endParaRPr lang="ru-RU" sz="1900" dirty="0"/>
          </a:p>
        </p:txBody>
      </p:sp>
      <p:sp>
        <p:nvSpPr>
          <p:cNvPr id="10" name="a_04_thanks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4400" b="1" dirty="0">
                <a:solidFill>
                  <a:schemeClr val="bg1"/>
                </a:solidFill>
              </a:rPr>
              <a:t>Спасибо за внимание!</a:t>
            </a:r>
            <a:endParaRPr lang="ru-RU" sz="4400" dirty="0"/>
          </a:p>
        </p:txBody>
      </p:sp>
      <p:sp>
        <p:nvSpPr>
          <p:cNvPr id="11" name="a_05_q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000" dirty="0">
                <a:solidFill>
                  <a:schemeClr val="accent6"/>
                </a:solidFill>
              </a:rPr>
              <a:t>Готов ответить на ваши вопросы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Цифра">
  <a:themeElements>
    <a:clrScheme name="Цифра">
      <a:dk1>
        <a:srgbClr val="0E1630"/>
      </a:dk1>
      <a:lt1>
        <a:srgbClr val="FFFFFF"/>
      </a:lt1>
      <a:dk2>
        <a:srgbClr val="4A5578"/>
      </a:dk2>
      <a:lt2>
        <a:srgbClr val="F2F4FA"/>
      </a:lt2>
      <a:accent1>
        <a:srgbClr val="3D5AFE"/>
      </a:accent1>
      <a:accent2>
        <a:srgbClr val="FF5C7A"/>
      </a:accent2>
      <a:accent3>
        <a:srgbClr val="12A886"/>
      </a:accent3>
      <a:accent4>
        <a:srgbClr val="F59E0B"/>
      </a:accent4>
      <a:accent5>
        <a:srgbClr val="7C4DFF"/>
      </a:accent5>
      <a:accent6>
        <a:srgbClr val="C9D1F0"/>
      </a:accent6>
      <a:hlink>
        <a:srgbClr val="3D5AFE"/>
      </a:hlink>
      <a:folHlink>
        <a:srgbClr val="7C4DFF"/>
      </a:folHlink>
    </a:clrScheme>
    <a:fontScheme name="Цифра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Цифра в каждом доме: как цифровизация входила в жизнь общества России</dc:title>
  <dc:subject>PptxGenJS Presentation</dc:subject>
  <dc:creator>PptxGenJS</dc:creator>
  <cp:lastModifiedBy>PptxGenJS</cp:lastModifiedBy>
  <cp:revision>1</cp:revision>
  <dcterms:created xsi:type="dcterms:W3CDTF">2026-10-19T17:11:54Z</dcterms:created>
  <dcterms:modified xsi:type="dcterms:W3CDTF">2026-10-19T17:11:54Z</dcterms:modified>
</cp:coreProperties>
</file>